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4630400" cy="8229600"/>
  <p:notesSz cx="8229600" cy="14630400"/>
  <p:embeddedFontLst>
    <p:embeddedFont>
      <p:font typeface="Montserrat Black"/>
      <p:regular r:id="rId20"/>
    </p:embeddedFont>
    <p:embeddedFont>
      <p:font typeface="Montserrat Black"/>
      <p:regular r:id="rId21"/>
    </p:embeddedFont>
    <p:embeddedFont>
      <p:font typeface="Inconsolata"/>
      <p:regular r:id="rId22"/>
    </p:embeddedFont>
    <p:embeddedFont>
      <p:font typeface="Inconsolata"/>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Lucky, and I'm building Nexus - the App Store for AI capabilities. While everyone's building AI assistants, there's a massive infrastructure problem: thousands of powerful AI tools exist, but there's no way to easily discover, install, or monetize them on mobile. We're fixing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Lucky, and I'm building Nexus - the App Store for AI capabilities. While everyone's building AI assistants, there's a massive infrastructure problem: thousands of powerful AI tools exist, but there's no way to easily discover, install, or monetize them on mobile. We're fixing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how big this problem really is. ChatGPT's Custom GPT store has thousands of AI tools. Some have over 100,000 ratings - that's millions of downloads. Popular GPTs have generated 50+ million conversations. These are proven, valuable AI tools used by millions daily.
But here's the shocking part - these developers make exactly zero rupees. OpenAI promised monetization over a year ago and still hasn't delivered. There are entire forum threads of frustrated creators asking 'How do I actually make money from my AI tool?'
This isn't theoretical - it's happening right now. Thousands of proven AI builders are desperately looking for a platform where they can actually earn money. That's our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timing couldn't be better. In just 6 months, all the major AI companies - OpenAI, Google, Microsoft - have standardized on MCP. Think of it like USB-C for AI tools - universal connectivity that works everywhere.
Meanwhile, mobile AI usage is exploding. People want AI that actually does useful things, not just answers questions. But here's the key insight - there are thousands of frustrated developers who've already proven they can build engaging AI tools, but they're earning nothing despite millions of users.
This creates a perfect storm: proven supply of AI builders, exploding mobile demand, universal technical standards, and zero competition in mobile AI tool distribution. This window won't stay open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Nexus solves this with a complete mobile AI ecosystem. Think App Store, but for AI capabilities. Users discover tools easily, install with one tap, and use everything from a single chat interface.
For developers, we handle discovery, payments, and technical infrastructure automatically. For the first time, you can build an AI tool and start earning money immediately.
Here's our secret weapon for user adoption - we include essential productivity capabilities by default. Memory, reminders, calendar integration. This solves the cold-start problem where new users don't understand the value until they've installed tools. They get immediate utility, then discover our marketplace.
We've already integrated 150+ AI tools and have a working mobile app. But let me show you the opportunity everyone else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 we've discovered that nobody else is building..."
[Execute Minimalist demo exactly as scripted - 60 seconds]
"What you just saw is revolutionary. That's accessing the entire ₹6,000 crore Shopify ecosystem through AI conversations on mobile. But here's the key - that transaction just earned the developer money. Something thousands of Custom GPT creators have been waiting over a year for OpenAI to deliver.
This isn't just convenience - it's a completely new interaction model. Instead of opening shopping apps, people will have AI conversations that result in purchases.
[Quick Jira demo - 15 seconds]
"Same platform, enterprise productivity. While competitors chase desktop developer tools, we're creating mobile AI commerce - a category that doesn't exist yet but could be massive.
The 50 Shopify stores integrated represent our biggest competitive advantage. Nobody else is focusing on this e-commerce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unfair advantage: we're not starting from zero. There are thousands of Custom GPT creators who've already proven they can build engaging AI tools used by millions, but they're earning nothing despite over a year of promises from OpenAI.
These developers have exactly the skills we need, proven user engagement, and desperate frustration with their current platform. We can offer them something ChatGPT can't - immediate monetization on mobile.
Our go-to-market isn't about convincing people to build AI tools - it's about offering proven AI builders a platform where they can actually make money. We have warm leads, not cold prospects.
Plus, we're expanding to the 5,000+ developers who've already built MCP servers but have no mobile distribution. This gives us supply-side momentum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critical data points that validate our market opportunity and business model.
The consumer AI market is already substantial and is projected to grow at a rapid 30% CAGR, reaching $12.1 billion by 2025. A significant portion of this, around $2.4 billion, is for specialized AI tools, which is our primary focus.
Our freemium model is supported by industry benchmarks, with an average 3.5% conversion rate from free to paid users in SaaS.
Crucially, the market is ripe for disruption. Developers building AI tools, specifically GPTs, are openly frustrated with the lack of monetization and distribution on current platforms like OpenAI's GPT Store. They are actively seeking alternative avenues where they can actually earn revenue from their creations.
This strong demand for AI tools, combined with developer dissatisfaction, creates a perfect entry point for Nexus as the mobile-first, monetization-focused marketplace.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our conservative but ambitious revenue projections, grounded in clear market assumptions.
By 2030, the total AI MAU is projected to reach 1.8 billion users. We are targeting a very modest 0.5% of this market, which translates to 9 million monthly active users on Nexus.
Based on industry benchmarks, we anticipate a 3% conversion rate to paying users, with an average revenue per paying user of $250 annually. Our primary revenue stream will be a graduated app store take rate, averaging 15% across developer earnings. This alone is projected to generate $10 million USD.
Additionally, we project another $10 million from ad placements and featuring tools for developers, and a further $10 million from premium developer tiers, where 1% of our developer base opts for advanced features at $10 per month.
This brings our total projected annual revenue to $30 million USD by 2030. These projections are supported by the broader market context: a Total Addressable Market of $44 billion for Consumer AI by 2030, and a Serviceable Available Market of $8.8 billion for specialized AI tools. Our $30 million SOM represents a focused and achievable share of this rapidly expanding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business model aligns all incentives. We use graduated take rates - smaller developers pay less, successful ones pay standard app store rates. A developer earning ₹10 lakhs keeps ₹8.5 lakhs - better than most platforms.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competitive landscape actually validates our opportunity. ChatGPT Store proves developers will build AI tools and users want them - but developers earn nothing. Desktop MCP clients prove the protocol works - but they're desktop-only. Mobile AI apps prove mobile demand exists - but they're severely limited.
We're the only platform offering what thousands of developers desperately want: mobile AI tool distribution with real monetization. While everyone else treats developers as cost centers, we treat them as revenue partners.
Our focus on mobile commerce is a blue ocean. Competitors chase developer productivity while we're building the infrastructure for AI-powered shopping, which could be much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starting from zero. We have 150+ integrated AI tools, a working production app, and 25+ users already using it productively. Our current approach - web app deployed to mobile - let us validate the concept quickly with real integrations.
Now that we've proven user demand and developer interest, we're investing in native development using the official Kotlin and Swift MCP SDKs for production scale. This is smart product development - validate fast, then build properly.
Our 12-month roadmap is aggressive but achievable: native apps, full monetization, and 1,000+ daily users. The key insight is that our API costs are only ₹30 lakhs annually even at scale, so we can focus funding on user acquisition and technical infrastructure.
By month 12, we'll have all the metrics that make us attractive for a much larger Series A: proven retention, strong GMV, happy developers earning money, and native mobile apps with great ratings.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the exact background needed for this: product experience at AI infrastructure companies, fintech experience for payments, and MBA training for marketplace dynamics. I've built and launched mobile products end-to-end.
The ₹2 crore funding has a clear purpose: 40% goes to team expansion - I need a co-founder CTO and senior developers to build native apps properly. 30% goes to technical infrastructure including native development and payment systems.
The beautiful part is our API costs are only ₹30 lakhs annually even at 1,000 daily users - this model scales profitably. Most funding goes to team and user acquisition, not operational costs.
This funding takes us to Series A readiness: 1,000+ daily users, ₹60 lakhs annual GMV, native apps with great ratings, and happy developers earning real money. These metrics make us attractive for a much larger round.
This is the iPhone moment for AI tool distribution. The infrastructure is ready, developers are frustrated, and mobile demand is exploding. I'd love IIMA Ventures to be our lead investor in building this critical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slideLayout" Target="../slideLayouts/slideLayout6.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ommunity.openai.com/t/has-anyone-made-money-from-gpts/961791" TargetMode="External"/><Relationship Id="rId2" Type="http://schemas.openxmlformats.org/officeDocument/2006/relationships/hyperlink" Target="https://www.reddit.com/r/OpenAI/comments/19aj5n7/i_really_want_the_gpt_store_to_succeed_but_at_the/" TargetMode="External"/><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image" Target="../media/image-9-13.png"/><Relationship Id="rId14" Type="http://schemas.openxmlformats.org/officeDocument/2006/relationships/image" Target="../media/image-9-14.svg"/><Relationship Id="rId15" Type="http://schemas.openxmlformats.org/officeDocument/2006/relationships/slideLayout" Target="../slideLayouts/slideLayout10.xml"/><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785824"/>
            <a:ext cx="7556421" cy="2657832"/>
          </a:xfrm>
          <a:prstGeom prst="rect">
            <a:avLst/>
          </a:prstGeom>
          <a:noFill/>
          <a:ln/>
        </p:spPr>
        <p:txBody>
          <a:bodyPr wrap="square" lIns="0" tIns="0" rIns="0" bIns="0" rtlCol="0" anchor="t"/>
          <a:lstStyle/>
          <a:p>
            <a:pPr algn="l" indent="0" marL="0">
              <a:lnSpc>
                <a:spcPts val="6950"/>
              </a:lnSpc>
              <a:buNone/>
            </a:pPr>
            <a:r>
              <a:rPr lang="en-US" sz="5550" b="1" dirty="0">
                <a:solidFill>
                  <a:srgbClr val="151617"/>
                </a:solidFill>
                <a:latin typeface="Montserrat Black" pitchFamily="34" charset="0"/>
                <a:ea typeface="Montserrat Black" pitchFamily="34" charset="-122"/>
                <a:cs typeface="Montserrat Black" pitchFamily="34" charset="-120"/>
              </a:rPr>
              <a:t>Nexus — The App Store for AI Capabilities</a:t>
            </a:r>
            <a:endParaRPr lang="en-US" sz="5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96183" y="1145500"/>
            <a:ext cx="12838033" cy="708779"/>
          </a:xfrm>
          <a:prstGeom prst="rect">
            <a:avLst/>
          </a:prstGeom>
          <a:noFill/>
          <a:ln/>
        </p:spPr>
        <p:txBody>
          <a:bodyPr wrap="none" lIns="0" tIns="0" rIns="0" bIns="0" rtlCol="0" anchor="t"/>
          <a:lstStyle/>
          <a:p>
            <a:pPr algn="ctr" indent="0" marL="0">
              <a:lnSpc>
                <a:spcPts val="5550"/>
              </a:lnSpc>
              <a:buNone/>
            </a:pPr>
            <a:r>
              <a:rPr lang="en-US" sz="4450" b="1" dirty="0">
                <a:solidFill>
                  <a:srgbClr val="151617"/>
                </a:solidFill>
                <a:latin typeface="Montserrat Black" pitchFamily="34" charset="0"/>
                <a:ea typeface="Montserrat Black" pitchFamily="34" charset="-122"/>
                <a:cs typeface="Montserrat Black" pitchFamily="34" charset="-120"/>
              </a:rPr>
              <a:t>Nexus — The App Store for AI Capabilities</a:t>
            </a:r>
            <a:endParaRPr lang="en-US" sz="4450" dirty="0"/>
          </a:p>
        </p:txBody>
      </p:sp>
      <p:pic>
        <p:nvPicPr>
          <p:cNvPr id="3" name="Image 0" descr="preencoded.png">    </p:cNvPr>
          <p:cNvPicPr>
            <a:picLocks noChangeAspect="1"/>
          </p:cNvPicPr>
          <p:nvPr/>
        </p:nvPicPr>
        <p:blipFill>
          <a:blip r:embed="rId1"/>
          <a:stretch>
            <a:fillRect/>
          </a:stretch>
        </p:blipFill>
        <p:spPr>
          <a:xfrm>
            <a:off x="801410" y="2546509"/>
            <a:ext cx="1902500" cy="3402330"/>
          </a:xfrm>
          <a:prstGeom prst="rect">
            <a:avLst/>
          </a:prstGeom>
        </p:spPr>
      </p:pic>
      <p:sp>
        <p:nvSpPr>
          <p:cNvPr id="4" name="Text 1"/>
          <p:cNvSpPr/>
          <p:nvPr/>
        </p:nvSpPr>
        <p:spPr>
          <a:xfrm>
            <a:off x="3410903" y="2918579"/>
            <a:ext cx="10433209" cy="2658189"/>
          </a:xfrm>
          <a:prstGeom prst="rect">
            <a:avLst/>
          </a:prstGeom>
          <a:noFill/>
          <a:ln/>
        </p:spPr>
        <p:txBody>
          <a:bodyPr wrap="square" lIns="0" tIns="0" rIns="0" bIns="0" rtlCol="0" anchor="t"/>
          <a:lstStyle/>
          <a:p>
            <a:pPr algn="l" indent="0" marL="0">
              <a:lnSpc>
                <a:spcPts val="3450"/>
              </a:lnSpc>
              <a:buNone/>
            </a:pPr>
            <a:r>
              <a:rPr lang="en-US" sz="2750" b="1" dirty="0">
                <a:solidFill>
                  <a:srgbClr val="000000"/>
                </a:solidFill>
                <a:latin typeface="Montserrat Black" pitchFamily="34" charset="0"/>
                <a:ea typeface="Montserrat Black" pitchFamily="34" charset="-122"/>
                <a:cs typeface="Montserrat Black" pitchFamily="34" charset="-120"/>
              </a:rPr>
              <a:t>✅</a:t>
            </a:r>
            <a:pPr algn="l" indent="0" marL="0">
              <a:lnSpc>
                <a:spcPts val="3450"/>
              </a:lnSpc>
              <a:buNone/>
            </a:pPr>
            <a:r>
              <a:rPr lang="en-US" sz="2750" b="1" dirty="0">
                <a:solidFill>
                  <a:srgbClr val="4D4D4D"/>
                </a:solidFill>
                <a:latin typeface="Montserrat Black" pitchFamily="34" charset="0"/>
                <a:ea typeface="Montserrat Black" pitchFamily="34" charset="-122"/>
                <a:cs typeface="Montserrat Black" pitchFamily="34" charset="-120"/>
              </a:rPr>
              <a:t> For users: Discover and use AI superpowers from your phone</a:t>
            </a:r>
            <a:pPr algn="l" indent="0" marL="0">
              <a:lnSpc>
                <a:spcPts val="3450"/>
              </a:lnSpc>
              <a:buNone/>
            </a:pPr>
            <a:r>
              <a:rPr lang="en-US" sz="2750" b="1" dirty="0">
                <a:solidFill>
                  <a:srgbClr val="000000"/>
                </a:solidFill>
                <a:latin typeface="Montserrat Black" pitchFamily="34" charset="0"/>
                <a:ea typeface="Montserrat Black" pitchFamily="34" charset="-122"/>
                <a:cs typeface="Montserrat Black" pitchFamily="34" charset="-120"/>
              </a:rPr>
              <a:t>✅</a:t>
            </a:r>
            <a:pPr algn="l" indent="0" marL="0">
              <a:lnSpc>
                <a:spcPts val="3450"/>
              </a:lnSpc>
              <a:buNone/>
            </a:pPr>
            <a:r>
              <a:rPr lang="en-US" sz="2750" b="1" dirty="0">
                <a:solidFill>
                  <a:srgbClr val="4D4D4D"/>
                </a:solidFill>
                <a:latin typeface="Montserrat Black" pitchFamily="34" charset="0"/>
                <a:ea typeface="Montserrat Black" pitchFamily="34" charset="-122"/>
                <a:cs typeface="Montserrat Black" pitchFamily="34" charset="-120"/>
              </a:rPr>
              <a:t> For developers: Finally monetize your AI tools from day 1</a:t>
            </a:r>
            <a:pPr algn="l" indent="0" marL="0">
              <a:lnSpc>
                <a:spcPts val="3450"/>
              </a:lnSpc>
              <a:buNone/>
            </a:pPr>
            <a:r>
              <a:rPr lang="en-US" sz="2750" b="1" dirty="0">
                <a:solidFill>
                  <a:srgbClr val="000000"/>
                </a:solidFill>
                <a:latin typeface="Montserrat Black" pitchFamily="34" charset="0"/>
                <a:ea typeface="Montserrat Black" pitchFamily="34" charset="-122"/>
                <a:cs typeface="Montserrat Black" pitchFamily="34" charset="-120"/>
              </a:rPr>
              <a:t>✅</a:t>
            </a:r>
            <a:pPr algn="l" indent="0" marL="0">
              <a:lnSpc>
                <a:spcPts val="3450"/>
              </a:lnSpc>
              <a:buNone/>
            </a:pPr>
            <a:r>
              <a:rPr lang="en-US" sz="2750" b="1" dirty="0">
                <a:solidFill>
                  <a:srgbClr val="4D4D4D"/>
                </a:solidFill>
                <a:latin typeface="Montserrat Black" pitchFamily="34" charset="0"/>
                <a:ea typeface="Montserrat Black" pitchFamily="34" charset="-122"/>
                <a:cs typeface="Montserrat Black" pitchFamily="34" charset="-120"/>
              </a:rPr>
              <a:t> For enterprises: Access AI workflows anywhere, not just desktops</a:t>
            </a:r>
            <a:endParaRPr lang="en-US" sz="2750" dirty="0"/>
          </a:p>
        </p:txBody>
      </p:sp>
      <p:sp>
        <p:nvSpPr>
          <p:cNvPr id="5" name="Text 2"/>
          <p:cNvSpPr/>
          <p:nvPr/>
        </p:nvSpPr>
        <p:spPr>
          <a:xfrm>
            <a:off x="1156573" y="6641068"/>
            <a:ext cx="12317254" cy="443032"/>
          </a:xfrm>
          <a:prstGeom prst="rect">
            <a:avLst/>
          </a:prstGeom>
          <a:noFill/>
          <a:ln/>
        </p:spPr>
        <p:txBody>
          <a:bodyPr wrap="none" lIns="0" tIns="0" rIns="0" bIns="0" rtlCol="0" anchor="t"/>
          <a:lstStyle/>
          <a:p>
            <a:pPr algn="ctr" indent="0" marL="0">
              <a:lnSpc>
                <a:spcPts val="3450"/>
              </a:lnSpc>
              <a:buNone/>
            </a:pPr>
            <a:r>
              <a:rPr lang="en-US" sz="2750" b="1" dirty="0">
                <a:solidFill>
                  <a:srgbClr val="151617"/>
                </a:solidFill>
                <a:latin typeface="Montserrat Black" pitchFamily="34" charset="0"/>
                <a:ea typeface="Montserrat Black" pitchFamily="34" charset="-122"/>
                <a:cs typeface="Montserrat Black" pitchFamily="34" charset="-120"/>
              </a:rPr>
              <a:t>Mobile-first • Monetization Planned • Cross-platform compatible</a:t>
            </a:r>
            <a:endParaRPr lang="en-US" sz="2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941070"/>
            <a:ext cx="7441406" cy="575905"/>
          </a:xfrm>
          <a:prstGeom prst="rect">
            <a:avLst/>
          </a:prstGeom>
          <a:noFill/>
          <a:ln/>
        </p:spPr>
        <p:txBody>
          <a:bodyPr wrap="none" lIns="0" tIns="0" rIns="0" bIns="0" rtlCol="0" anchor="t"/>
          <a:lstStyle/>
          <a:p>
            <a:pPr algn="l" indent="0" marL="0">
              <a:lnSpc>
                <a:spcPts val="4500"/>
              </a:lnSpc>
              <a:buNone/>
            </a:pPr>
            <a:r>
              <a:rPr lang="en-US" sz="3600" b="1" dirty="0">
                <a:solidFill>
                  <a:srgbClr val="151617"/>
                </a:solidFill>
                <a:latin typeface="Montserrat Black" pitchFamily="34" charset="0"/>
                <a:ea typeface="Montserrat Black" pitchFamily="34" charset="-122"/>
                <a:cs typeface="Montserrat Black" pitchFamily="34" charset="-120"/>
              </a:rPr>
              <a:t>The AI Tool Distribution Crisis</a:t>
            </a:r>
            <a:endParaRPr lang="en-US" sz="3600" dirty="0"/>
          </a:p>
        </p:txBody>
      </p:sp>
      <p:sp>
        <p:nvSpPr>
          <p:cNvPr id="3" name="Text 1"/>
          <p:cNvSpPr/>
          <p:nvPr/>
        </p:nvSpPr>
        <p:spPr>
          <a:xfrm>
            <a:off x="793790" y="1977509"/>
            <a:ext cx="5522476" cy="345519"/>
          </a:xfrm>
          <a:prstGeom prst="rect">
            <a:avLst/>
          </a:prstGeom>
          <a:noFill/>
          <a:ln/>
        </p:spPr>
        <p:txBody>
          <a:bodyPr wrap="none" lIns="0" tIns="0" rIns="0" bIns="0" rtlCol="0" anchor="t"/>
          <a:lstStyle/>
          <a:p>
            <a:pPr algn="l" indent="0" marL="0">
              <a:lnSpc>
                <a:spcPts val="2700"/>
              </a:lnSpc>
              <a:buNone/>
            </a:pPr>
            <a:r>
              <a:rPr lang="en-US" sz="2150" b="1" dirty="0">
                <a:solidFill>
                  <a:srgbClr val="151617"/>
                </a:solidFill>
                <a:latin typeface="Montserrat Black" pitchFamily="34" charset="0"/>
                <a:ea typeface="Montserrat Black" pitchFamily="34" charset="-122"/>
                <a:cs typeface="Montserrat Black" pitchFamily="34" charset="-120"/>
              </a:rPr>
              <a:t>Proven Market, Broken Monetization</a:t>
            </a:r>
            <a:endParaRPr lang="en-US" sz="2150" dirty="0"/>
          </a:p>
        </p:txBody>
      </p:sp>
      <p:sp>
        <p:nvSpPr>
          <p:cNvPr id="4" name="Text 2"/>
          <p:cNvSpPr/>
          <p:nvPr/>
        </p:nvSpPr>
        <p:spPr>
          <a:xfrm>
            <a:off x="793790" y="2507218"/>
            <a:ext cx="7645837" cy="884396"/>
          </a:xfrm>
          <a:prstGeom prst="rect">
            <a:avLst/>
          </a:prstGeom>
          <a:noFill/>
          <a:ln/>
        </p:spPr>
        <p:txBody>
          <a:bodyPr wrap="square" lIns="0" tIns="0" rIns="0" bIns="0" rtlCol="0" anchor="t"/>
          <a:lstStyle/>
          <a:p>
            <a:pPr algn="l" indent="0" marL="0">
              <a:lnSpc>
                <a:spcPts val="2300"/>
              </a:lnSpc>
              <a:buNone/>
            </a:pPr>
            <a:r>
              <a:rPr lang="en-US" sz="1450" dirty="0">
                <a:solidFill>
                  <a:srgbClr val="151617"/>
                </a:solidFill>
                <a:latin typeface="Inconsolata" pitchFamily="34" charset="0"/>
                <a:ea typeface="Inconsolata" pitchFamily="34" charset="-122"/>
                <a:cs typeface="Inconsolata" pitchFamily="34" charset="-120"/>
              </a:rPr>
              <a:t>The numbers tell a compelling story: ChatGPT's Custom GPT Store has thousands of AI tools with massive engagement - some reaching 100,000+ ratings and 50+ million conversations.</a:t>
            </a:r>
            <a:endParaRPr lang="en-US" sz="1450" dirty="0"/>
          </a:p>
        </p:txBody>
      </p:sp>
      <p:sp>
        <p:nvSpPr>
          <p:cNvPr id="5" name="Text 3"/>
          <p:cNvSpPr/>
          <p:nvPr/>
        </p:nvSpPr>
        <p:spPr>
          <a:xfrm>
            <a:off x="793790" y="3557468"/>
            <a:ext cx="7645837" cy="294799"/>
          </a:xfrm>
          <a:prstGeom prst="rect">
            <a:avLst/>
          </a:prstGeom>
          <a:noFill/>
          <a:ln/>
        </p:spPr>
        <p:txBody>
          <a:bodyPr wrap="none" lIns="0" tIns="0" rIns="0" bIns="0" rtlCol="0" anchor="t"/>
          <a:lstStyle/>
          <a:p>
            <a:pPr algn="l" indent="0" marL="0">
              <a:lnSpc>
                <a:spcPts val="2300"/>
              </a:lnSpc>
              <a:buNone/>
            </a:pPr>
            <a:r>
              <a:rPr lang="en-US" sz="1450" b="1" dirty="0">
                <a:solidFill>
                  <a:srgbClr val="151617"/>
                </a:solidFill>
                <a:latin typeface="Inconsolata" pitchFamily="34" charset="0"/>
                <a:ea typeface="Inconsolata" pitchFamily="34" charset="-122"/>
                <a:cs typeface="Inconsolata" pitchFamily="34" charset="-120"/>
              </a:rPr>
              <a:t>Yet despite this impressive traction, developer earnings remain at $0.</a:t>
            </a:r>
            <a:endParaRPr lang="en-US" sz="1450" dirty="0"/>
          </a:p>
        </p:txBody>
      </p:sp>
      <p:sp>
        <p:nvSpPr>
          <p:cNvPr id="6" name="Text 4"/>
          <p:cNvSpPr/>
          <p:nvPr/>
        </p:nvSpPr>
        <p:spPr>
          <a:xfrm>
            <a:off x="793790" y="4036457"/>
            <a:ext cx="2764393" cy="345519"/>
          </a:xfrm>
          <a:prstGeom prst="rect">
            <a:avLst/>
          </a:prstGeom>
          <a:noFill/>
          <a:ln/>
        </p:spPr>
        <p:txBody>
          <a:bodyPr wrap="none" lIns="0" tIns="0" rIns="0" bIns="0" rtlCol="0" anchor="t"/>
          <a:lstStyle/>
          <a:p>
            <a:pPr algn="l" indent="0" marL="0">
              <a:lnSpc>
                <a:spcPts val="2700"/>
              </a:lnSpc>
              <a:buNone/>
            </a:pPr>
            <a:r>
              <a:rPr lang="en-US" sz="2150" b="1" dirty="0">
                <a:solidFill>
                  <a:srgbClr val="151617"/>
                </a:solidFill>
                <a:latin typeface="Montserrat Black" pitchFamily="34" charset="0"/>
                <a:ea typeface="Montserrat Black" pitchFamily="34" charset="-122"/>
                <a:cs typeface="Montserrat Black" pitchFamily="34" charset="-120"/>
              </a:rPr>
              <a:t>The Reality</a:t>
            </a:r>
            <a:endParaRPr lang="en-US" sz="21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2846" y="4594979"/>
            <a:ext cx="276344" cy="276344"/>
          </a:xfrm>
          <a:prstGeom prst="rect">
            <a:avLst/>
          </a:prstGeom>
        </p:spPr>
      </p:pic>
      <p:sp>
        <p:nvSpPr>
          <p:cNvPr id="8" name="Text 5"/>
          <p:cNvSpPr/>
          <p:nvPr/>
        </p:nvSpPr>
        <p:spPr>
          <a:xfrm>
            <a:off x="1392555" y="4589264"/>
            <a:ext cx="2832378" cy="287893"/>
          </a:xfrm>
          <a:prstGeom prst="rect">
            <a:avLst/>
          </a:prstGeom>
          <a:noFill/>
          <a:ln/>
        </p:spPr>
        <p:txBody>
          <a:bodyPr wrap="none" lIns="0" tIns="0" rIns="0" bIns="0" rtlCol="0" anchor="t"/>
          <a:lstStyle/>
          <a:p>
            <a:pPr algn="l" indent="0" marL="0">
              <a:lnSpc>
                <a:spcPts val="2250"/>
              </a:lnSpc>
              <a:buNone/>
            </a:pPr>
            <a:r>
              <a:rPr lang="en-US" sz="1800" b="1" dirty="0">
                <a:solidFill>
                  <a:srgbClr val="151617"/>
                </a:solidFill>
                <a:latin typeface="Montserrat Black" pitchFamily="34" charset="0"/>
                <a:ea typeface="Montserrat Black" pitchFamily="34" charset="-122"/>
                <a:cs typeface="Montserrat Black" pitchFamily="34" charset="-120"/>
              </a:rPr>
              <a:t>Discovery Fragmented</a:t>
            </a:r>
            <a:endParaRPr lang="en-US" sz="1800" dirty="0"/>
          </a:p>
        </p:txBody>
      </p:sp>
      <p:sp>
        <p:nvSpPr>
          <p:cNvPr id="9" name="Text 6"/>
          <p:cNvSpPr/>
          <p:nvPr/>
        </p:nvSpPr>
        <p:spPr>
          <a:xfrm>
            <a:off x="1392555" y="5061347"/>
            <a:ext cx="3108960" cy="884396"/>
          </a:xfrm>
          <a:prstGeom prst="rect">
            <a:avLst/>
          </a:prstGeom>
          <a:noFill/>
          <a:ln/>
        </p:spPr>
        <p:txBody>
          <a:bodyPr wrap="square" lIns="0" tIns="0" rIns="0" bIns="0" rtlCol="0" anchor="t"/>
          <a:lstStyle/>
          <a:p>
            <a:pPr algn="l" indent="0" marL="0">
              <a:lnSpc>
                <a:spcPts val="2300"/>
              </a:lnSpc>
              <a:buNone/>
            </a:pPr>
            <a:r>
              <a:rPr lang="en-US" sz="1450" dirty="0">
                <a:solidFill>
                  <a:srgbClr val="151617"/>
                </a:solidFill>
                <a:latin typeface="Inconsolata" pitchFamily="34" charset="0"/>
                <a:ea typeface="Inconsolata" pitchFamily="34" charset="-122"/>
                <a:cs typeface="Inconsolata" pitchFamily="34" charset="-120"/>
              </a:rPr>
              <a:t>Users search through Reddit posts, GitHub repositories, and Twitter threads to find tools</a:t>
            </a:r>
            <a:endParaRPr lang="en-US" sz="14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00838" y="4594979"/>
            <a:ext cx="276344" cy="276344"/>
          </a:xfrm>
          <a:prstGeom prst="rect">
            <a:avLst/>
          </a:prstGeom>
        </p:spPr>
      </p:pic>
      <p:sp>
        <p:nvSpPr>
          <p:cNvPr id="11" name="Text 7"/>
          <p:cNvSpPr/>
          <p:nvPr/>
        </p:nvSpPr>
        <p:spPr>
          <a:xfrm>
            <a:off x="5330547" y="4589264"/>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151617"/>
                </a:solidFill>
                <a:latin typeface="Montserrat Black" pitchFamily="34" charset="0"/>
                <a:ea typeface="Montserrat Black" pitchFamily="34" charset="-122"/>
                <a:cs typeface="Montserrat Black" pitchFamily="34" charset="-120"/>
              </a:rPr>
              <a:t>Setup Broken</a:t>
            </a:r>
            <a:endParaRPr lang="en-US" sz="1800" dirty="0"/>
          </a:p>
        </p:txBody>
      </p:sp>
      <p:sp>
        <p:nvSpPr>
          <p:cNvPr id="12" name="Text 8"/>
          <p:cNvSpPr/>
          <p:nvPr/>
        </p:nvSpPr>
        <p:spPr>
          <a:xfrm>
            <a:off x="5330547" y="5061347"/>
            <a:ext cx="3109079" cy="884396"/>
          </a:xfrm>
          <a:prstGeom prst="rect">
            <a:avLst/>
          </a:prstGeom>
          <a:noFill/>
          <a:ln/>
        </p:spPr>
        <p:txBody>
          <a:bodyPr wrap="square" lIns="0" tIns="0" rIns="0" bIns="0" rtlCol="0" anchor="t"/>
          <a:lstStyle/>
          <a:p>
            <a:pPr algn="l" indent="0" marL="0">
              <a:lnSpc>
                <a:spcPts val="2300"/>
              </a:lnSpc>
              <a:buNone/>
            </a:pPr>
            <a:r>
              <a:rPr lang="en-US" sz="1450" dirty="0">
                <a:solidFill>
                  <a:srgbClr val="151617"/>
                </a:solidFill>
                <a:latin typeface="Inconsolata" pitchFamily="34" charset="0"/>
                <a:ea typeface="Inconsolata" pitchFamily="34" charset="-122"/>
                <a:cs typeface="Inconsolata" pitchFamily="34" charset="-120"/>
              </a:rPr>
              <a:t>JSON configurations, terminal commands, and desktop-only interfaces create barriers</a:t>
            </a:r>
            <a:endParaRPr lang="en-US" sz="1450" dirty="0"/>
          </a:p>
        </p:txBody>
      </p:sp>
      <p:sp>
        <p:nvSpPr>
          <p:cNvPr id="13" name="Text 9"/>
          <p:cNvSpPr/>
          <p:nvPr/>
        </p:nvSpPr>
        <p:spPr>
          <a:xfrm>
            <a:off x="1392555" y="6314242"/>
            <a:ext cx="2303621" cy="287893"/>
          </a:xfrm>
          <a:prstGeom prst="rect">
            <a:avLst/>
          </a:prstGeom>
          <a:noFill/>
          <a:ln/>
        </p:spPr>
        <p:txBody>
          <a:bodyPr wrap="none" lIns="0" tIns="0" rIns="0" bIns="0" rtlCol="0" anchor="t"/>
          <a:lstStyle/>
          <a:p>
            <a:pPr algn="l" indent="0" marL="0">
              <a:lnSpc>
                <a:spcPts val="2250"/>
              </a:lnSpc>
              <a:buNone/>
            </a:pPr>
            <a:r>
              <a:rPr lang="en-US" sz="1800" b="1" dirty="0">
                <a:solidFill>
                  <a:srgbClr val="151617"/>
                </a:solidFill>
                <a:latin typeface="Montserrat Black" pitchFamily="34" charset="0"/>
                <a:ea typeface="Montserrat Black" pitchFamily="34" charset="-122"/>
                <a:cs typeface="Montserrat Black" pitchFamily="34" charset="-120"/>
              </a:rPr>
              <a:t>No Monetization</a:t>
            </a:r>
            <a:endParaRPr lang="en-US" sz="1800" dirty="0"/>
          </a:p>
        </p:txBody>
      </p:sp>
      <p:sp>
        <p:nvSpPr>
          <p:cNvPr id="14" name="Text 10"/>
          <p:cNvSpPr/>
          <p:nvPr/>
        </p:nvSpPr>
        <p:spPr>
          <a:xfrm>
            <a:off x="1392555" y="6786324"/>
            <a:ext cx="7047071" cy="294799"/>
          </a:xfrm>
          <a:prstGeom prst="rect">
            <a:avLst/>
          </a:prstGeom>
          <a:noFill/>
          <a:ln/>
        </p:spPr>
        <p:txBody>
          <a:bodyPr wrap="none" lIns="0" tIns="0" rIns="0" bIns="0" rtlCol="0" anchor="t"/>
          <a:lstStyle/>
          <a:p>
            <a:pPr algn="l" indent="0" marL="0">
              <a:lnSpc>
                <a:spcPts val="2300"/>
              </a:lnSpc>
              <a:buNone/>
            </a:pPr>
            <a:r>
              <a:rPr lang="en-US" sz="1450" dirty="0">
                <a:solidFill>
                  <a:srgbClr val="151617"/>
                </a:solidFill>
                <a:latin typeface="Inconsolata" pitchFamily="34" charset="0"/>
                <a:ea typeface="Inconsolata" pitchFamily="34" charset="-122"/>
                <a:cs typeface="Inconsolata" pitchFamily="34" charset="-120"/>
              </a:rPr>
              <a:t>OpenAI promised payments in Q1 2024, but developers are still waiting</a:t>
            </a:r>
            <a:endParaRPr lang="en-US" sz="1450" dirty="0"/>
          </a:p>
        </p:txBody>
      </p:sp>
      <p:pic>
        <p:nvPicPr>
          <p:cNvPr id="15" name="Image 2" descr="preencoded.png">    </p:cNvPr>
          <p:cNvPicPr>
            <a:picLocks noChangeAspect="1"/>
          </p:cNvPicPr>
          <p:nvPr/>
        </p:nvPicPr>
        <p:blipFill>
          <a:blip r:embed="rId5"/>
          <a:stretch>
            <a:fillRect/>
          </a:stretch>
        </p:blipFill>
        <p:spPr>
          <a:xfrm>
            <a:off x="8896826" y="2000607"/>
            <a:ext cx="3215640" cy="3215640"/>
          </a:xfrm>
          <a:prstGeom prst="rect">
            <a:avLst/>
          </a:prstGeom>
        </p:spPr>
      </p:pic>
      <p:sp>
        <p:nvSpPr>
          <p:cNvPr id="16" name="Text 11"/>
          <p:cNvSpPr/>
          <p:nvPr/>
        </p:nvSpPr>
        <p:spPr>
          <a:xfrm>
            <a:off x="8896826" y="5423535"/>
            <a:ext cx="4947285" cy="575786"/>
          </a:xfrm>
          <a:prstGeom prst="rect">
            <a:avLst/>
          </a:prstGeom>
          <a:noFill/>
          <a:ln/>
        </p:spPr>
        <p:txBody>
          <a:bodyPr wrap="square" lIns="0" tIns="0" rIns="0" bIns="0" rtlCol="0" anchor="t"/>
          <a:lstStyle/>
          <a:p>
            <a:pPr algn="ctr" indent="0" marL="0">
              <a:lnSpc>
                <a:spcPts val="2250"/>
              </a:lnSpc>
              <a:buNone/>
            </a:pPr>
            <a:r>
              <a:rPr lang="en-US" sz="1800" b="1" dirty="0">
                <a:solidFill>
                  <a:srgbClr val="151617"/>
                </a:solidFill>
                <a:latin typeface="Montserrat Black" pitchFamily="34" charset="0"/>
                <a:ea typeface="Montserrat Black" pitchFamily="34" charset="-122"/>
                <a:cs typeface="Montserrat Black" pitchFamily="34" charset="-120"/>
              </a:rPr>
              <a:t>High-quality AI tools die while basic chatbots with marketing succeed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63429" y="749856"/>
            <a:ext cx="6880265" cy="553879"/>
          </a:xfrm>
          <a:prstGeom prst="rect">
            <a:avLst/>
          </a:prstGeom>
          <a:noFill/>
          <a:ln/>
        </p:spPr>
        <p:txBody>
          <a:bodyPr wrap="none" lIns="0" tIns="0" rIns="0" bIns="0" rtlCol="0" anchor="t"/>
          <a:lstStyle/>
          <a:p>
            <a:pPr algn="l" indent="0" marL="0">
              <a:lnSpc>
                <a:spcPts val="4350"/>
              </a:lnSpc>
              <a:buNone/>
            </a:pPr>
            <a:r>
              <a:rPr lang="en-US" sz="3450" b="1" dirty="0">
                <a:solidFill>
                  <a:srgbClr val="151617"/>
                </a:solidFill>
                <a:latin typeface="Montserrat Black" pitchFamily="34" charset="0"/>
                <a:ea typeface="Montserrat Black" pitchFamily="34" charset="-122"/>
                <a:cs typeface="Montserrat Black" pitchFamily="34" charset="-120"/>
              </a:rPr>
              <a:t>Perfect Timing Convergence</a:t>
            </a:r>
            <a:endParaRPr lang="en-US" sz="3450" dirty="0"/>
          </a:p>
        </p:txBody>
      </p:sp>
      <p:sp>
        <p:nvSpPr>
          <p:cNvPr id="3" name="Shape 1"/>
          <p:cNvSpPr/>
          <p:nvPr/>
        </p:nvSpPr>
        <p:spPr>
          <a:xfrm>
            <a:off x="763429" y="3033951"/>
            <a:ext cx="13103543" cy="22860"/>
          </a:xfrm>
          <a:prstGeom prst="roundRect">
            <a:avLst>
              <a:gd name="adj" fmla="val 40000"/>
            </a:avLst>
          </a:prstGeom>
          <a:solidFill>
            <a:srgbClr val="000000">
              <a:alpha val="8000"/>
            </a:srgbClr>
          </a:solidFill>
          <a:ln/>
        </p:spPr>
      </p:sp>
      <p:sp>
        <p:nvSpPr>
          <p:cNvPr id="4" name="Shape 2"/>
          <p:cNvSpPr/>
          <p:nvPr/>
        </p:nvSpPr>
        <p:spPr>
          <a:xfrm>
            <a:off x="3306128" y="2502396"/>
            <a:ext cx="22860" cy="531614"/>
          </a:xfrm>
          <a:prstGeom prst="roundRect">
            <a:avLst>
              <a:gd name="adj" fmla="val 40000"/>
            </a:avLst>
          </a:prstGeom>
          <a:solidFill>
            <a:srgbClr val="151617"/>
          </a:solidFill>
          <a:ln/>
        </p:spPr>
      </p:sp>
      <p:sp>
        <p:nvSpPr>
          <p:cNvPr id="5" name="Shape 3"/>
          <p:cNvSpPr/>
          <p:nvPr/>
        </p:nvSpPr>
        <p:spPr>
          <a:xfrm>
            <a:off x="3118247" y="2834580"/>
            <a:ext cx="398740" cy="398740"/>
          </a:xfrm>
          <a:prstGeom prst="roundRect">
            <a:avLst>
              <a:gd name="adj" fmla="val 2293"/>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6" name="Text 4"/>
          <p:cNvSpPr/>
          <p:nvPr/>
        </p:nvSpPr>
        <p:spPr>
          <a:xfrm>
            <a:off x="3184684" y="2867739"/>
            <a:ext cx="265748" cy="332303"/>
          </a:xfrm>
          <a:prstGeom prst="rect">
            <a:avLst/>
          </a:prstGeom>
          <a:noFill/>
          <a:ln/>
        </p:spPr>
        <p:txBody>
          <a:bodyPr wrap="none" lIns="0" tIns="0" rIns="0" bIns="0" rtlCol="0" anchor="t"/>
          <a:lstStyle/>
          <a:p>
            <a:pPr algn="ctr" indent="0" marL="0">
              <a:lnSpc>
                <a:spcPts val="2050"/>
              </a:lnSpc>
              <a:buNone/>
            </a:pPr>
            <a:r>
              <a:rPr lang="en-US" sz="2050" b="1" dirty="0">
                <a:solidFill>
                  <a:srgbClr val="151617"/>
                </a:solidFill>
                <a:latin typeface="Montserrat Black" pitchFamily="34" charset="0"/>
                <a:ea typeface="Montserrat Black" pitchFamily="34" charset="-122"/>
                <a:cs typeface="Montserrat Black" pitchFamily="34" charset="-120"/>
              </a:rPr>
              <a:t>1</a:t>
            </a:r>
            <a:endParaRPr lang="en-US" sz="2050" dirty="0"/>
          </a:p>
        </p:txBody>
      </p:sp>
      <p:sp>
        <p:nvSpPr>
          <p:cNvPr id="7" name="Text 5"/>
          <p:cNvSpPr/>
          <p:nvPr/>
        </p:nvSpPr>
        <p:spPr>
          <a:xfrm>
            <a:off x="2209919" y="1658183"/>
            <a:ext cx="2215396" cy="276939"/>
          </a:xfrm>
          <a:prstGeom prst="rect">
            <a:avLst/>
          </a:prstGeom>
          <a:noFill/>
          <a:ln/>
        </p:spPr>
        <p:txBody>
          <a:bodyPr wrap="none" lIns="0" tIns="0" rIns="0" bIns="0" rtlCol="0" anchor="t"/>
          <a:lstStyle/>
          <a:p>
            <a:pPr algn="ctr" indent="0" marL="0">
              <a:lnSpc>
                <a:spcPts val="2150"/>
              </a:lnSpc>
              <a:buNone/>
            </a:pPr>
            <a:r>
              <a:rPr lang="en-US" sz="1700" b="1" dirty="0">
                <a:solidFill>
                  <a:srgbClr val="151617"/>
                </a:solidFill>
                <a:latin typeface="Montserrat Black" pitchFamily="34" charset="0"/>
                <a:ea typeface="Montserrat Black" pitchFamily="34" charset="-122"/>
                <a:cs typeface="Montserrat Black" pitchFamily="34" charset="-120"/>
              </a:rPr>
              <a:t>Nov 2024</a:t>
            </a:r>
            <a:endParaRPr lang="en-US" sz="1700" dirty="0"/>
          </a:p>
        </p:txBody>
      </p:sp>
      <p:sp>
        <p:nvSpPr>
          <p:cNvPr id="8" name="Text 6"/>
          <p:cNvSpPr/>
          <p:nvPr/>
        </p:nvSpPr>
        <p:spPr>
          <a:xfrm>
            <a:off x="940594" y="2041446"/>
            <a:ext cx="4754166" cy="283607"/>
          </a:xfrm>
          <a:prstGeom prst="rect">
            <a:avLst/>
          </a:prstGeom>
          <a:noFill/>
          <a:ln/>
        </p:spPr>
        <p:txBody>
          <a:bodyPr wrap="none" lIns="0" tIns="0" rIns="0" bIns="0" rtlCol="0" anchor="t"/>
          <a:lstStyle/>
          <a:p>
            <a:pPr algn="ctr" indent="0" marL="0">
              <a:lnSpc>
                <a:spcPts val="2200"/>
              </a:lnSpc>
              <a:buNone/>
            </a:pPr>
            <a:r>
              <a:rPr lang="en-US" sz="1350" dirty="0">
                <a:solidFill>
                  <a:srgbClr val="151617"/>
                </a:solidFill>
                <a:latin typeface="Inconsolata" pitchFamily="34" charset="0"/>
                <a:ea typeface="Inconsolata" pitchFamily="34" charset="-122"/>
                <a:cs typeface="Inconsolata" pitchFamily="34" charset="-120"/>
              </a:rPr>
              <a:t>Anthropic launches MCP protocol</a:t>
            </a:r>
            <a:endParaRPr lang="en-US" sz="1350" dirty="0"/>
          </a:p>
        </p:txBody>
      </p:sp>
      <p:sp>
        <p:nvSpPr>
          <p:cNvPr id="9" name="Shape 7"/>
          <p:cNvSpPr/>
          <p:nvPr/>
        </p:nvSpPr>
        <p:spPr>
          <a:xfrm>
            <a:off x="5971103" y="3033891"/>
            <a:ext cx="22860" cy="531614"/>
          </a:xfrm>
          <a:prstGeom prst="roundRect">
            <a:avLst>
              <a:gd name="adj" fmla="val 40000"/>
            </a:avLst>
          </a:prstGeom>
          <a:solidFill>
            <a:srgbClr val="151617"/>
          </a:solidFill>
          <a:ln/>
        </p:spPr>
      </p:sp>
      <p:sp>
        <p:nvSpPr>
          <p:cNvPr id="10" name="Shape 8"/>
          <p:cNvSpPr/>
          <p:nvPr/>
        </p:nvSpPr>
        <p:spPr>
          <a:xfrm>
            <a:off x="5783223" y="2834580"/>
            <a:ext cx="398740" cy="398740"/>
          </a:xfrm>
          <a:prstGeom prst="roundRect">
            <a:avLst>
              <a:gd name="adj" fmla="val 2293"/>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11" name="Text 9"/>
          <p:cNvSpPr/>
          <p:nvPr/>
        </p:nvSpPr>
        <p:spPr>
          <a:xfrm>
            <a:off x="5849660" y="2867739"/>
            <a:ext cx="265748" cy="332303"/>
          </a:xfrm>
          <a:prstGeom prst="rect">
            <a:avLst/>
          </a:prstGeom>
          <a:noFill/>
          <a:ln/>
        </p:spPr>
        <p:txBody>
          <a:bodyPr wrap="none" lIns="0" tIns="0" rIns="0" bIns="0" rtlCol="0" anchor="t"/>
          <a:lstStyle/>
          <a:p>
            <a:pPr algn="ctr" indent="0" marL="0">
              <a:lnSpc>
                <a:spcPts val="2050"/>
              </a:lnSpc>
              <a:buNone/>
            </a:pPr>
            <a:r>
              <a:rPr lang="en-US" sz="2050" b="1" dirty="0">
                <a:solidFill>
                  <a:srgbClr val="151617"/>
                </a:solidFill>
                <a:latin typeface="Montserrat Black" pitchFamily="34" charset="0"/>
                <a:ea typeface="Montserrat Black" pitchFamily="34" charset="-122"/>
                <a:cs typeface="Montserrat Black" pitchFamily="34" charset="-120"/>
              </a:rPr>
              <a:t>2</a:t>
            </a:r>
            <a:endParaRPr lang="en-US" sz="2050" dirty="0"/>
          </a:p>
        </p:txBody>
      </p:sp>
      <p:sp>
        <p:nvSpPr>
          <p:cNvPr id="12" name="Text 10"/>
          <p:cNvSpPr/>
          <p:nvPr/>
        </p:nvSpPr>
        <p:spPr>
          <a:xfrm>
            <a:off x="4874895" y="3742849"/>
            <a:ext cx="2215396" cy="276939"/>
          </a:xfrm>
          <a:prstGeom prst="rect">
            <a:avLst/>
          </a:prstGeom>
          <a:noFill/>
          <a:ln/>
        </p:spPr>
        <p:txBody>
          <a:bodyPr wrap="none" lIns="0" tIns="0" rIns="0" bIns="0" rtlCol="0" anchor="t"/>
          <a:lstStyle/>
          <a:p>
            <a:pPr algn="ctr" indent="0" marL="0">
              <a:lnSpc>
                <a:spcPts val="2150"/>
              </a:lnSpc>
              <a:buNone/>
            </a:pPr>
            <a:r>
              <a:rPr lang="en-US" sz="1700" b="1" dirty="0">
                <a:solidFill>
                  <a:srgbClr val="151617"/>
                </a:solidFill>
                <a:latin typeface="Montserrat Black" pitchFamily="34" charset="0"/>
                <a:ea typeface="Montserrat Black" pitchFamily="34" charset="-122"/>
                <a:cs typeface="Montserrat Black" pitchFamily="34" charset="-120"/>
              </a:rPr>
              <a:t>Mar 2025</a:t>
            </a:r>
            <a:endParaRPr lang="en-US" sz="1700" dirty="0"/>
          </a:p>
        </p:txBody>
      </p:sp>
      <p:sp>
        <p:nvSpPr>
          <p:cNvPr id="13" name="Text 11"/>
          <p:cNvSpPr/>
          <p:nvPr/>
        </p:nvSpPr>
        <p:spPr>
          <a:xfrm>
            <a:off x="3605570" y="4126111"/>
            <a:ext cx="4754166" cy="283607"/>
          </a:xfrm>
          <a:prstGeom prst="rect">
            <a:avLst/>
          </a:prstGeom>
          <a:noFill/>
          <a:ln/>
        </p:spPr>
        <p:txBody>
          <a:bodyPr wrap="none" lIns="0" tIns="0" rIns="0" bIns="0" rtlCol="0" anchor="t"/>
          <a:lstStyle/>
          <a:p>
            <a:pPr algn="ctr" indent="0" marL="0">
              <a:lnSpc>
                <a:spcPts val="2200"/>
              </a:lnSpc>
              <a:buNone/>
            </a:pPr>
            <a:r>
              <a:rPr lang="en-US" sz="1350" dirty="0">
                <a:solidFill>
                  <a:srgbClr val="151617"/>
                </a:solidFill>
                <a:latin typeface="Inconsolata" pitchFamily="34" charset="0"/>
                <a:ea typeface="Inconsolata" pitchFamily="34" charset="-122"/>
                <a:cs typeface="Inconsolata" pitchFamily="34" charset="-120"/>
              </a:rPr>
              <a:t>OpenAI adopts MCP across ChatGPT</a:t>
            </a:r>
            <a:endParaRPr lang="en-US" sz="1350" dirty="0"/>
          </a:p>
        </p:txBody>
      </p:sp>
      <p:sp>
        <p:nvSpPr>
          <p:cNvPr id="14" name="Shape 12"/>
          <p:cNvSpPr/>
          <p:nvPr/>
        </p:nvSpPr>
        <p:spPr>
          <a:xfrm>
            <a:off x="8636079" y="2502396"/>
            <a:ext cx="22860" cy="531614"/>
          </a:xfrm>
          <a:prstGeom prst="roundRect">
            <a:avLst>
              <a:gd name="adj" fmla="val 40000"/>
            </a:avLst>
          </a:prstGeom>
          <a:solidFill>
            <a:srgbClr val="151617"/>
          </a:solidFill>
          <a:ln/>
        </p:spPr>
      </p:sp>
      <p:sp>
        <p:nvSpPr>
          <p:cNvPr id="15" name="Shape 13"/>
          <p:cNvSpPr/>
          <p:nvPr/>
        </p:nvSpPr>
        <p:spPr>
          <a:xfrm>
            <a:off x="8448199" y="2834580"/>
            <a:ext cx="398740" cy="398740"/>
          </a:xfrm>
          <a:prstGeom prst="roundRect">
            <a:avLst>
              <a:gd name="adj" fmla="val 2293"/>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16" name="Text 14"/>
          <p:cNvSpPr/>
          <p:nvPr/>
        </p:nvSpPr>
        <p:spPr>
          <a:xfrm>
            <a:off x="8514636" y="2867739"/>
            <a:ext cx="265748" cy="332303"/>
          </a:xfrm>
          <a:prstGeom prst="rect">
            <a:avLst/>
          </a:prstGeom>
          <a:noFill/>
          <a:ln/>
        </p:spPr>
        <p:txBody>
          <a:bodyPr wrap="none" lIns="0" tIns="0" rIns="0" bIns="0" rtlCol="0" anchor="t"/>
          <a:lstStyle/>
          <a:p>
            <a:pPr algn="ctr" indent="0" marL="0">
              <a:lnSpc>
                <a:spcPts val="2050"/>
              </a:lnSpc>
              <a:buNone/>
            </a:pPr>
            <a:r>
              <a:rPr lang="en-US" sz="2050" b="1" dirty="0">
                <a:solidFill>
                  <a:srgbClr val="151617"/>
                </a:solidFill>
                <a:latin typeface="Montserrat Black" pitchFamily="34" charset="0"/>
                <a:ea typeface="Montserrat Black" pitchFamily="34" charset="-122"/>
                <a:cs typeface="Montserrat Black" pitchFamily="34" charset="-120"/>
              </a:rPr>
              <a:t>3</a:t>
            </a:r>
            <a:endParaRPr lang="en-US" sz="2050" dirty="0"/>
          </a:p>
        </p:txBody>
      </p:sp>
      <p:sp>
        <p:nvSpPr>
          <p:cNvPr id="17" name="Text 15"/>
          <p:cNvSpPr/>
          <p:nvPr/>
        </p:nvSpPr>
        <p:spPr>
          <a:xfrm>
            <a:off x="7539871" y="1658183"/>
            <a:ext cx="2215396" cy="276939"/>
          </a:xfrm>
          <a:prstGeom prst="rect">
            <a:avLst/>
          </a:prstGeom>
          <a:noFill/>
          <a:ln/>
        </p:spPr>
        <p:txBody>
          <a:bodyPr wrap="none" lIns="0" tIns="0" rIns="0" bIns="0" rtlCol="0" anchor="t"/>
          <a:lstStyle/>
          <a:p>
            <a:pPr algn="ctr" indent="0" marL="0">
              <a:lnSpc>
                <a:spcPts val="2150"/>
              </a:lnSpc>
              <a:buNone/>
            </a:pPr>
            <a:r>
              <a:rPr lang="en-US" sz="1700" b="1" dirty="0">
                <a:solidFill>
                  <a:srgbClr val="151617"/>
                </a:solidFill>
                <a:latin typeface="Montserrat Black" pitchFamily="34" charset="0"/>
                <a:ea typeface="Montserrat Black" pitchFamily="34" charset="-122"/>
                <a:cs typeface="Montserrat Black" pitchFamily="34" charset="-120"/>
              </a:rPr>
              <a:t>Apr 2025</a:t>
            </a:r>
            <a:endParaRPr lang="en-US" sz="1700" dirty="0"/>
          </a:p>
        </p:txBody>
      </p:sp>
      <p:sp>
        <p:nvSpPr>
          <p:cNvPr id="18" name="Text 16"/>
          <p:cNvSpPr/>
          <p:nvPr/>
        </p:nvSpPr>
        <p:spPr>
          <a:xfrm>
            <a:off x="6270546" y="2041446"/>
            <a:ext cx="4754166" cy="283607"/>
          </a:xfrm>
          <a:prstGeom prst="rect">
            <a:avLst/>
          </a:prstGeom>
          <a:noFill/>
          <a:ln/>
        </p:spPr>
        <p:txBody>
          <a:bodyPr wrap="none" lIns="0" tIns="0" rIns="0" bIns="0" rtlCol="0" anchor="t"/>
          <a:lstStyle/>
          <a:p>
            <a:pPr algn="ctr" indent="0" marL="0">
              <a:lnSpc>
                <a:spcPts val="2200"/>
              </a:lnSpc>
              <a:buNone/>
            </a:pPr>
            <a:r>
              <a:rPr lang="en-US" sz="1350" dirty="0">
                <a:solidFill>
                  <a:srgbClr val="151617"/>
                </a:solidFill>
                <a:latin typeface="Inconsolata" pitchFamily="34" charset="0"/>
                <a:ea typeface="Inconsolata" pitchFamily="34" charset="-122"/>
                <a:cs typeface="Inconsolata" pitchFamily="34" charset="-120"/>
              </a:rPr>
              <a:t>Google announces MCP for Gemini</a:t>
            </a:r>
            <a:endParaRPr lang="en-US" sz="1350" dirty="0"/>
          </a:p>
        </p:txBody>
      </p:sp>
      <p:sp>
        <p:nvSpPr>
          <p:cNvPr id="19" name="Shape 17"/>
          <p:cNvSpPr/>
          <p:nvPr/>
        </p:nvSpPr>
        <p:spPr>
          <a:xfrm>
            <a:off x="11301055" y="3033891"/>
            <a:ext cx="22860" cy="531614"/>
          </a:xfrm>
          <a:prstGeom prst="roundRect">
            <a:avLst>
              <a:gd name="adj" fmla="val 40000"/>
            </a:avLst>
          </a:prstGeom>
          <a:solidFill>
            <a:srgbClr val="151617"/>
          </a:solidFill>
          <a:ln/>
        </p:spPr>
      </p:sp>
      <p:sp>
        <p:nvSpPr>
          <p:cNvPr id="20" name="Shape 18"/>
          <p:cNvSpPr/>
          <p:nvPr/>
        </p:nvSpPr>
        <p:spPr>
          <a:xfrm>
            <a:off x="11113175" y="2834580"/>
            <a:ext cx="398740" cy="398740"/>
          </a:xfrm>
          <a:prstGeom prst="roundRect">
            <a:avLst>
              <a:gd name="adj" fmla="val 2293"/>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21" name="Text 19"/>
          <p:cNvSpPr/>
          <p:nvPr/>
        </p:nvSpPr>
        <p:spPr>
          <a:xfrm>
            <a:off x="11179612" y="2867739"/>
            <a:ext cx="265748" cy="332303"/>
          </a:xfrm>
          <a:prstGeom prst="rect">
            <a:avLst/>
          </a:prstGeom>
          <a:noFill/>
          <a:ln/>
        </p:spPr>
        <p:txBody>
          <a:bodyPr wrap="none" lIns="0" tIns="0" rIns="0" bIns="0" rtlCol="0" anchor="t"/>
          <a:lstStyle/>
          <a:p>
            <a:pPr algn="ctr" indent="0" marL="0">
              <a:lnSpc>
                <a:spcPts val="2050"/>
              </a:lnSpc>
              <a:buNone/>
            </a:pPr>
            <a:r>
              <a:rPr lang="en-US" sz="2050" b="1" dirty="0">
                <a:solidFill>
                  <a:srgbClr val="151617"/>
                </a:solidFill>
                <a:latin typeface="Montserrat Black" pitchFamily="34" charset="0"/>
                <a:ea typeface="Montserrat Black" pitchFamily="34" charset="-122"/>
                <a:cs typeface="Montserrat Black" pitchFamily="34" charset="-120"/>
              </a:rPr>
              <a:t>4</a:t>
            </a:r>
            <a:endParaRPr lang="en-US" sz="2050" dirty="0"/>
          </a:p>
        </p:txBody>
      </p:sp>
      <p:sp>
        <p:nvSpPr>
          <p:cNvPr id="22" name="Text 20"/>
          <p:cNvSpPr/>
          <p:nvPr/>
        </p:nvSpPr>
        <p:spPr>
          <a:xfrm>
            <a:off x="10204847" y="3742849"/>
            <a:ext cx="2215396" cy="276939"/>
          </a:xfrm>
          <a:prstGeom prst="rect">
            <a:avLst/>
          </a:prstGeom>
          <a:noFill/>
          <a:ln/>
        </p:spPr>
        <p:txBody>
          <a:bodyPr wrap="none" lIns="0" tIns="0" rIns="0" bIns="0" rtlCol="0" anchor="t"/>
          <a:lstStyle/>
          <a:p>
            <a:pPr algn="ctr" indent="0" marL="0">
              <a:lnSpc>
                <a:spcPts val="2150"/>
              </a:lnSpc>
              <a:buNone/>
            </a:pPr>
            <a:r>
              <a:rPr lang="en-US" sz="1700" b="1" dirty="0">
                <a:solidFill>
                  <a:srgbClr val="151617"/>
                </a:solidFill>
                <a:latin typeface="Montserrat Black" pitchFamily="34" charset="0"/>
                <a:ea typeface="Montserrat Black" pitchFamily="34" charset="-122"/>
                <a:cs typeface="Montserrat Black" pitchFamily="34" charset="-120"/>
              </a:rPr>
              <a:t>May 2025</a:t>
            </a:r>
            <a:endParaRPr lang="en-US" sz="1700" dirty="0"/>
          </a:p>
        </p:txBody>
      </p:sp>
      <p:sp>
        <p:nvSpPr>
          <p:cNvPr id="23" name="Text 21"/>
          <p:cNvSpPr/>
          <p:nvPr/>
        </p:nvSpPr>
        <p:spPr>
          <a:xfrm>
            <a:off x="8935522" y="4126111"/>
            <a:ext cx="4754166" cy="283607"/>
          </a:xfrm>
          <a:prstGeom prst="rect">
            <a:avLst/>
          </a:prstGeom>
          <a:noFill/>
          <a:ln/>
        </p:spPr>
        <p:txBody>
          <a:bodyPr wrap="none" lIns="0" tIns="0" rIns="0" bIns="0" rtlCol="0" anchor="t"/>
          <a:lstStyle/>
          <a:p>
            <a:pPr algn="ctr" indent="0" marL="0">
              <a:lnSpc>
                <a:spcPts val="2200"/>
              </a:lnSpc>
              <a:buNone/>
            </a:pPr>
            <a:r>
              <a:rPr lang="en-US" sz="1350" dirty="0">
                <a:solidFill>
                  <a:srgbClr val="151617"/>
                </a:solidFill>
                <a:latin typeface="Inconsolata" pitchFamily="34" charset="0"/>
                <a:ea typeface="Inconsolata" pitchFamily="34" charset="-122"/>
                <a:cs typeface="Inconsolata" pitchFamily="34" charset="-120"/>
              </a:rPr>
              <a:t>Microsoft integrates MCP into Windows 11</a:t>
            </a:r>
            <a:endParaRPr lang="en-US" sz="1350" dirty="0"/>
          </a:p>
        </p:txBody>
      </p:sp>
      <p:sp>
        <p:nvSpPr>
          <p:cNvPr id="24" name="Text 22"/>
          <p:cNvSpPr/>
          <p:nvPr/>
        </p:nvSpPr>
        <p:spPr>
          <a:xfrm>
            <a:off x="763429" y="4675465"/>
            <a:ext cx="5655945" cy="332303"/>
          </a:xfrm>
          <a:prstGeom prst="rect">
            <a:avLst/>
          </a:prstGeom>
          <a:noFill/>
          <a:ln/>
        </p:spPr>
        <p:txBody>
          <a:bodyPr wrap="none" lIns="0" tIns="0" rIns="0" bIns="0" rtlCol="0" anchor="t"/>
          <a:lstStyle/>
          <a:p>
            <a:pPr algn="l" indent="0" marL="0">
              <a:lnSpc>
                <a:spcPts val="2600"/>
              </a:lnSpc>
              <a:buNone/>
            </a:pPr>
            <a:r>
              <a:rPr lang="en-US" sz="2050" b="1" dirty="0">
                <a:solidFill>
                  <a:srgbClr val="5E208E"/>
                </a:solidFill>
                <a:latin typeface="Montserrat Black" pitchFamily="34" charset="0"/>
                <a:ea typeface="Montserrat Black" pitchFamily="34" charset="-122"/>
                <a:cs typeface="Montserrat Black" pitchFamily="34" charset="-120"/>
              </a:rPr>
              <a:t>Universal AI Standard Finally Emerging</a:t>
            </a:r>
            <a:endParaRPr lang="en-US" sz="2050" dirty="0"/>
          </a:p>
        </p:txBody>
      </p:sp>
      <p:sp>
        <p:nvSpPr>
          <p:cNvPr id="25" name="Text 23"/>
          <p:cNvSpPr/>
          <p:nvPr/>
        </p:nvSpPr>
        <p:spPr>
          <a:xfrm>
            <a:off x="763429" y="5273516"/>
            <a:ext cx="13103543" cy="283607"/>
          </a:xfrm>
          <a:prstGeom prst="rect">
            <a:avLst/>
          </a:prstGeom>
          <a:noFill/>
          <a:ln/>
        </p:spPr>
        <p:txBody>
          <a:bodyPr wrap="none" lIns="0" tIns="0" rIns="0" bIns="0" rtlCol="0" anchor="t"/>
          <a:lstStyle/>
          <a:p>
            <a:pPr algn="l" indent="0" marL="0">
              <a:lnSpc>
                <a:spcPts val="2200"/>
              </a:lnSpc>
              <a:buNone/>
            </a:pPr>
            <a:r>
              <a:rPr lang="en-US" sz="1350" dirty="0">
                <a:solidFill>
                  <a:srgbClr val="151617"/>
                </a:solidFill>
                <a:latin typeface="Inconsolata" pitchFamily="34" charset="0"/>
                <a:ea typeface="Inconsolata" pitchFamily="34" charset="-122"/>
                <a:cs typeface="Inconsolata" pitchFamily="34" charset="-120"/>
              </a:rPr>
              <a:t>All major AI companies now use the same "USB-C for AI tools," creating a standard infrastructure for the first time.</a:t>
            </a:r>
            <a:endParaRPr lang="en-US" sz="1350" dirty="0"/>
          </a:p>
        </p:txBody>
      </p:sp>
      <p:sp>
        <p:nvSpPr>
          <p:cNvPr id="26" name="Text 24"/>
          <p:cNvSpPr/>
          <p:nvPr/>
        </p:nvSpPr>
        <p:spPr>
          <a:xfrm>
            <a:off x="763429" y="5933599"/>
            <a:ext cx="4183975" cy="332303"/>
          </a:xfrm>
          <a:prstGeom prst="rect">
            <a:avLst/>
          </a:prstGeom>
          <a:noFill/>
          <a:ln/>
        </p:spPr>
        <p:txBody>
          <a:bodyPr wrap="none" lIns="0" tIns="0" rIns="0" bIns="0" rtlCol="0" anchor="t"/>
          <a:lstStyle/>
          <a:p>
            <a:pPr algn="l" indent="0" marL="0">
              <a:lnSpc>
                <a:spcPts val="2600"/>
              </a:lnSpc>
              <a:buNone/>
            </a:pPr>
            <a:r>
              <a:rPr lang="en-US" sz="2050" b="1" dirty="0">
                <a:solidFill>
                  <a:srgbClr val="910D0D"/>
                </a:solidFill>
                <a:latin typeface="Montserrat Black" pitchFamily="34" charset="0"/>
                <a:ea typeface="Montserrat Black" pitchFamily="34" charset="-122"/>
                <a:cs typeface="Montserrat Black" pitchFamily="34" charset="-120"/>
              </a:rPr>
              <a:t>Mobile AI Demand Exploding</a:t>
            </a:r>
            <a:endParaRPr lang="en-US" sz="2050" dirty="0"/>
          </a:p>
        </p:txBody>
      </p:sp>
      <p:sp>
        <p:nvSpPr>
          <p:cNvPr id="27" name="Text 25"/>
          <p:cNvSpPr/>
          <p:nvPr/>
        </p:nvSpPr>
        <p:spPr>
          <a:xfrm>
            <a:off x="763429" y="6443067"/>
            <a:ext cx="6335554" cy="283607"/>
          </a:xfrm>
          <a:prstGeom prst="rect">
            <a:avLst/>
          </a:prstGeom>
          <a:noFill/>
          <a:ln/>
        </p:spPr>
        <p:txBody>
          <a:bodyPr wrap="none" lIns="0" tIns="0" rIns="0" bIns="0" rtlCol="0" anchor="t"/>
          <a:lstStyle/>
          <a:p>
            <a:pPr algn="l" marL="342900" indent="-342900">
              <a:lnSpc>
                <a:spcPts val="2200"/>
              </a:lnSpc>
              <a:buSzPct val="100000"/>
              <a:buChar char="•"/>
            </a:pPr>
            <a:r>
              <a:rPr lang="en-US" sz="1350" dirty="0">
                <a:solidFill>
                  <a:srgbClr val="151617"/>
                </a:solidFill>
                <a:latin typeface="Inconsolata" pitchFamily="34" charset="0"/>
                <a:ea typeface="Inconsolata" pitchFamily="34" charset="-122"/>
                <a:cs typeface="Inconsolata" pitchFamily="34" charset="-120"/>
              </a:rPr>
              <a:t>Mobile AI app revenue: </a:t>
            </a:r>
            <a:pPr algn="l" indent="0" marL="0">
              <a:lnSpc>
                <a:spcPts val="2200"/>
              </a:lnSpc>
              <a:buNone/>
            </a:pPr>
            <a:r>
              <a:rPr lang="en-US" sz="1350" b="1" dirty="0">
                <a:solidFill>
                  <a:srgbClr val="151617"/>
                </a:solidFill>
                <a:latin typeface="Inconsolata" pitchFamily="34" charset="0"/>
                <a:ea typeface="Inconsolata" pitchFamily="34" charset="-122"/>
                <a:cs typeface="Inconsolata" pitchFamily="34" charset="-120"/>
              </a:rPr>
              <a:t>$4.5B in 2024</a:t>
            </a:r>
            <a:pPr algn="l" indent="0" marL="0">
              <a:lnSpc>
                <a:spcPts val="2200"/>
              </a:lnSpc>
              <a:buNone/>
            </a:pPr>
            <a:r>
              <a:rPr lang="en-US" sz="1350" dirty="0">
                <a:solidFill>
                  <a:srgbClr val="151617"/>
                </a:solidFill>
                <a:latin typeface="Inconsolata" pitchFamily="34" charset="0"/>
                <a:ea typeface="Inconsolata" pitchFamily="34" charset="-122"/>
                <a:cs typeface="Inconsolata" pitchFamily="34" charset="-120"/>
              </a:rPr>
              <a:t> (+130% YoY)</a:t>
            </a:r>
            <a:endParaRPr lang="en-US" sz="1350" dirty="0"/>
          </a:p>
        </p:txBody>
      </p:sp>
      <p:sp>
        <p:nvSpPr>
          <p:cNvPr id="28" name="Text 26"/>
          <p:cNvSpPr/>
          <p:nvPr/>
        </p:nvSpPr>
        <p:spPr>
          <a:xfrm>
            <a:off x="763429" y="6788706"/>
            <a:ext cx="6335554" cy="283607"/>
          </a:xfrm>
          <a:prstGeom prst="rect">
            <a:avLst/>
          </a:prstGeom>
          <a:noFill/>
          <a:ln/>
        </p:spPr>
        <p:txBody>
          <a:bodyPr wrap="none" lIns="0" tIns="0" rIns="0" bIns="0" rtlCol="0" anchor="t"/>
          <a:lstStyle/>
          <a:p>
            <a:pPr algn="l" marL="342900" indent="-342900">
              <a:lnSpc>
                <a:spcPts val="2200"/>
              </a:lnSpc>
              <a:buSzPct val="100000"/>
              <a:buChar char="•"/>
            </a:pPr>
            <a:r>
              <a:rPr lang="en-US" sz="1350" dirty="0">
                <a:solidFill>
                  <a:srgbClr val="151617"/>
                </a:solidFill>
                <a:latin typeface="Inconsolata" pitchFamily="34" charset="0"/>
                <a:ea typeface="Inconsolata" pitchFamily="34" charset="-122"/>
                <a:cs typeface="Inconsolata" pitchFamily="34" charset="-120"/>
              </a:rPr>
              <a:t>AI smartphone penetration: </a:t>
            </a:r>
            <a:pPr algn="l" indent="0" marL="0">
              <a:lnSpc>
                <a:spcPts val="2200"/>
              </a:lnSpc>
              <a:buNone/>
            </a:pPr>
            <a:r>
              <a:rPr lang="en-US" sz="1350" b="1" dirty="0">
                <a:solidFill>
                  <a:srgbClr val="151617"/>
                </a:solidFill>
                <a:latin typeface="Inconsolata" pitchFamily="34" charset="0"/>
                <a:ea typeface="Inconsolata" pitchFamily="34" charset="-122"/>
                <a:cs typeface="Inconsolata" pitchFamily="34" charset="-120"/>
              </a:rPr>
              <a:t>33% by end of 2025</a:t>
            </a:r>
            <a:endParaRPr lang="en-US" sz="1350" dirty="0"/>
          </a:p>
        </p:txBody>
      </p:sp>
      <p:sp>
        <p:nvSpPr>
          <p:cNvPr id="29" name="Text 27"/>
          <p:cNvSpPr/>
          <p:nvPr/>
        </p:nvSpPr>
        <p:spPr>
          <a:xfrm>
            <a:off x="763429" y="7134344"/>
            <a:ext cx="6335554" cy="283607"/>
          </a:xfrm>
          <a:prstGeom prst="rect">
            <a:avLst/>
          </a:prstGeom>
          <a:noFill/>
          <a:ln/>
        </p:spPr>
        <p:txBody>
          <a:bodyPr wrap="none" lIns="0" tIns="0" rIns="0" bIns="0" rtlCol="0" anchor="t"/>
          <a:lstStyle/>
          <a:p>
            <a:pPr algn="l" marL="342900" indent="-342900">
              <a:lnSpc>
                <a:spcPts val="2200"/>
              </a:lnSpc>
              <a:buSzPct val="100000"/>
              <a:buChar char="•"/>
            </a:pPr>
            <a:r>
              <a:rPr lang="en-US" sz="1350" dirty="0">
                <a:solidFill>
                  <a:srgbClr val="151617"/>
                </a:solidFill>
                <a:latin typeface="Inconsolata" pitchFamily="34" charset="0"/>
                <a:ea typeface="Inconsolata" pitchFamily="34" charset="-122"/>
                <a:cs typeface="Inconsolata" pitchFamily="34" charset="-120"/>
              </a:rPr>
              <a:t>Users want AI that </a:t>
            </a:r>
            <a:pPr algn="l" indent="0" marL="0">
              <a:lnSpc>
                <a:spcPts val="2200"/>
              </a:lnSpc>
              <a:buNone/>
            </a:pPr>
            <a:r>
              <a:rPr lang="en-US" sz="1350" b="1" dirty="0">
                <a:solidFill>
                  <a:srgbClr val="151617"/>
                </a:solidFill>
                <a:latin typeface="Inconsolata" pitchFamily="34" charset="0"/>
                <a:ea typeface="Inconsolata" pitchFamily="34" charset="-122"/>
                <a:cs typeface="Inconsolata" pitchFamily="34" charset="-120"/>
              </a:rPr>
              <a:t>does things</a:t>
            </a:r>
            <a:pPr algn="l" indent="0" marL="0">
              <a:lnSpc>
                <a:spcPts val="2200"/>
              </a:lnSpc>
              <a:buNone/>
            </a:pPr>
            <a:r>
              <a:rPr lang="en-US" sz="1350" dirty="0">
                <a:solidFill>
                  <a:srgbClr val="151617"/>
                </a:solidFill>
                <a:latin typeface="Inconsolata" pitchFamily="34" charset="0"/>
                <a:ea typeface="Inconsolata" pitchFamily="34" charset="-122"/>
                <a:cs typeface="Inconsolata" pitchFamily="34" charset="-120"/>
              </a:rPr>
              <a:t>, not just chats</a:t>
            </a:r>
            <a:endParaRPr lang="en-US" sz="1350" dirty="0"/>
          </a:p>
        </p:txBody>
      </p:sp>
      <p:sp>
        <p:nvSpPr>
          <p:cNvPr id="30" name="Text 28"/>
          <p:cNvSpPr/>
          <p:nvPr/>
        </p:nvSpPr>
        <p:spPr>
          <a:xfrm>
            <a:off x="7539037" y="5933599"/>
            <a:ext cx="5781913" cy="332303"/>
          </a:xfrm>
          <a:prstGeom prst="rect">
            <a:avLst/>
          </a:prstGeom>
          <a:noFill/>
          <a:ln/>
        </p:spPr>
        <p:txBody>
          <a:bodyPr wrap="none" lIns="0" tIns="0" rIns="0" bIns="0" rtlCol="0" anchor="t"/>
          <a:lstStyle/>
          <a:p>
            <a:pPr algn="l" indent="0" marL="0">
              <a:lnSpc>
                <a:spcPts val="2600"/>
              </a:lnSpc>
              <a:buNone/>
            </a:pPr>
            <a:r>
              <a:rPr lang="en-US" sz="2050" b="1" dirty="0">
                <a:solidFill>
                  <a:srgbClr val="151617"/>
                </a:solidFill>
                <a:latin typeface="Montserrat Black" pitchFamily="34" charset="0"/>
                <a:ea typeface="Montserrat Black" pitchFamily="34" charset="-122"/>
                <a:cs typeface="Montserrat Black" pitchFamily="34" charset="-120"/>
              </a:rPr>
              <a:t>Developer Frustration at Breaking Point</a:t>
            </a:r>
            <a:endParaRPr lang="en-US" sz="2050" dirty="0"/>
          </a:p>
        </p:txBody>
      </p:sp>
      <p:sp>
        <p:nvSpPr>
          <p:cNvPr id="31" name="Text 29"/>
          <p:cNvSpPr/>
          <p:nvPr/>
        </p:nvSpPr>
        <p:spPr>
          <a:xfrm>
            <a:off x="7539037" y="6443067"/>
            <a:ext cx="6335554" cy="283607"/>
          </a:xfrm>
          <a:prstGeom prst="rect">
            <a:avLst/>
          </a:prstGeom>
          <a:noFill/>
          <a:ln/>
        </p:spPr>
        <p:txBody>
          <a:bodyPr wrap="none" lIns="0" tIns="0" rIns="0" bIns="0" rtlCol="0" anchor="t"/>
          <a:lstStyle/>
          <a:p>
            <a:pPr algn="l" marL="342900" indent="-342900">
              <a:lnSpc>
                <a:spcPts val="2200"/>
              </a:lnSpc>
              <a:buSzPct val="100000"/>
              <a:buChar char="•"/>
            </a:pPr>
            <a:r>
              <a:rPr lang="en-US" sz="1350" b="1" dirty="0">
                <a:solidFill>
                  <a:srgbClr val="151617"/>
                </a:solidFill>
                <a:latin typeface="Inconsolata" pitchFamily="34" charset="0"/>
                <a:ea typeface="Inconsolata" pitchFamily="34" charset="-122"/>
                <a:cs typeface="Inconsolata" pitchFamily="34" charset="-120"/>
              </a:rPr>
              <a:t>Thousands of frustrated Custom GPT creators</a:t>
            </a:r>
            <a:pPr algn="l" indent="0" marL="0">
              <a:lnSpc>
                <a:spcPts val="2200"/>
              </a:lnSpc>
              <a:buNone/>
            </a:pPr>
            <a:r>
              <a:rPr lang="en-US" sz="1350" dirty="0">
                <a:solidFill>
                  <a:srgbClr val="151617"/>
                </a:solidFill>
                <a:latin typeface="Inconsolata" pitchFamily="34" charset="0"/>
                <a:ea typeface="Inconsolata" pitchFamily="34" charset="-122"/>
                <a:cs typeface="Inconsolata" pitchFamily="34" charset="-120"/>
              </a:rPr>
              <a:t> earning nothing</a:t>
            </a:r>
            <a:endParaRPr lang="en-US" sz="1350" dirty="0"/>
          </a:p>
        </p:txBody>
      </p:sp>
      <p:sp>
        <p:nvSpPr>
          <p:cNvPr id="32" name="Text 30"/>
          <p:cNvSpPr/>
          <p:nvPr/>
        </p:nvSpPr>
        <p:spPr>
          <a:xfrm>
            <a:off x="7539037" y="6788706"/>
            <a:ext cx="6335554" cy="283607"/>
          </a:xfrm>
          <a:prstGeom prst="rect">
            <a:avLst/>
          </a:prstGeom>
          <a:noFill/>
          <a:ln/>
        </p:spPr>
        <p:txBody>
          <a:bodyPr wrap="none" lIns="0" tIns="0" rIns="0" bIns="0" rtlCol="0" anchor="t"/>
          <a:lstStyle/>
          <a:p>
            <a:pPr algn="l" marL="342900" indent="-342900">
              <a:lnSpc>
                <a:spcPts val="2200"/>
              </a:lnSpc>
              <a:buSzPct val="100000"/>
              <a:buChar char="•"/>
            </a:pPr>
            <a:r>
              <a:rPr lang="en-US" sz="1350" b="1" dirty="0">
                <a:solidFill>
                  <a:srgbClr val="151617"/>
                </a:solidFill>
                <a:latin typeface="Inconsolata" pitchFamily="34" charset="0"/>
                <a:ea typeface="Inconsolata" pitchFamily="34" charset="-122"/>
                <a:cs typeface="Inconsolata" pitchFamily="34" charset="-120"/>
              </a:rPr>
              <a:t>Proven AI building skills</a:t>
            </a:r>
            <a:pPr algn="l" indent="0" marL="0">
              <a:lnSpc>
                <a:spcPts val="2200"/>
              </a:lnSpc>
              <a:buNone/>
            </a:pPr>
            <a:r>
              <a:rPr lang="en-US" sz="1350" dirty="0">
                <a:solidFill>
                  <a:srgbClr val="151617"/>
                </a:solidFill>
                <a:latin typeface="Inconsolata" pitchFamily="34" charset="0"/>
                <a:ea typeface="Inconsolata" pitchFamily="34" charset="-122"/>
                <a:cs typeface="Inconsolata" pitchFamily="34" charset="-120"/>
              </a:rPr>
              <a:t> but zero monetization options</a:t>
            </a:r>
            <a:endParaRPr lang="en-US" sz="1350" dirty="0"/>
          </a:p>
        </p:txBody>
      </p:sp>
      <p:sp>
        <p:nvSpPr>
          <p:cNvPr id="33" name="Text 31"/>
          <p:cNvSpPr/>
          <p:nvPr/>
        </p:nvSpPr>
        <p:spPr>
          <a:xfrm>
            <a:off x="7539037" y="7134344"/>
            <a:ext cx="6335554" cy="283607"/>
          </a:xfrm>
          <a:prstGeom prst="rect">
            <a:avLst/>
          </a:prstGeom>
          <a:noFill/>
          <a:ln/>
        </p:spPr>
        <p:txBody>
          <a:bodyPr wrap="none" lIns="0" tIns="0" rIns="0" bIns="0" rtlCol="0" anchor="t"/>
          <a:lstStyle/>
          <a:p>
            <a:pPr algn="l" marL="342900" indent="-342900">
              <a:lnSpc>
                <a:spcPts val="2200"/>
              </a:lnSpc>
              <a:buSzPct val="100000"/>
              <a:buChar char="•"/>
            </a:pPr>
            <a:r>
              <a:rPr lang="en-US" sz="1350" b="1" dirty="0">
                <a:solidFill>
                  <a:srgbClr val="151617"/>
                </a:solidFill>
                <a:latin typeface="Inconsolata" pitchFamily="34" charset="0"/>
                <a:ea typeface="Inconsolata" pitchFamily="34" charset="-122"/>
                <a:cs typeface="Inconsolata" pitchFamily="34" charset="-120"/>
              </a:rPr>
              <a:t>Ready to migrate</a:t>
            </a:r>
            <a:pPr algn="l" indent="0" marL="0">
              <a:lnSpc>
                <a:spcPts val="2200"/>
              </a:lnSpc>
              <a:buNone/>
            </a:pPr>
            <a:r>
              <a:rPr lang="en-US" sz="1350" dirty="0">
                <a:solidFill>
                  <a:srgbClr val="151617"/>
                </a:solidFill>
                <a:latin typeface="Inconsolata" pitchFamily="34" charset="0"/>
                <a:ea typeface="Inconsolata" pitchFamily="34" charset="-122"/>
                <a:cs typeface="Inconsolata" pitchFamily="34" charset="-120"/>
              </a:rPr>
              <a:t> to platforms offering real revenue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9735" y="726519"/>
            <a:ext cx="8892183" cy="536615"/>
          </a:xfrm>
          <a:prstGeom prst="rect">
            <a:avLst/>
          </a:prstGeom>
          <a:noFill/>
          <a:ln/>
        </p:spPr>
        <p:txBody>
          <a:bodyPr wrap="none" lIns="0" tIns="0" rIns="0" bIns="0" rtlCol="0" anchor="t"/>
          <a:lstStyle/>
          <a:p>
            <a:pPr algn="l" indent="0" marL="0">
              <a:lnSpc>
                <a:spcPts val="4200"/>
              </a:lnSpc>
              <a:buNone/>
            </a:pPr>
            <a:r>
              <a:rPr lang="en-US" sz="3350" b="1" dirty="0">
                <a:solidFill>
                  <a:srgbClr val="151617"/>
                </a:solidFill>
                <a:latin typeface="Montserrat Black" pitchFamily="34" charset="0"/>
                <a:ea typeface="Montserrat Black" pitchFamily="34" charset="-122"/>
                <a:cs typeface="Montserrat Black" pitchFamily="34" charset="-120"/>
              </a:rPr>
              <a:t>Nexus: Complete Mobile AI Ecosystem</a:t>
            </a:r>
            <a:endParaRPr lang="en-US" sz="3350" dirty="0"/>
          </a:p>
        </p:txBody>
      </p:sp>
      <p:sp>
        <p:nvSpPr>
          <p:cNvPr id="3" name="Shape 1"/>
          <p:cNvSpPr/>
          <p:nvPr/>
        </p:nvSpPr>
        <p:spPr>
          <a:xfrm>
            <a:off x="739735" y="1520666"/>
            <a:ext cx="4269105" cy="1966079"/>
          </a:xfrm>
          <a:prstGeom prst="roundRect">
            <a:avLst>
              <a:gd name="adj" fmla="val 465"/>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4" name="Shape 2"/>
          <p:cNvSpPr/>
          <p:nvPr/>
        </p:nvSpPr>
        <p:spPr>
          <a:xfrm>
            <a:off x="919043" y="1699974"/>
            <a:ext cx="515183" cy="515183"/>
          </a:xfrm>
          <a:prstGeom prst="roundRect">
            <a:avLst>
              <a:gd name="adj" fmla="val 17747258"/>
            </a:avLst>
          </a:prstGeom>
          <a:solidFill>
            <a:srgbClr val="151617"/>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0728" y="1841540"/>
            <a:ext cx="231815" cy="231815"/>
          </a:xfrm>
          <a:prstGeom prst="rect">
            <a:avLst/>
          </a:prstGeom>
        </p:spPr>
      </p:pic>
      <p:sp>
        <p:nvSpPr>
          <p:cNvPr id="6" name="Text 3"/>
          <p:cNvSpPr/>
          <p:nvPr/>
        </p:nvSpPr>
        <p:spPr>
          <a:xfrm>
            <a:off x="919043" y="2386846"/>
            <a:ext cx="2146578" cy="268248"/>
          </a:xfrm>
          <a:prstGeom prst="rect">
            <a:avLst/>
          </a:prstGeom>
          <a:noFill/>
          <a:ln/>
        </p:spPr>
        <p:txBody>
          <a:bodyPr wrap="none" lIns="0" tIns="0" rIns="0" bIns="0" rtlCol="0" anchor="t"/>
          <a:lstStyle/>
          <a:p>
            <a:pPr algn="l" indent="0" marL="0">
              <a:lnSpc>
                <a:spcPts val="2100"/>
              </a:lnSpc>
              <a:buNone/>
            </a:pPr>
            <a:r>
              <a:rPr lang="en-US" sz="1650" b="1" dirty="0">
                <a:solidFill>
                  <a:srgbClr val="151617"/>
                </a:solidFill>
                <a:latin typeface="Montserrat Black" pitchFamily="34" charset="0"/>
                <a:ea typeface="Montserrat Black" pitchFamily="34" charset="-122"/>
                <a:cs typeface="Montserrat Black" pitchFamily="34" charset="-120"/>
              </a:rPr>
              <a:t>True Marketplace</a:t>
            </a:r>
            <a:endParaRPr lang="en-US" sz="1650" dirty="0"/>
          </a:p>
        </p:txBody>
      </p:sp>
      <p:sp>
        <p:nvSpPr>
          <p:cNvPr id="7" name="Text 4"/>
          <p:cNvSpPr/>
          <p:nvPr/>
        </p:nvSpPr>
        <p:spPr>
          <a:xfrm>
            <a:off x="919043" y="2758083"/>
            <a:ext cx="3910489" cy="549354"/>
          </a:xfrm>
          <a:prstGeom prst="rect">
            <a:avLst/>
          </a:prstGeom>
          <a:noFill/>
          <a:ln/>
        </p:spPr>
        <p:txBody>
          <a:bodyPr wrap="square" lIns="0" tIns="0" rIns="0" bIns="0" rtlCol="0" anchor="t"/>
          <a:lstStyle/>
          <a:p>
            <a:pPr algn="l" indent="0" marL="0">
              <a:lnSpc>
                <a:spcPts val="2150"/>
              </a:lnSpc>
              <a:buNone/>
            </a:pPr>
            <a:r>
              <a:rPr lang="en-US" sz="1350" dirty="0">
                <a:solidFill>
                  <a:srgbClr val="151617"/>
                </a:solidFill>
                <a:latin typeface="Inconsolata" pitchFamily="34" charset="0"/>
                <a:ea typeface="Inconsolata" pitchFamily="34" charset="-122"/>
                <a:cs typeface="Inconsolata" pitchFamily="34" charset="-120"/>
              </a:rPr>
              <a:t>Curated AI tools with ratings, reviews, and easy discovery</a:t>
            </a:r>
            <a:endParaRPr lang="en-US" sz="1350" dirty="0"/>
          </a:p>
        </p:txBody>
      </p:sp>
      <p:sp>
        <p:nvSpPr>
          <p:cNvPr id="8" name="Shape 5"/>
          <p:cNvSpPr/>
          <p:nvPr/>
        </p:nvSpPr>
        <p:spPr>
          <a:xfrm>
            <a:off x="5180528" y="1520666"/>
            <a:ext cx="4269224" cy="1966079"/>
          </a:xfrm>
          <a:prstGeom prst="roundRect">
            <a:avLst>
              <a:gd name="adj" fmla="val 465"/>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9" name="Shape 6"/>
          <p:cNvSpPr/>
          <p:nvPr/>
        </p:nvSpPr>
        <p:spPr>
          <a:xfrm>
            <a:off x="5359837" y="1699974"/>
            <a:ext cx="515183" cy="515183"/>
          </a:xfrm>
          <a:prstGeom prst="roundRect">
            <a:avLst>
              <a:gd name="adj" fmla="val 17747258"/>
            </a:avLst>
          </a:prstGeom>
          <a:solidFill>
            <a:srgbClr val="151617"/>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01521" y="1841540"/>
            <a:ext cx="231815" cy="231815"/>
          </a:xfrm>
          <a:prstGeom prst="rect">
            <a:avLst/>
          </a:prstGeom>
        </p:spPr>
      </p:pic>
      <p:sp>
        <p:nvSpPr>
          <p:cNvPr id="11" name="Text 7"/>
          <p:cNvSpPr/>
          <p:nvPr/>
        </p:nvSpPr>
        <p:spPr>
          <a:xfrm>
            <a:off x="5359837" y="2386846"/>
            <a:ext cx="2359938" cy="268248"/>
          </a:xfrm>
          <a:prstGeom prst="rect">
            <a:avLst/>
          </a:prstGeom>
          <a:noFill/>
          <a:ln/>
        </p:spPr>
        <p:txBody>
          <a:bodyPr wrap="none" lIns="0" tIns="0" rIns="0" bIns="0" rtlCol="0" anchor="t"/>
          <a:lstStyle/>
          <a:p>
            <a:pPr algn="l" indent="0" marL="0">
              <a:lnSpc>
                <a:spcPts val="2100"/>
              </a:lnSpc>
              <a:buNone/>
            </a:pPr>
            <a:r>
              <a:rPr lang="en-US" sz="1650" b="1" dirty="0">
                <a:solidFill>
                  <a:srgbClr val="151617"/>
                </a:solidFill>
                <a:latin typeface="Montserrat Black" pitchFamily="34" charset="0"/>
                <a:ea typeface="Montserrat Black" pitchFamily="34" charset="-122"/>
                <a:cs typeface="Montserrat Black" pitchFamily="34" charset="-120"/>
              </a:rPr>
              <a:t>One-Tap Installation</a:t>
            </a:r>
            <a:endParaRPr lang="en-US" sz="1650" dirty="0"/>
          </a:p>
        </p:txBody>
      </p:sp>
      <p:sp>
        <p:nvSpPr>
          <p:cNvPr id="12" name="Text 8"/>
          <p:cNvSpPr/>
          <p:nvPr/>
        </p:nvSpPr>
        <p:spPr>
          <a:xfrm>
            <a:off x="5359837" y="2758083"/>
            <a:ext cx="3910608" cy="549354"/>
          </a:xfrm>
          <a:prstGeom prst="rect">
            <a:avLst/>
          </a:prstGeom>
          <a:noFill/>
          <a:ln/>
        </p:spPr>
        <p:txBody>
          <a:bodyPr wrap="square" lIns="0" tIns="0" rIns="0" bIns="0" rtlCol="0" anchor="t"/>
          <a:lstStyle/>
          <a:p>
            <a:pPr algn="l" indent="0" marL="0">
              <a:lnSpc>
                <a:spcPts val="2150"/>
              </a:lnSpc>
              <a:buNone/>
            </a:pPr>
            <a:r>
              <a:rPr lang="en-US" sz="1350" dirty="0">
                <a:solidFill>
                  <a:srgbClr val="151617"/>
                </a:solidFill>
                <a:latin typeface="Inconsolata" pitchFamily="34" charset="0"/>
                <a:ea typeface="Inconsolata" pitchFamily="34" charset="-122"/>
                <a:cs typeface="Inconsolata" pitchFamily="34" charset="-120"/>
              </a:rPr>
              <a:t>No JSON configs, terminal commands, or technical setup</a:t>
            </a:r>
            <a:endParaRPr lang="en-US" sz="1350" dirty="0"/>
          </a:p>
        </p:txBody>
      </p:sp>
      <p:sp>
        <p:nvSpPr>
          <p:cNvPr id="13" name="Shape 9"/>
          <p:cNvSpPr/>
          <p:nvPr/>
        </p:nvSpPr>
        <p:spPr>
          <a:xfrm>
            <a:off x="9621441" y="1520666"/>
            <a:ext cx="4269105" cy="1966079"/>
          </a:xfrm>
          <a:prstGeom prst="roundRect">
            <a:avLst>
              <a:gd name="adj" fmla="val 465"/>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14" name="Shape 10"/>
          <p:cNvSpPr/>
          <p:nvPr/>
        </p:nvSpPr>
        <p:spPr>
          <a:xfrm>
            <a:off x="9800749" y="1699974"/>
            <a:ext cx="515183" cy="515183"/>
          </a:xfrm>
          <a:prstGeom prst="roundRect">
            <a:avLst>
              <a:gd name="adj" fmla="val 17747258"/>
            </a:avLst>
          </a:prstGeom>
          <a:solidFill>
            <a:srgbClr val="151617"/>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42433" y="1841540"/>
            <a:ext cx="231815" cy="231815"/>
          </a:xfrm>
          <a:prstGeom prst="rect">
            <a:avLst/>
          </a:prstGeom>
        </p:spPr>
      </p:pic>
      <p:sp>
        <p:nvSpPr>
          <p:cNvPr id="16" name="Text 11"/>
          <p:cNvSpPr/>
          <p:nvPr/>
        </p:nvSpPr>
        <p:spPr>
          <a:xfrm>
            <a:off x="9800749" y="2386846"/>
            <a:ext cx="3050738" cy="268248"/>
          </a:xfrm>
          <a:prstGeom prst="rect">
            <a:avLst/>
          </a:prstGeom>
          <a:noFill/>
          <a:ln/>
        </p:spPr>
        <p:txBody>
          <a:bodyPr wrap="none" lIns="0" tIns="0" rIns="0" bIns="0" rtlCol="0" anchor="t"/>
          <a:lstStyle/>
          <a:p>
            <a:pPr algn="l" indent="0" marL="0">
              <a:lnSpc>
                <a:spcPts val="2100"/>
              </a:lnSpc>
              <a:buNone/>
            </a:pPr>
            <a:r>
              <a:rPr lang="en-US" sz="1650" b="1" dirty="0">
                <a:solidFill>
                  <a:srgbClr val="151617"/>
                </a:solidFill>
                <a:latin typeface="Montserrat Black" pitchFamily="34" charset="0"/>
                <a:ea typeface="Montserrat Black" pitchFamily="34" charset="-122"/>
                <a:cs typeface="Montserrat Black" pitchFamily="34" charset="-120"/>
              </a:rPr>
              <a:t>Enterprise-Ready Security</a:t>
            </a:r>
            <a:endParaRPr lang="en-US" sz="1650" dirty="0"/>
          </a:p>
        </p:txBody>
      </p:sp>
      <p:sp>
        <p:nvSpPr>
          <p:cNvPr id="17" name="Text 12"/>
          <p:cNvSpPr/>
          <p:nvPr/>
        </p:nvSpPr>
        <p:spPr>
          <a:xfrm>
            <a:off x="9800749" y="2758083"/>
            <a:ext cx="3910489" cy="274677"/>
          </a:xfrm>
          <a:prstGeom prst="rect">
            <a:avLst/>
          </a:prstGeom>
          <a:noFill/>
          <a:ln/>
        </p:spPr>
        <p:txBody>
          <a:bodyPr wrap="none" lIns="0" tIns="0" rIns="0" bIns="0" rtlCol="0" anchor="t"/>
          <a:lstStyle/>
          <a:p>
            <a:pPr algn="l" indent="0" marL="0">
              <a:lnSpc>
                <a:spcPts val="2150"/>
              </a:lnSpc>
              <a:buNone/>
            </a:pPr>
            <a:r>
              <a:rPr lang="en-US" sz="1350" dirty="0">
                <a:solidFill>
                  <a:srgbClr val="151617"/>
                </a:solidFill>
                <a:latin typeface="Inconsolata" pitchFamily="34" charset="0"/>
                <a:ea typeface="Inconsolata" pitchFamily="34" charset="-122"/>
                <a:cs typeface="Inconsolata" pitchFamily="34" charset="-120"/>
              </a:rPr>
              <a:t>OAuth, Secure token handling built-in</a:t>
            </a:r>
            <a:endParaRPr lang="en-US" sz="1350" dirty="0"/>
          </a:p>
        </p:txBody>
      </p:sp>
      <p:sp>
        <p:nvSpPr>
          <p:cNvPr id="18" name="Shape 13"/>
          <p:cNvSpPr/>
          <p:nvPr/>
        </p:nvSpPr>
        <p:spPr>
          <a:xfrm>
            <a:off x="739735" y="3658433"/>
            <a:ext cx="13150810" cy="1691402"/>
          </a:xfrm>
          <a:prstGeom prst="roundRect">
            <a:avLst>
              <a:gd name="adj" fmla="val 541"/>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19" name="Shape 14"/>
          <p:cNvSpPr/>
          <p:nvPr/>
        </p:nvSpPr>
        <p:spPr>
          <a:xfrm>
            <a:off x="919043" y="3837742"/>
            <a:ext cx="515183" cy="515183"/>
          </a:xfrm>
          <a:prstGeom prst="roundRect">
            <a:avLst>
              <a:gd name="adj" fmla="val 17747258"/>
            </a:avLst>
          </a:prstGeom>
          <a:solidFill>
            <a:srgbClr val="151617"/>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0728" y="3979307"/>
            <a:ext cx="231815" cy="231815"/>
          </a:xfrm>
          <a:prstGeom prst="rect">
            <a:avLst/>
          </a:prstGeom>
        </p:spPr>
      </p:pic>
      <p:sp>
        <p:nvSpPr>
          <p:cNvPr id="21" name="Text 15"/>
          <p:cNvSpPr/>
          <p:nvPr/>
        </p:nvSpPr>
        <p:spPr>
          <a:xfrm>
            <a:off x="919043" y="4524613"/>
            <a:ext cx="2575560" cy="268248"/>
          </a:xfrm>
          <a:prstGeom prst="rect">
            <a:avLst/>
          </a:prstGeom>
          <a:noFill/>
          <a:ln/>
        </p:spPr>
        <p:txBody>
          <a:bodyPr wrap="none" lIns="0" tIns="0" rIns="0" bIns="0" rtlCol="0" anchor="t"/>
          <a:lstStyle/>
          <a:p>
            <a:pPr algn="l" indent="0" marL="0">
              <a:lnSpc>
                <a:spcPts val="2100"/>
              </a:lnSpc>
              <a:buNone/>
            </a:pPr>
            <a:r>
              <a:rPr lang="en-US" sz="1650" b="1" dirty="0">
                <a:solidFill>
                  <a:srgbClr val="151617"/>
                </a:solidFill>
                <a:latin typeface="Montserrat Black" pitchFamily="34" charset="0"/>
                <a:ea typeface="Montserrat Black" pitchFamily="34" charset="-122"/>
                <a:cs typeface="Montserrat Black" pitchFamily="34" charset="-120"/>
              </a:rPr>
              <a:t>Unified Chat Interface</a:t>
            </a:r>
            <a:endParaRPr lang="en-US" sz="1650" dirty="0"/>
          </a:p>
        </p:txBody>
      </p:sp>
      <p:sp>
        <p:nvSpPr>
          <p:cNvPr id="22" name="Text 16"/>
          <p:cNvSpPr/>
          <p:nvPr/>
        </p:nvSpPr>
        <p:spPr>
          <a:xfrm>
            <a:off x="919043" y="4895850"/>
            <a:ext cx="12792194" cy="274677"/>
          </a:xfrm>
          <a:prstGeom prst="rect">
            <a:avLst/>
          </a:prstGeom>
          <a:noFill/>
          <a:ln/>
        </p:spPr>
        <p:txBody>
          <a:bodyPr wrap="none" lIns="0" tIns="0" rIns="0" bIns="0" rtlCol="0" anchor="t"/>
          <a:lstStyle/>
          <a:p>
            <a:pPr algn="l" indent="0" marL="0">
              <a:lnSpc>
                <a:spcPts val="2150"/>
              </a:lnSpc>
              <a:buNone/>
            </a:pPr>
            <a:r>
              <a:rPr lang="en-US" sz="1350" dirty="0">
                <a:solidFill>
                  <a:srgbClr val="151617"/>
                </a:solidFill>
                <a:latin typeface="Inconsolata" pitchFamily="34" charset="0"/>
                <a:ea typeface="Inconsolata" pitchFamily="34" charset="-122"/>
                <a:cs typeface="Inconsolata" pitchFamily="34" charset="-120"/>
              </a:rPr>
              <a:t>Use any installed AI tool from single mobile conversation</a:t>
            </a:r>
            <a:endParaRPr lang="en-US" sz="1350" dirty="0"/>
          </a:p>
        </p:txBody>
      </p:sp>
      <p:sp>
        <p:nvSpPr>
          <p:cNvPr id="23" name="Shape 17"/>
          <p:cNvSpPr/>
          <p:nvPr/>
        </p:nvSpPr>
        <p:spPr>
          <a:xfrm>
            <a:off x="739735" y="5542955"/>
            <a:ext cx="6489621" cy="1966079"/>
          </a:xfrm>
          <a:prstGeom prst="roundRect">
            <a:avLst>
              <a:gd name="adj" fmla="val 465"/>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24" name="Shape 18"/>
          <p:cNvSpPr/>
          <p:nvPr/>
        </p:nvSpPr>
        <p:spPr>
          <a:xfrm>
            <a:off x="919043" y="5722263"/>
            <a:ext cx="515183" cy="515183"/>
          </a:xfrm>
          <a:prstGeom prst="roundRect">
            <a:avLst>
              <a:gd name="adj" fmla="val 17747258"/>
            </a:avLst>
          </a:prstGeom>
          <a:solidFill>
            <a:srgbClr val="151617"/>
          </a:solidFill>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0728" y="5863828"/>
            <a:ext cx="231815" cy="231815"/>
          </a:xfrm>
          <a:prstGeom prst="rect">
            <a:avLst/>
          </a:prstGeom>
        </p:spPr>
      </p:pic>
      <p:sp>
        <p:nvSpPr>
          <p:cNvPr id="26" name="Text 19"/>
          <p:cNvSpPr/>
          <p:nvPr/>
        </p:nvSpPr>
        <p:spPr>
          <a:xfrm>
            <a:off x="919043" y="6409134"/>
            <a:ext cx="2724864" cy="268248"/>
          </a:xfrm>
          <a:prstGeom prst="rect">
            <a:avLst/>
          </a:prstGeom>
          <a:noFill/>
          <a:ln/>
        </p:spPr>
        <p:txBody>
          <a:bodyPr wrap="none" lIns="0" tIns="0" rIns="0" bIns="0" rtlCol="0" anchor="t"/>
          <a:lstStyle/>
          <a:p>
            <a:pPr algn="l" indent="0" marL="0">
              <a:lnSpc>
                <a:spcPts val="2100"/>
              </a:lnSpc>
              <a:buNone/>
            </a:pPr>
            <a:r>
              <a:rPr lang="en-US" sz="1650" b="1" dirty="0">
                <a:solidFill>
                  <a:srgbClr val="151617"/>
                </a:solidFill>
                <a:latin typeface="Montserrat Black" pitchFamily="34" charset="0"/>
                <a:ea typeface="Montserrat Black" pitchFamily="34" charset="-122"/>
                <a:cs typeface="Montserrat Black" pitchFamily="34" charset="-120"/>
              </a:rPr>
              <a:t>Monetization (Planned)</a:t>
            </a:r>
            <a:endParaRPr lang="en-US" sz="1650" dirty="0"/>
          </a:p>
        </p:txBody>
      </p:sp>
      <p:sp>
        <p:nvSpPr>
          <p:cNvPr id="27" name="Text 20"/>
          <p:cNvSpPr/>
          <p:nvPr/>
        </p:nvSpPr>
        <p:spPr>
          <a:xfrm>
            <a:off x="919043" y="6780371"/>
            <a:ext cx="6131004" cy="274677"/>
          </a:xfrm>
          <a:prstGeom prst="rect">
            <a:avLst/>
          </a:prstGeom>
          <a:noFill/>
          <a:ln/>
        </p:spPr>
        <p:txBody>
          <a:bodyPr wrap="none" lIns="0" tIns="0" rIns="0" bIns="0" rtlCol="0" anchor="t"/>
          <a:lstStyle/>
          <a:p>
            <a:pPr algn="l" indent="0" marL="0">
              <a:lnSpc>
                <a:spcPts val="2150"/>
              </a:lnSpc>
              <a:buNone/>
            </a:pPr>
            <a:r>
              <a:rPr lang="en-US" sz="1350" dirty="0">
                <a:solidFill>
                  <a:srgbClr val="151617"/>
                </a:solidFill>
                <a:latin typeface="Inconsolata" pitchFamily="34" charset="0"/>
                <a:ea typeface="Inconsolata" pitchFamily="34" charset="-122"/>
                <a:cs typeface="Inconsolata" pitchFamily="34" charset="-120"/>
              </a:rPr>
              <a:t>Developers earn immediately with automatic payouts</a:t>
            </a:r>
            <a:endParaRPr lang="en-US" sz="1350" dirty="0"/>
          </a:p>
        </p:txBody>
      </p:sp>
      <p:sp>
        <p:nvSpPr>
          <p:cNvPr id="28" name="Shape 21"/>
          <p:cNvSpPr/>
          <p:nvPr/>
        </p:nvSpPr>
        <p:spPr>
          <a:xfrm>
            <a:off x="7401044" y="5542955"/>
            <a:ext cx="6489621" cy="1966079"/>
          </a:xfrm>
          <a:prstGeom prst="roundRect">
            <a:avLst>
              <a:gd name="adj" fmla="val 465"/>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29" name="Shape 22"/>
          <p:cNvSpPr/>
          <p:nvPr/>
        </p:nvSpPr>
        <p:spPr>
          <a:xfrm>
            <a:off x="7580352" y="5722263"/>
            <a:ext cx="515183" cy="515183"/>
          </a:xfrm>
          <a:prstGeom prst="roundRect">
            <a:avLst>
              <a:gd name="adj" fmla="val 17747258"/>
            </a:avLst>
          </a:prstGeom>
          <a:solidFill>
            <a:srgbClr val="151617"/>
          </a:solidFill>
          <a:ln/>
        </p:spPr>
      </p:sp>
      <p:pic>
        <p:nvPicPr>
          <p:cNvPr id="3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22037" y="5863828"/>
            <a:ext cx="231815" cy="231815"/>
          </a:xfrm>
          <a:prstGeom prst="rect">
            <a:avLst/>
          </a:prstGeom>
        </p:spPr>
      </p:pic>
      <p:sp>
        <p:nvSpPr>
          <p:cNvPr id="31" name="Text 23"/>
          <p:cNvSpPr/>
          <p:nvPr/>
        </p:nvSpPr>
        <p:spPr>
          <a:xfrm>
            <a:off x="7580352" y="6409134"/>
            <a:ext cx="2574727" cy="268248"/>
          </a:xfrm>
          <a:prstGeom prst="rect">
            <a:avLst/>
          </a:prstGeom>
          <a:noFill/>
          <a:ln/>
        </p:spPr>
        <p:txBody>
          <a:bodyPr wrap="none" lIns="0" tIns="0" rIns="0" bIns="0" rtlCol="0" anchor="t"/>
          <a:lstStyle/>
          <a:p>
            <a:pPr algn="l" indent="0" marL="0">
              <a:lnSpc>
                <a:spcPts val="2100"/>
              </a:lnSpc>
              <a:buNone/>
            </a:pPr>
            <a:r>
              <a:rPr lang="en-US" sz="1650" b="1" dirty="0">
                <a:solidFill>
                  <a:srgbClr val="151617"/>
                </a:solidFill>
                <a:latin typeface="Montserrat Black" pitchFamily="34" charset="0"/>
                <a:ea typeface="Montserrat Black" pitchFamily="34" charset="-122"/>
                <a:cs typeface="Montserrat Black" pitchFamily="34" charset="-120"/>
              </a:rPr>
              <a:t>Onboarding (Planned)</a:t>
            </a:r>
            <a:endParaRPr lang="en-US" sz="1650" dirty="0"/>
          </a:p>
        </p:txBody>
      </p:sp>
      <p:sp>
        <p:nvSpPr>
          <p:cNvPr id="32" name="Text 24"/>
          <p:cNvSpPr/>
          <p:nvPr/>
        </p:nvSpPr>
        <p:spPr>
          <a:xfrm>
            <a:off x="7580352" y="6780371"/>
            <a:ext cx="6131004" cy="549354"/>
          </a:xfrm>
          <a:prstGeom prst="rect">
            <a:avLst/>
          </a:prstGeom>
          <a:noFill/>
          <a:ln/>
        </p:spPr>
        <p:txBody>
          <a:bodyPr wrap="square" lIns="0" tIns="0" rIns="0" bIns="0" rtlCol="0" anchor="t"/>
          <a:lstStyle/>
          <a:p>
            <a:pPr algn="l" indent="0" marL="0">
              <a:lnSpc>
                <a:spcPts val="2150"/>
              </a:lnSpc>
              <a:buNone/>
            </a:pPr>
            <a:r>
              <a:rPr lang="en-US" sz="1350" dirty="0">
                <a:solidFill>
                  <a:srgbClr val="151617"/>
                </a:solidFill>
                <a:latin typeface="Inconsolata" pitchFamily="34" charset="0"/>
                <a:ea typeface="Inconsolata" pitchFamily="34" charset="-122"/>
                <a:cs typeface="Inconsolata" pitchFamily="34" charset="-120"/>
              </a:rPr>
              <a:t>Built-in capabilities (memory, reminders, calendar) so users see value instantly</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1637" y="699968"/>
            <a:ext cx="9513451" cy="516255"/>
          </a:xfrm>
          <a:prstGeom prst="rect">
            <a:avLst/>
          </a:prstGeom>
          <a:noFill/>
          <a:ln/>
        </p:spPr>
        <p:txBody>
          <a:bodyPr wrap="none" lIns="0" tIns="0" rIns="0" bIns="0" rtlCol="0" anchor="t"/>
          <a:lstStyle/>
          <a:p>
            <a:pPr algn="l" indent="0" marL="0">
              <a:lnSpc>
                <a:spcPts val="4050"/>
              </a:lnSpc>
              <a:buNone/>
            </a:pPr>
            <a:r>
              <a:rPr lang="en-US" sz="3250" b="1" dirty="0">
                <a:solidFill>
                  <a:srgbClr val="151617"/>
                </a:solidFill>
                <a:latin typeface="Montserrat Black" pitchFamily="34" charset="0"/>
                <a:ea typeface="Montserrat Black" pitchFamily="34" charset="-122"/>
                <a:cs typeface="Montserrat Black" pitchFamily="34" charset="-120"/>
              </a:rPr>
              <a:t>Live Demo: What Competitors Are Missing</a:t>
            </a:r>
            <a:endParaRPr lang="en-US" sz="3250" dirty="0"/>
          </a:p>
        </p:txBody>
      </p:sp>
      <p:sp>
        <p:nvSpPr>
          <p:cNvPr id="3" name="Text 1"/>
          <p:cNvSpPr/>
          <p:nvPr/>
        </p:nvSpPr>
        <p:spPr>
          <a:xfrm>
            <a:off x="711637" y="1629132"/>
            <a:ext cx="4856083" cy="309682"/>
          </a:xfrm>
          <a:prstGeom prst="rect">
            <a:avLst/>
          </a:prstGeom>
          <a:noFill/>
          <a:ln/>
        </p:spPr>
        <p:txBody>
          <a:bodyPr wrap="none" lIns="0" tIns="0" rIns="0" bIns="0" rtlCol="0" anchor="t"/>
          <a:lstStyle/>
          <a:p>
            <a:pPr algn="l" indent="0" marL="0">
              <a:lnSpc>
                <a:spcPts val="2400"/>
              </a:lnSpc>
              <a:buNone/>
            </a:pPr>
            <a:r>
              <a:rPr lang="en-US" sz="1950" b="1" dirty="0">
                <a:solidFill>
                  <a:srgbClr val="910D0D"/>
                </a:solidFill>
                <a:latin typeface="Montserrat Black" pitchFamily="34" charset="0"/>
                <a:ea typeface="Montserrat Black" pitchFamily="34" charset="-122"/>
                <a:cs typeface="Montserrat Black" pitchFamily="34" charset="-120"/>
              </a:rPr>
              <a:t>Part 1: Mobile Commerce Revolution</a:t>
            </a:r>
            <a:endParaRPr lang="en-US" sz="1950" dirty="0"/>
          </a:p>
        </p:txBody>
      </p:sp>
      <p:sp>
        <p:nvSpPr>
          <p:cNvPr id="4" name="Text 2"/>
          <p:cNvSpPr/>
          <p:nvPr/>
        </p:nvSpPr>
        <p:spPr>
          <a:xfrm>
            <a:off x="711637" y="2103953"/>
            <a:ext cx="7082552" cy="264319"/>
          </a:xfrm>
          <a:prstGeom prst="rect">
            <a:avLst/>
          </a:prstGeom>
          <a:noFill/>
          <a:ln/>
        </p:spPr>
        <p:txBody>
          <a:bodyPr wrap="none" lIns="0" tIns="0" rIns="0" bIns="0" rtlCol="0" anchor="t"/>
          <a:lstStyle/>
          <a:p>
            <a:pPr algn="l" indent="0" marL="0">
              <a:lnSpc>
                <a:spcPts val="2050"/>
              </a:lnSpc>
              <a:buNone/>
            </a:pPr>
            <a:r>
              <a:rPr lang="en-US" sz="1300" i="1" dirty="0">
                <a:solidFill>
                  <a:srgbClr val="151617"/>
                </a:solidFill>
                <a:latin typeface="Inconsolata" pitchFamily="34" charset="0"/>
                <a:ea typeface="Inconsolata" pitchFamily="34" charset="-122"/>
                <a:cs typeface="Inconsolata" pitchFamily="34" charset="-120"/>
              </a:rPr>
              <a:t>"While others focus on developer productivity, we've unlocked something bigger..."</a:t>
            </a:r>
            <a:endParaRPr lang="en-US" sz="1300" dirty="0"/>
          </a:p>
        </p:txBody>
      </p:sp>
      <p:sp>
        <p:nvSpPr>
          <p:cNvPr id="5" name="Shape 3"/>
          <p:cNvSpPr/>
          <p:nvPr/>
        </p:nvSpPr>
        <p:spPr>
          <a:xfrm>
            <a:off x="711637" y="2554129"/>
            <a:ext cx="165140" cy="991195"/>
          </a:xfrm>
          <a:prstGeom prst="roundRect">
            <a:avLst>
              <a:gd name="adj" fmla="val 5537"/>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6" name="Text 4"/>
          <p:cNvSpPr/>
          <p:nvPr/>
        </p:nvSpPr>
        <p:spPr>
          <a:xfrm>
            <a:off x="1041916" y="2719268"/>
            <a:ext cx="4765477" cy="258128"/>
          </a:xfrm>
          <a:prstGeom prst="rect">
            <a:avLst/>
          </a:prstGeom>
          <a:noFill/>
          <a:ln/>
        </p:spPr>
        <p:txBody>
          <a:bodyPr wrap="none" lIns="0" tIns="0" rIns="0" bIns="0" rtlCol="0" anchor="t"/>
          <a:lstStyle/>
          <a:p>
            <a:pPr algn="l" indent="0" marL="0">
              <a:lnSpc>
                <a:spcPts val="2000"/>
              </a:lnSpc>
              <a:buNone/>
            </a:pPr>
            <a:r>
              <a:rPr lang="en-US" sz="1600" b="1" dirty="0">
                <a:solidFill>
                  <a:srgbClr val="151617"/>
                </a:solidFill>
                <a:latin typeface="Montserrat Black" pitchFamily="34" charset="0"/>
                <a:ea typeface="Montserrat Black" pitchFamily="34" charset="-122"/>
                <a:cs typeface="Montserrat Black" pitchFamily="34" charset="-120"/>
              </a:rPr>
              <a:t>Open Nexus → "Install Minimalist Skincare"</a:t>
            </a:r>
            <a:endParaRPr lang="en-US" sz="1600" dirty="0"/>
          </a:p>
        </p:txBody>
      </p:sp>
      <p:sp>
        <p:nvSpPr>
          <p:cNvPr id="7" name="Shape 5"/>
          <p:cNvSpPr/>
          <p:nvPr/>
        </p:nvSpPr>
        <p:spPr>
          <a:xfrm>
            <a:off x="959406" y="3710464"/>
            <a:ext cx="165140" cy="991195"/>
          </a:xfrm>
          <a:prstGeom prst="roundRect">
            <a:avLst>
              <a:gd name="adj" fmla="val 5537"/>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8" name="Text 6"/>
          <p:cNvSpPr/>
          <p:nvPr/>
        </p:nvSpPr>
        <p:spPr>
          <a:xfrm>
            <a:off x="1289685" y="3875603"/>
            <a:ext cx="4705112" cy="258128"/>
          </a:xfrm>
          <a:prstGeom prst="rect">
            <a:avLst/>
          </a:prstGeom>
          <a:noFill/>
          <a:ln/>
        </p:spPr>
        <p:txBody>
          <a:bodyPr wrap="none" lIns="0" tIns="0" rIns="0" bIns="0" rtlCol="0" anchor="t"/>
          <a:lstStyle/>
          <a:p>
            <a:pPr algn="l" indent="0" marL="0">
              <a:lnSpc>
                <a:spcPts val="2000"/>
              </a:lnSpc>
              <a:buNone/>
            </a:pPr>
            <a:r>
              <a:rPr lang="en-US" sz="1600" b="1" dirty="0">
                <a:solidFill>
                  <a:srgbClr val="151617"/>
                </a:solidFill>
                <a:latin typeface="Montserrat Black" pitchFamily="34" charset="0"/>
                <a:ea typeface="Montserrat Black" pitchFamily="34" charset="-122"/>
                <a:cs typeface="Montserrat Black" pitchFamily="34" charset="-120"/>
              </a:rPr>
              <a:t>One-tap OAuth → Automatic configuration</a:t>
            </a:r>
            <a:endParaRPr lang="en-US" sz="1600" dirty="0"/>
          </a:p>
        </p:txBody>
      </p:sp>
      <p:sp>
        <p:nvSpPr>
          <p:cNvPr id="9" name="Shape 7"/>
          <p:cNvSpPr/>
          <p:nvPr/>
        </p:nvSpPr>
        <p:spPr>
          <a:xfrm>
            <a:off x="1207175" y="4866799"/>
            <a:ext cx="165140" cy="991195"/>
          </a:xfrm>
          <a:prstGeom prst="roundRect">
            <a:avLst>
              <a:gd name="adj" fmla="val 5537"/>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10" name="Text 8"/>
          <p:cNvSpPr/>
          <p:nvPr/>
        </p:nvSpPr>
        <p:spPr>
          <a:xfrm>
            <a:off x="1537454" y="5031938"/>
            <a:ext cx="5502712" cy="258128"/>
          </a:xfrm>
          <a:prstGeom prst="rect">
            <a:avLst/>
          </a:prstGeom>
          <a:noFill/>
          <a:ln/>
        </p:spPr>
        <p:txBody>
          <a:bodyPr wrap="none" lIns="0" tIns="0" rIns="0" bIns="0" rtlCol="0" anchor="t"/>
          <a:lstStyle/>
          <a:p>
            <a:pPr algn="l" indent="0" marL="0">
              <a:lnSpc>
                <a:spcPts val="2000"/>
              </a:lnSpc>
              <a:buNone/>
            </a:pPr>
            <a:r>
              <a:rPr lang="en-US" sz="1600" b="1" dirty="0">
                <a:solidFill>
                  <a:srgbClr val="151617"/>
                </a:solidFill>
                <a:latin typeface="Montserrat Black" pitchFamily="34" charset="0"/>
                <a:ea typeface="Montserrat Black" pitchFamily="34" charset="-122"/>
                <a:cs typeface="Montserrat Black" pitchFamily="34" charset="-120"/>
              </a:rPr>
              <a:t>In chat: "Show me vitamin C serums under ₹500"</a:t>
            </a:r>
            <a:endParaRPr lang="en-US" sz="1600" dirty="0"/>
          </a:p>
        </p:txBody>
      </p:sp>
      <p:sp>
        <p:nvSpPr>
          <p:cNvPr id="11" name="Shape 9"/>
          <p:cNvSpPr/>
          <p:nvPr/>
        </p:nvSpPr>
        <p:spPr>
          <a:xfrm>
            <a:off x="1455063" y="6023134"/>
            <a:ext cx="165140" cy="991195"/>
          </a:xfrm>
          <a:prstGeom prst="roundRect">
            <a:avLst>
              <a:gd name="adj" fmla="val 5537"/>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12" name="Text 10"/>
          <p:cNvSpPr/>
          <p:nvPr/>
        </p:nvSpPr>
        <p:spPr>
          <a:xfrm>
            <a:off x="1785342" y="6188273"/>
            <a:ext cx="5402699" cy="258128"/>
          </a:xfrm>
          <a:prstGeom prst="rect">
            <a:avLst/>
          </a:prstGeom>
          <a:noFill/>
          <a:ln/>
        </p:spPr>
        <p:txBody>
          <a:bodyPr wrap="none" lIns="0" tIns="0" rIns="0" bIns="0" rtlCol="0" anchor="t"/>
          <a:lstStyle/>
          <a:p>
            <a:pPr algn="l" indent="0" marL="0">
              <a:lnSpc>
                <a:spcPts val="2000"/>
              </a:lnSpc>
              <a:buNone/>
            </a:pPr>
            <a:r>
              <a:rPr lang="en-US" sz="1600" b="1" dirty="0">
                <a:solidFill>
                  <a:srgbClr val="151617"/>
                </a:solidFill>
                <a:latin typeface="Montserrat Black" pitchFamily="34" charset="0"/>
                <a:ea typeface="Montserrat Black" pitchFamily="34" charset="-122"/>
                <a:cs typeface="Montserrat Black" pitchFamily="34" charset="-120"/>
              </a:rPr>
              <a:t>Browse products → "Add the 20ml bottle to cart"</a:t>
            </a:r>
            <a:endParaRPr lang="en-US" sz="1600" dirty="0"/>
          </a:p>
        </p:txBody>
      </p:sp>
      <p:sp>
        <p:nvSpPr>
          <p:cNvPr id="13" name="Text 11"/>
          <p:cNvSpPr/>
          <p:nvPr/>
        </p:nvSpPr>
        <p:spPr>
          <a:xfrm>
            <a:off x="8204716" y="1612583"/>
            <a:ext cx="5721548" cy="264319"/>
          </a:xfrm>
          <a:prstGeom prst="rect">
            <a:avLst/>
          </a:prstGeom>
          <a:noFill/>
          <a:ln/>
        </p:spPr>
        <p:txBody>
          <a:bodyPr wrap="none" lIns="0" tIns="0" rIns="0" bIns="0" rtlCol="0" anchor="t"/>
          <a:lstStyle/>
          <a:p>
            <a:pPr algn="l" indent="0" marL="0">
              <a:lnSpc>
                <a:spcPts val="2050"/>
              </a:lnSpc>
              <a:buNone/>
            </a:pPr>
            <a:endParaRPr lang="en-US" sz="1300" dirty="0"/>
          </a:p>
        </p:txBody>
      </p:sp>
      <p:sp>
        <p:nvSpPr>
          <p:cNvPr id="14" name="Text 12"/>
          <p:cNvSpPr/>
          <p:nvPr/>
        </p:nvSpPr>
        <p:spPr>
          <a:xfrm>
            <a:off x="8204716" y="2025491"/>
            <a:ext cx="5721548" cy="264319"/>
          </a:xfrm>
          <a:prstGeom prst="rect">
            <a:avLst/>
          </a:prstGeom>
          <a:noFill/>
          <a:ln/>
        </p:spPr>
        <p:txBody>
          <a:bodyPr wrap="none" lIns="0" tIns="0" rIns="0" bIns="0" rtlCol="0" anchor="t"/>
          <a:lstStyle/>
          <a:p>
            <a:pPr algn="l" indent="0" marL="0">
              <a:lnSpc>
                <a:spcPts val="2050"/>
              </a:lnSpc>
              <a:buNone/>
            </a:pPr>
            <a:endParaRPr lang="en-US" sz="1300" dirty="0"/>
          </a:p>
        </p:txBody>
      </p:sp>
      <p:sp>
        <p:nvSpPr>
          <p:cNvPr id="15" name="Text 13"/>
          <p:cNvSpPr/>
          <p:nvPr/>
        </p:nvSpPr>
        <p:spPr>
          <a:xfrm>
            <a:off x="8204716" y="2438400"/>
            <a:ext cx="5721548" cy="264319"/>
          </a:xfrm>
          <a:prstGeom prst="rect">
            <a:avLst/>
          </a:prstGeom>
          <a:noFill/>
          <a:ln/>
        </p:spPr>
        <p:txBody>
          <a:bodyPr wrap="none" lIns="0" tIns="0" rIns="0" bIns="0" rtlCol="0" anchor="t"/>
          <a:lstStyle/>
          <a:p>
            <a:pPr algn="l" indent="0" marL="0">
              <a:lnSpc>
                <a:spcPts val="2050"/>
              </a:lnSpc>
              <a:buNone/>
            </a:pPr>
            <a:endParaRPr lang="en-US" sz="1300" dirty="0"/>
          </a:p>
        </p:txBody>
      </p:sp>
      <p:sp>
        <p:nvSpPr>
          <p:cNvPr id="16" name="Text 14"/>
          <p:cNvSpPr/>
          <p:nvPr/>
        </p:nvSpPr>
        <p:spPr>
          <a:xfrm>
            <a:off x="8204716" y="2867858"/>
            <a:ext cx="3083481" cy="309682"/>
          </a:xfrm>
          <a:prstGeom prst="rect">
            <a:avLst/>
          </a:prstGeom>
          <a:noFill/>
          <a:ln/>
        </p:spPr>
        <p:txBody>
          <a:bodyPr wrap="none" lIns="0" tIns="0" rIns="0" bIns="0" rtlCol="0" anchor="t"/>
          <a:lstStyle/>
          <a:p>
            <a:pPr algn="l" indent="0" marL="0">
              <a:lnSpc>
                <a:spcPts val="2400"/>
              </a:lnSpc>
              <a:buNone/>
            </a:pPr>
            <a:r>
              <a:rPr lang="en-US" sz="1950" b="1" dirty="0">
                <a:solidFill>
                  <a:srgbClr val="5E208E"/>
                </a:solidFill>
                <a:latin typeface="Montserrat Black" pitchFamily="34" charset="0"/>
                <a:ea typeface="Montserrat Black" pitchFamily="34" charset="-122"/>
                <a:cs typeface="Montserrat Black" pitchFamily="34" charset="-120"/>
              </a:rPr>
              <a:t>Part 2: Developer Apps</a:t>
            </a:r>
            <a:endParaRPr lang="en-US" sz="1950" dirty="0"/>
          </a:p>
        </p:txBody>
      </p:sp>
      <p:sp>
        <p:nvSpPr>
          <p:cNvPr id="17" name="Text 15"/>
          <p:cNvSpPr/>
          <p:nvPr/>
        </p:nvSpPr>
        <p:spPr>
          <a:xfrm>
            <a:off x="8204716" y="3342680"/>
            <a:ext cx="5721548" cy="264319"/>
          </a:xfrm>
          <a:prstGeom prst="rect">
            <a:avLst/>
          </a:prstGeom>
          <a:noFill/>
          <a:ln/>
        </p:spPr>
        <p:txBody>
          <a:bodyPr wrap="none" lIns="0" tIns="0" rIns="0" bIns="0" rtlCol="0" anchor="t"/>
          <a:lstStyle/>
          <a:p>
            <a:pPr algn="l" marL="342900" indent="-342900">
              <a:lnSpc>
                <a:spcPts val="2050"/>
              </a:lnSpc>
              <a:buSzPct val="100000"/>
              <a:buFont typeface="+mj-lt"/>
              <a:buAutoNum type="arabicPeriod" startAt="1"/>
            </a:pPr>
            <a:r>
              <a:rPr lang="en-US" sz="1300" b="1" dirty="0">
                <a:solidFill>
                  <a:srgbClr val="151617"/>
                </a:solidFill>
                <a:latin typeface="Inconsolata" pitchFamily="34" charset="0"/>
                <a:ea typeface="Inconsolata" pitchFamily="34" charset="-122"/>
                <a:cs typeface="Inconsolata" pitchFamily="34" charset="-120"/>
              </a:rPr>
              <a:t>Install Cloudflare</a:t>
            </a:r>
            <a:pPr algn="l" indent="0" marL="0">
              <a:lnSpc>
                <a:spcPts val="2050"/>
              </a:lnSpc>
              <a:buNone/>
            </a:pPr>
            <a:r>
              <a:rPr lang="en-US" sz="1300" dirty="0">
                <a:solidFill>
                  <a:srgbClr val="151617"/>
                </a:solidFill>
                <a:latin typeface="Inconsolata" pitchFamily="34" charset="0"/>
                <a:ea typeface="Inconsolata" pitchFamily="34" charset="-122"/>
                <a:cs typeface="Inconsolata" pitchFamily="34" charset="-120"/>
              </a:rPr>
              <a:t> → One tap</a:t>
            </a:r>
            <a:endParaRPr lang="en-US" sz="1300" dirty="0"/>
          </a:p>
        </p:txBody>
      </p:sp>
      <p:sp>
        <p:nvSpPr>
          <p:cNvPr id="18" name="Text 16"/>
          <p:cNvSpPr/>
          <p:nvPr/>
        </p:nvSpPr>
        <p:spPr>
          <a:xfrm>
            <a:off x="8204716" y="3664744"/>
            <a:ext cx="5721548" cy="264319"/>
          </a:xfrm>
          <a:prstGeom prst="rect">
            <a:avLst/>
          </a:prstGeom>
          <a:noFill/>
          <a:ln/>
        </p:spPr>
        <p:txBody>
          <a:bodyPr wrap="none" lIns="0" tIns="0" rIns="0" bIns="0" rtlCol="0" anchor="t"/>
          <a:lstStyle/>
          <a:p>
            <a:pPr algn="l" marL="342900" indent="-342900">
              <a:lnSpc>
                <a:spcPts val="2050"/>
              </a:lnSpc>
              <a:buSzPct val="100000"/>
              <a:buFont typeface="+mj-lt"/>
              <a:buAutoNum type="arabicPeriod" startAt="2"/>
            </a:pPr>
            <a:r>
              <a:rPr lang="en-US" sz="1300" b="1" dirty="0">
                <a:solidFill>
                  <a:srgbClr val="151617"/>
                </a:solidFill>
                <a:latin typeface="Inconsolata" pitchFamily="34" charset="0"/>
                <a:ea typeface="Inconsolata" pitchFamily="34" charset="-122"/>
                <a:cs typeface="Inconsolata" pitchFamily="34" charset="-120"/>
              </a:rPr>
              <a:t>One-Tap OAuth</a:t>
            </a:r>
            <a:pPr algn="l" indent="0" marL="0">
              <a:lnSpc>
                <a:spcPts val="2050"/>
              </a:lnSpc>
              <a:buNone/>
            </a:pPr>
            <a:r>
              <a:rPr lang="en-US" sz="1300" dirty="0">
                <a:solidFill>
                  <a:srgbClr val="151617"/>
                </a:solidFill>
                <a:latin typeface="Inconsolata" pitchFamily="34" charset="0"/>
                <a:ea typeface="Inconsolata" pitchFamily="34" charset="-122"/>
                <a:cs typeface="Inconsolata" pitchFamily="34" charset="-120"/>
              </a:rPr>
              <a:t> → Auto Config</a:t>
            </a:r>
            <a:endParaRPr lang="en-US" sz="1300" dirty="0"/>
          </a:p>
        </p:txBody>
      </p:sp>
      <p:sp>
        <p:nvSpPr>
          <p:cNvPr id="19" name="Text 17"/>
          <p:cNvSpPr/>
          <p:nvPr/>
        </p:nvSpPr>
        <p:spPr>
          <a:xfrm>
            <a:off x="8204716" y="3986808"/>
            <a:ext cx="5721548" cy="264319"/>
          </a:xfrm>
          <a:prstGeom prst="rect">
            <a:avLst/>
          </a:prstGeom>
          <a:noFill/>
          <a:ln/>
        </p:spPr>
        <p:txBody>
          <a:bodyPr wrap="none" lIns="0" tIns="0" rIns="0" bIns="0" rtlCol="0" anchor="t"/>
          <a:lstStyle/>
          <a:p>
            <a:pPr algn="l" marL="342900" indent="-342900">
              <a:lnSpc>
                <a:spcPts val="2050"/>
              </a:lnSpc>
              <a:buSzPct val="100000"/>
              <a:buFont typeface="+mj-lt"/>
              <a:buAutoNum type="arabicPeriod" startAt="3"/>
            </a:pPr>
            <a:r>
              <a:rPr lang="en-US" sz="1300" b="1" dirty="0">
                <a:solidFill>
                  <a:srgbClr val="151617"/>
                </a:solidFill>
                <a:latin typeface="Inconsolata" pitchFamily="34" charset="0"/>
                <a:ea typeface="Inconsolata" pitchFamily="34" charset="-122"/>
                <a:cs typeface="Inconsolata" pitchFamily="34" charset="-120"/>
              </a:rPr>
              <a:t>Check Traffic </a:t>
            </a:r>
            <a:pPr algn="l" indent="0" marL="0">
              <a:lnSpc>
                <a:spcPts val="2050"/>
              </a:lnSpc>
              <a:buNone/>
            </a:pPr>
            <a:r>
              <a:rPr lang="en-US" sz="1300" dirty="0">
                <a:solidFill>
                  <a:srgbClr val="151617"/>
                </a:solidFill>
                <a:latin typeface="Inconsolata" pitchFamily="34" charset="0"/>
                <a:ea typeface="Inconsolata" pitchFamily="34" charset="-122"/>
                <a:cs typeface="Inconsolata" pitchFamily="34" charset="-120"/>
              </a:rPr>
              <a:t>: "Check traffic on my website" → Done</a:t>
            </a:r>
            <a:endParaRPr lang="en-US" sz="1300" dirty="0"/>
          </a:p>
        </p:txBody>
      </p:sp>
      <p:sp>
        <p:nvSpPr>
          <p:cNvPr id="20" name="Text 18"/>
          <p:cNvSpPr/>
          <p:nvPr/>
        </p:nvSpPr>
        <p:spPr>
          <a:xfrm>
            <a:off x="8204716" y="4399717"/>
            <a:ext cx="5721548" cy="264319"/>
          </a:xfrm>
          <a:prstGeom prst="rect">
            <a:avLst/>
          </a:prstGeom>
          <a:noFill/>
          <a:ln/>
        </p:spPr>
        <p:txBody>
          <a:bodyPr wrap="none" lIns="0" tIns="0" rIns="0" bIns="0" rtlCol="0" anchor="t"/>
          <a:lstStyle/>
          <a:p>
            <a:pPr algn="l" indent="0" marL="0">
              <a:lnSpc>
                <a:spcPts val="2050"/>
              </a:lnSpc>
              <a:buNone/>
            </a:pPr>
            <a:endParaRPr lang="en-US" sz="1300" dirty="0"/>
          </a:p>
        </p:txBody>
      </p:sp>
      <p:sp>
        <p:nvSpPr>
          <p:cNvPr id="21" name="Text 19"/>
          <p:cNvSpPr/>
          <p:nvPr/>
        </p:nvSpPr>
        <p:spPr>
          <a:xfrm>
            <a:off x="8204716" y="4829175"/>
            <a:ext cx="4089440" cy="309682"/>
          </a:xfrm>
          <a:prstGeom prst="rect">
            <a:avLst/>
          </a:prstGeom>
          <a:noFill/>
          <a:ln/>
        </p:spPr>
        <p:txBody>
          <a:bodyPr wrap="none" lIns="0" tIns="0" rIns="0" bIns="0" rtlCol="0" anchor="t"/>
          <a:lstStyle/>
          <a:p>
            <a:pPr algn="l"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Part 3: Enterprise Productivity</a:t>
            </a:r>
            <a:endParaRPr lang="en-US" sz="1950" dirty="0"/>
          </a:p>
        </p:txBody>
      </p:sp>
      <p:sp>
        <p:nvSpPr>
          <p:cNvPr id="22" name="Text 20"/>
          <p:cNvSpPr/>
          <p:nvPr/>
        </p:nvSpPr>
        <p:spPr>
          <a:xfrm>
            <a:off x="8204716" y="5303996"/>
            <a:ext cx="5721548" cy="264319"/>
          </a:xfrm>
          <a:prstGeom prst="rect">
            <a:avLst/>
          </a:prstGeom>
          <a:noFill/>
          <a:ln/>
        </p:spPr>
        <p:txBody>
          <a:bodyPr wrap="none" lIns="0" tIns="0" rIns="0" bIns="0" rtlCol="0" anchor="t"/>
          <a:lstStyle/>
          <a:p>
            <a:pPr algn="l" marL="342900" indent="-342900">
              <a:lnSpc>
                <a:spcPts val="2050"/>
              </a:lnSpc>
              <a:buSzPct val="100000"/>
              <a:buFont typeface="+mj-lt"/>
              <a:buAutoNum type="arabicPeriod" startAt="1"/>
            </a:pPr>
            <a:r>
              <a:rPr lang="en-US" sz="1300" b="1" dirty="0">
                <a:solidFill>
                  <a:srgbClr val="151617"/>
                </a:solidFill>
                <a:latin typeface="Inconsolata" pitchFamily="34" charset="0"/>
                <a:ea typeface="Inconsolata" pitchFamily="34" charset="-122"/>
                <a:cs typeface="Inconsolata" pitchFamily="34" charset="-120"/>
              </a:rPr>
              <a:t>Install Asana</a:t>
            </a:r>
            <a:pPr algn="l" indent="0" marL="0">
              <a:lnSpc>
                <a:spcPts val="2050"/>
              </a:lnSpc>
              <a:buNone/>
            </a:pPr>
            <a:r>
              <a:rPr lang="en-US" sz="1300" dirty="0">
                <a:solidFill>
                  <a:srgbClr val="151617"/>
                </a:solidFill>
                <a:latin typeface="Inconsolata" pitchFamily="34" charset="0"/>
                <a:ea typeface="Inconsolata" pitchFamily="34" charset="-122"/>
                <a:cs typeface="Inconsolata" pitchFamily="34" charset="-120"/>
              </a:rPr>
              <a:t> → One tap</a:t>
            </a:r>
            <a:endParaRPr lang="en-US" sz="1300" dirty="0"/>
          </a:p>
        </p:txBody>
      </p:sp>
      <p:sp>
        <p:nvSpPr>
          <p:cNvPr id="23" name="Text 21"/>
          <p:cNvSpPr/>
          <p:nvPr/>
        </p:nvSpPr>
        <p:spPr>
          <a:xfrm>
            <a:off x="8204716" y="5626060"/>
            <a:ext cx="5721548" cy="264319"/>
          </a:xfrm>
          <a:prstGeom prst="rect">
            <a:avLst/>
          </a:prstGeom>
          <a:noFill/>
          <a:ln/>
        </p:spPr>
        <p:txBody>
          <a:bodyPr wrap="none" lIns="0" tIns="0" rIns="0" bIns="0" rtlCol="0" anchor="t"/>
          <a:lstStyle/>
          <a:p>
            <a:pPr algn="l" marL="342900" indent="-342900">
              <a:lnSpc>
                <a:spcPts val="2050"/>
              </a:lnSpc>
              <a:buSzPct val="100000"/>
              <a:buFont typeface="+mj-lt"/>
              <a:buAutoNum type="arabicPeriod" startAt="2"/>
            </a:pPr>
            <a:r>
              <a:rPr lang="en-US" sz="1300" b="1" dirty="0">
                <a:solidFill>
                  <a:srgbClr val="151617"/>
                </a:solidFill>
                <a:latin typeface="Inconsolata" pitchFamily="34" charset="0"/>
                <a:ea typeface="Inconsolata" pitchFamily="34" charset="-122"/>
                <a:cs typeface="Inconsolata" pitchFamily="34" charset="-120"/>
              </a:rPr>
              <a:t>One-Tap OAuth</a:t>
            </a:r>
            <a:pPr algn="l" indent="0" marL="0">
              <a:lnSpc>
                <a:spcPts val="2050"/>
              </a:lnSpc>
              <a:buNone/>
            </a:pPr>
            <a:r>
              <a:rPr lang="en-US" sz="1300" dirty="0">
                <a:solidFill>
                  <a:srgbClr val="151617"/>
                </a:solidFill>
                <a:latin typeface="Inconsolata" pitchFamily="34" charset="0"/>
                <a:ea typeface="Inconsolata" pitchFamily="34" charset="-122"/>
                <a:cs typeface="Inconsolata" pitchFamily="34" charset="-120"/>
              </a:rPr>
              <a:t> → Auto Config</a:t>
            </a:r>
            <a:endParaRPr lang="en-US" sz="1300" dirty="0"/>
          </a:p>
        </p:txBody>
      </p:sp>
      <p:sp>
        <p:nvSpPr>
          <p:cNvPr id="24" name="Text 22"/>
          <p:cNvSpPr/>
          <p:nvPr/>
        </p:nvSpPr>
        <p:spPr>
          <a:xfrm>
            <a:off x="8204716" y="5948124"/>
            <a:ext cx="5721548" cy="528638"/>
          </a:xfrm>
          <a:prstGeom prst="rect">
            <a:avLst/>
          </a:prstGeom>
          <a:noFill/>
          <a:ln/>
        </p:spPr>
        <p:txBody>
          <a:bodyPr wrap="square" lIns="0" tIns="0" rIns="0" bIns="0" rtlCol="0" anchor="t"/>
          <a:lstStyle/>
          <a:p>
            <a:pPr algn="l" marL="342900" indent="-342900">
              <a:lnSpc>
                <a:spcPts val="2050"/>
              </a:lnSpc>
              <a:buSzPct val="100000"/>
              <a:buFont typeface="+mj-lt"/>
              <a:buAutoNum type="arabicPeriod" startAt="3"/>
            </a:pPr>
            <a:r>
              <a:rPr lang="en-US" sz="1300" b="1" dirty="0">
                <a:solidFill>
                  <a:srgbClr val="151617"/>
                </a:solidFill>
                <a:latin typeface="Inconsolata" pitchFamily="34" charset="0"/>
                <a:ea typeface="Inconsolata" pitchFamily="34" charset="-122"/>
                <a:cs typeface="Inconsolata" pitchFamily="34" charset="-120"/>
              </a:rPr>
              <a:t>Create bug report</a:t>
            </a:r>
            <a:pPr algn="l" indent="0" marL="0">
              <a:lnSpc>
                <a:spcPts val="2050"/>
              </a:lnSpc>
              <a:buNone/>
            </a:pPr>
            <a:r>
              <a:rPr lang="en-US" sz="1300" dirty="0">
                <a:solidFill>
                  <a:srgbClr val="151617"/>
                </a:solidFill>
                <a:latin typeface="Inconsolata" pitchFamily="34" charset="0"/>
                <a:ea typeface="Inconsolata" pitchFamily="34" charset="-122"/>
                <a:cs typeface="Inconsolata" pitchFamily="34" charset="-120"/>
              </a:rPr>
              <a:t>: "Remind to Triage Iphone bug tomorrow 11 AM" → Done</a:t>
            </a:r>
            <a:endParaRPr lang="en-US" sz="1300" dirty="0"/>
          </a:p>
        </p:txBody>
      </p:sp>
      <p:sp>
        <p:nvSpPr>
          <p:cNvPr id="25" name="Text 23"/>
          <p:cNvSpPr/>
          <p:nvPr/>
        </p:nvSpPr>
        <p:spPr>
          <a:xfrm>
            <a:off x="8204716" y="6625352"/>
            <a:ext cx="5721548" cy="264319"/>
          </a:xfrm>
          <a:prstGeom prst="rect">
            <a:avLst/>
          </a:prstGeom>
          <a:noFill/>
          <a:ln/>
        </p:spPr>
        <p:txBody>
          <a:bodyPr wrap="none" lIns="0" tIns="0" rIns="0" bIns="0" rtlCol="0" anchor="t"/>
          <a:lstStyle/>
          <a:p>
            <a:pPr algn="l" indent="0" marL="0">
              <a:lnSpc>
                <a:spcPts val="2050"/>
              </a:lnSpc>
              <a:buNone/>
            </a:pPr>
            <a:endParaRPr lang="en-US" sz="1300" dirty="0"/>
          </a:p>
        </p:txBody>
      </p:sp>
      <p:sp>
        <p:nvSpPr>
          <p:cNvPr id="26" name="Text 24"/>
          <p:cNvSpPr/>
          <p:nvPr/>
        </p:nvSpPr>
        <p:spPr>
          <a:xfrm>
            <a:off x="8204716" y="7054810"/>
            <a:ext cx="4704993" cy="309682"/>
          </a:xfrm>
          <a:prstGeom prst="rect">
            <a:avLst/>
          </a:prstGeom>
          <a:noFill/>
          <a:ln/>
        </p:spPr>
        <p:txBody>
          <a:bodyPr wrap="none" lIns="0" tIns="0" rIns="0" bIns="0" rtlCol="0" anchor="t"/>
          <a:lstStyle/>
          <a:p>
            <a:pPr algn="l"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Same interface</a:t>
            </a:r>
            <a:pPr algn="l"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 different capability</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53641" y="543758"/>
            <a:ext cx="4721185" cy="401598"/>
          </a:xfrm>
          <a:prstGeom prst="rect">
            <a:avLst/>
          </a:prstGeom>
          <a:noFill/>
          <a:ln/>
        </p:spPr>
        <p:txBody>
          <a:bodyPr wrap="none" lIns="0" tIns="0" rIns="0" bIns="0" rtlCol="0" anchor="t"/>
          <a:lstStyle/>
          <a:p>
            <a:pPr algn="l" indent="0" marL="0">
              <a:lnSpc>
                <a:spcPts val="3150"/>
              </a:lnSpc>
              <a:buNone/>
            </a:pPr>
            <a:r>
              <a:rPr lang="en-US" sz="2500" b="1" dirty="0">
                <a:solidFill>
                  <a:srgbClr val="151617"/>
                </a:solidFill>
                <a:latin typeface="Montserrat Black" pitchFamily="34" charset="0"/>
                <a:ea typeface="Montserrat Black" pitchFamily="34" charset="-122"/>
                <a:cs typeface="Montserrat Black" pitchFamily="34" charset="-120"/>
              </a:rPr>
              <a:t>Our Secret GTM Advantage</a:t>
            </a:r>
            <a:endParaRPr lang="en-US" sz="2500" dirty="0"/>
          </a:p>
        </p:txBody>
      </p:sp>
      <p:sp>
        <p:nvSpPr>
          <p:cNvPr id="3" name="Text 1"/>
          <p:cNvSpPr/>
          <p:nvPr/>
        </p:nvSpPr>
        <p:spPr>
          <a:xfrm>
            <a:off x="553641" y="1266587"/>
            <a:ext cx="4306133" cy="240863"/>
          </a:xfrm>
          <a:prstGeom prst="rect">
            <a:avLst/>
          </a:prstGeom>
          <a:noFill/>
          <a:ln/>
        </p:spPr>
        <p:txBody>
          <a:bodyPr wrap="none" lIns="0" tIns="0" rIns="0" bIns="0" rtlCol="0" anchor="t"/>
          <a:lstStyle/>
          <a:p>
            <a:pPr algn="l" indent="0" marL="0">
              <a:lnSpc>
                <a:spcPts val="1850"/>
              </a:lnSpc>
              <a:buNone/>
            </a:pPr>
            <a:r>
              <a:rPr lang="en-US" sz="1500" b="1" dirty="0">
                <a:solidFill>
                  <a:srgbClr val="910D0D"/>
                </a:solidFill>
                <a:latin typeface="Montserrat Black" pitchFamily="34" charset="0"/>
                <a:ea typeface="Montserrat Black" pitchFamily="34" charset="-122"/>
                <a:cs typeface="Montserrat Black" pitchFamily="34" charset="-120"/>
              </a:rPr>
              <a:t>Target 1: Frustrated Custom GPT Creators</a:t>
            </a:r>
            <a:endParaRPr lang="en-US" sz="1500" dirty="0"/>
          </a:p>
        </p:txBody>
      </p:sp>
      <p:sp>
        <p:nvSpPr>
          <p:cNvPr id="4" name="Text 2"/>
          <p:cNvSpPr/>
          <p:nvPr/>
        </p:nvSpPr>
        <p:spPr>
          <a:xfrm>
            <a:off x="553641" y="1635919"/>
            <a:ext cx="6604754" cy="514350"/>
          </a:xfrm>
          <a:prstGeom prst="rect">
            <a:avLst/>
          </a:prstGeom>
          <a:noFill/>
          <a:ln/>
        </p:spPr>
        <p:txBody>
          <a:bodyPr wrap="square" lIns="0" tIns="0" rIns="0" bIns="0" rtlCol="0" anchor="t"/>
          <a:lstStyle/>
          <a:p>
            <a:pPr algn="l" marL="342900" indent="-342900">
              <a:lnSpc>
                <a:spcPts val="1600"/>
              </a:lnSpc>
              <a:buSzPct val="100000"/>
              <a:buChar char="•"/>
            </a:pPr>
            <a:r>
              <a:rPr lang="en-US" sz="1000" b="1" dirty="0">
                <a:solidFill>
                  <a:srgbClr val="151617"/>
                </a:solidFill>
                <a:latin typeface="Inconsolata" pitchFamily="34" charset="0"/>
                <a:ea typeface="Inconsolata" pitchFamily="34" charset="-122"/>
                <a:cs typeface="Inconsolata" pitchFamily="34" charset="-120"/>
              </a:rPr>
              <a:t>Thousands of proven AI builders</a:t>
            </a:r>
            <a:pPr algn="l" indent="0" marL="0">
              <a:lnSpc>
                <a:spcPts val="1600"/>
              </a:lnSpc>
              <a:buNone/>
            </a:pPr>
            <a:r>
              <a:rPr lang="en-US" sz="1000" dirty="0">
                <a:solidFill>
                  <a:srgbClr val="151617"/>
                </a:solidFill>
                <a:latin typeface="Inconsolata" pitchFamily="34" charset="0"/>
                <a:ea typeface="Inconsolata" pitchFamily="34" charset="-122"/>
                <a:cs typeface="Inconsolata" pitchFamily="34" charset="-120"/>
              </a:rPr>
              <a:t> with 100K+ user ratings signalling millions of installs.</a:t>
            </a:r>
            <a:endParaRPr lang="en-US" sz="1000" dirty="0"/>
          </a:p>
        </p:txBody>
      </p:sp>
      <p:sp>
        <p:nvSpPr>
          <p:cNvPr id="5" name="Text 3"/>
          <p:cNvSpPr/>
          <p:nvPr/>
        </p:nvSpPr>
        <p:spPr>
          <a:xfrm>
            <a:off x="553641" y="2195155"/>
            <a:ext cx="6604754" cy="257175"/>
          </a:xfrm>
          <a:prstGeom prst="rect">
            <a:avLst/>
          </a:prstGeom>
          <a:noFill/>
          <a:ln/>
        </p:spPr>
        <p:txBody>
          <a:bodyPr wrap="none" lIns="0" tIns="0" rIns="0" bIns="0" rtlCol="0" anchor="t"/>
          <a:lstStyle/>
          <a:p>
            <a:pPr algn="l" marL="342900" indent="-342900">
              <a:lnSpc>
                <a:spcPts val="1600"/>
              </a:lnSpc>
              <a:buSzPct val="100000"/>
              <a:buChar char="•"/>
            </a:pPr>
            <a:r>
              <a:rPr lang="en-US" sz="1000" b="1" dirty="0">
                <a:solidFill>
                  <a:srgbClr val="151617"/>
                </a:solidFill>
                <a:latin typeface="Inconsolata" pitchFamily="34" charset="0"/>
                <a:ea typeface="Inconsolata" pitchFamily="34" charset="-122"/>
                <a:cs typeface="Inconsolata" pitchFamily="34" charset="-120"/>
              </a:rPr>
              <a:t>50+ million conversations</a:t>
            </a:r>
            <a:pPr algn="l" indent="0" marL="0">
              <a:lnSpc>
                <a:spcPts val="1600"/>
              </a:lnSpc>
              <a:buNone/>
            </a:pPr>
            <a:r>
              <a:rPr lang="en-US" sz="1000" dirty="0">
                <a:solidFill>
                  <a:srgbClr val="151617"/>
                </a:solidFill>
                <a:latin typeface="Inconsolata" pitchFamily="34" charset="0"/>
                <a:ea typeface="Inconsolata" pitchFamily="34" charset="-122"/>
                <a:cs typeface="Inconsolata" pitchFamily="34" charset="-120"/>
              </a:rPr>
              <a:t> generated but </a:t>
            </a:r>
            <a:pPr algn="l" indent="0" marL="0">
              <a:lnSpc>
                <a:spcPts val="1600"/>
              </a:lnSpc>
              <a:buNone/>
            </a:pPr>
            <a:r>
              <a:rPr lang="en-US" sz="1000" b="1" dirty="0">
                <a:solidFill>
                  <a:srgbClr val="151617"/>
                </a:solidFill>
                <a:latin typeface="Inconsolata" pitchFamily="34" charset="0"/>
                <a:ea typeface="Inconsolata" pitchFamily="34" charset="-122"/>
                <a:cs typeface="Inconsolata" pitchFamily="34" charset="-120"/>
              </a:rPr>
              <a:t>₹0 earned</a:t>
            </a:r>
            <a:endParaRPr lang="en-US" sz="1000" dirty="0"/>
          </a:p>
        </p:txBody>
      </p:sp>
      <p:sp>
        <p:nvSpPr>
          <p:cNvPr id="6" name="Text 4"/>
          <p:cNvSpPr/>
          <p:nvPr/>
        </p:nvSpPr>
        <p:spPr>
          <a:xfrm>
            <a:off x="553641" y="2497217"/>
            <a:ext cx="6604754" cy="257175"/>
          </a:xfrm>
          <a:prstGeom prst="rect">
            <a:avLst/>
          </a:prstGeom>
          <a:noFill/>
          <a:ln/>
        </p:spPr>
        <p:txBody>
          <a:bodyPr wrap="none" lIns="0" tIns="0" rIns="0" bIns="0" rtlCol="0" anchor="t"/>
          <a:lstStyle/>
          <a:p>
            <a:pPr algn="l" marL="342900" indent="-342900">
              <a:lnSpc>
                <a:spcPts val="1600"/>
              </a:lnSpc>
              <a:buSzPct val="100000"/>
              <a:buChar char="•"/>
            </a:pPr>
            <a:r>
              <a:rPr lang="en-US" sz="1000" b="1" dirty="0">
                <a:solidFill>
                  <a:srgbClr val="151617"/>
                </a:solidFill>
                <a:latin typeface="Inconsolata" pitchFamily="34" charset="0"/>
                <a:ea typeface="Inconsolata" pitchFamily="34" charset="-122"/>
                <a:cs typeface="Inconsolata" pitchFamily="34" charset="-120"/>
              </a:rPr>
              <a:t>Ready to migrate</a:t>
            </a:r>
            <a:pPr algn="l" indent="0" marL="0">
              <a:lnSpc>
                <a:spcPts val="1600"/>
              </a:lnSpc>
              <a:buNone/>
            </a:pPr>
            <a:r>
              <a:rPr lang="en-US" sz="1000" dirty="0">
                <a:solidFill>
                  <a:srgbClr val="151617"/>
                </a:solidFill>
                <a:latin typeface="Inconsolata" pitchFamily="34" charset="0"/>
                <a:ea typeface="Inconsolata" pitchFamily="34" charset="-122"/>
                <a:cs typeface="Inconsolata" pitchFamily="34" charset="-120"/>
              </a:rPr>
              <a:t> for real monetization opportunity</a:t>
            </a:r>
            <a:endParaRPr lang="en-US" sz="1000" dirty="0"/>
          </a:p>
        </p:txBody>
      </p:sp>
      <p:sp>
        <p:nvSpPr>
          <p:cNvPr id="7" name="Text 5"/>
          <p:cNvSpPr/>
          <p:nvPr/>
        </p:nvSpPr>
        <p:spPr>
          <a:xfrm>
            <a:off x="553641" y="2799278"/>
            <a:ext cx="6604754" cy="257175"/>
          </a:xfrm>
          <a:prstGeom prst="rect">
            <a:avLst/>
          </a:prstGeom>
          <a:noFill/>
          <a:ln/>
        </p:spPr>
        <p:txBody>
          <a:bodyPr wrap="none" lIns="0" tIns="0" rIns="0" bIns="0" rtlCol="0" anchor="t"/>
          <a:lstStyle/>
          <a:p>
            <a:pPr algn="l" marL="342900" indent="-342900">
              <a:lnSpc>
                <a:spcPts val="1600"/>
              </a:lnSpc>
              <a:buSzPct val="100000"/>
              <a:buChar char="•"/>
            </a:pPr>
            <a:r>
              <a:rPr lang="en-US" sz="1000" b="1" dirty="0">
                <a:solidFill>
                  <a:srgbClr val="151617"/>
                </a:solidFill>
                <a:latin typeface="Inconsolata" pitchFamily="34" charset="0"/>
                <a:ea typeface="Inconsolata" pitchFamily="34" charset="-122"/>
                <a:cs typeface="Inconsolata" pitchFamily="34" charset="-120"/>
              </a:rPr>
              <a:t>Proven track record</a:t>
            </a:r>
            <a:pPr algn="l" indent="0" marL="0">
              <a:lnSpc>
                <a:spcPts val="1600"/>
              </a:lnSpc>
              <a:buNone/>
            </a:pPr>
            <a:r>
              <a:rPr lang="en-US" sz="1000" dirty="0">
                <a:solidFill>
                  <a:srgbClr val="151617"/>
                </a:solidFill>
                <a:latin typeface="Inconsolata" pitchFamily="34" charset="0"/>
                <a:ea typeface="Inconsolata" pitchFamily="34" charset="-122"/>
                <a:cs typeface="Inconsolata" pitchFamily="34" charset="-120"/>
              </a:rPr>
              <a:t> of building engaging AI experiences</a:t>
            </a:r>
            <a:endParaRPr lang="en-US" sz="1000" dirty="0"/>
          </a:p>
        </p:txBody>
      </p:sp>
      <p:sp>
        <p:nvSpPr>
          <p:cNvPr id="8" name="Text 6"/>
          <p:cNvSpPr/>
          <p:nvPr/>
        </p:nvSpPr>
        <p:spPr>
          <a:xfrm>
            <a:off x="7479625" y="1266587"/>
            <a:ext cx="1932265" cy="240863"/>
          </a:xfrm>
          <a:prstGeom prst="rect">
            <a:avLst/>
          </a:prstGeom>
          <a:noFill/>
          <a:ln/>
        </p:spPr>
        <p:txBody>
          <a:bodyPr wrap="none" lIns="0" tIns="0" rIns="0" bIns="0" rtlCol="0" anchor="t"/>
          <a:lstStyle/>
          <a:p>
            <a:pPr algn="l" indent="0" marL="0">
              <a:lnSpc>
                <a:spcPts val="1850"/>
              </a:lnSpc>
              <a:buNone/>
            </a:pPr>
            <a:r>
              <a:rPr lang="en-US" sz="1500" b="1" dirty="0">
                <a:solidFill>
                  <a:srgbClr val="5E208E"/>
                </a:solidFill>
                <a:latin typeface="Montserrat Black" pitchFamily="34" charset="0"/>
                <a:ea typeface="Montserrat Black" pitchFamily="34" charset="-122"/>
                <a:cs typeface="Montserrat Black" pitchFamily="34" charset="-120"/>
              </a:rPr>
              <a:t>Expansion Targets</a:t>
            </a:r>
            <a:endParaRPr lang="en-US" sz="1500" dirty="0"/>
          </a:p>
        </p:txBody>
      </p:sp>
      <p:sp>
        <p:nvSpPr>
          <p:cNvPr id="9" name="Shape 7"/>
          <p:cNvSpPr/>
          <p:nvPr/>
        </p:nvSpPr>
        <p:spPr>
          <a:xfrm>
            <a:off x="7479625" y="1651992"/>
            <a:ext cx="6604754" cy="822484"/>
          </a:xfrm>
          <a:prstGeom prst="roundRect">
            <a:avLst>
              <a:gd name="adj" fmla="val 1112"/>
            </a:avLst>
          </a:prstGeom>
          <a:solidFill>
            <a:srgbClr val="F8ECE4"/>
          </a:solidFill>
          <a:ln w="15240">
            <a:solidFill>
              <a:srgbClr val="151617"/>
            </a:solidFill>
            <a:prstDash val="solid"/>
          </a:ln>
          <a:effectLst>
            <a:outerShdw sx="100000" sy="100000" kx="0" ky="0" algn="bl" rotWithShape="0" blurRad="0" dist="11430" dir="2700000">
              <a:srgbClr val="151617">
                <a:alpha val="100000"/>
              </a:srgbClr>
            </a:outerShdw>
          </a:effectLst>
        </p:spPr>
      </p:sp>
      <p:sp>
        <p:nvSpPr>
          <p:cNvPr id="10" name="Text 8"/>
          <p:cNvSpPr/>
          <p:nvPr/>
        </p:nvSpPr>
        <p:spPr>
          <a:xfrm>
            <a:off x="7623334" y="1795701"/>
            <a:ext cx="2055733" cy="200858"/>
          </a:xfrm>
          <a:prstGeom prst="rect">
            <a:avLst/>
          </a:prstGeom>
          <a:noFill/>
          <a:ln/>
        </p:spPr>
        <p:txBody>
          <a:bodyPr wrap="none" lIns="0" tIns="0" rIns="0" bIns="0" rtlCol="0" anchor="t"/>
          <a:lstStyle/>
          <a:p>
            <a:pPr algn="l" indent="0" marL="0">
              <a:lnSpc>
                <a:spcPts val="1550"/>
              </a:lnSpc>
              <a:buNone/>
            </a:pPr>
            <a:r>
              <a:rPr lang="en-US" sz="1250" b="1" dirty="0">
                <a:solidFill>
                  <a:srgbClr val="151617"/>
                </a:solidFill>
                <a:latin typeface="Montserrat Black" pitchFamily="34" charset="0"/>
                <a:ea typeface="Montserrat Black" pitchFamily="34" charset="-122"/>
                <a:cs typeface="Montserrat Black" pitchFamily="34" charset="-120"/>
              </a:rPr>
              <a:t>GitHub MCP developers</a:t>
            </a:r>
            <a:endParaRPr lang="en-US" sz="1250" dirty="0"/>
          </a:p>
        </p:txBody>
      </p:sp>
      <p:sp>
        <p:nvSpPr>
          <p:cNvPr id="11" name="Text 9"/>
          <p:cNvSpPr/>
          <p:nvPr/>
        </p:nvSpPr>
        <p:spPr>
          <a:xfrm>
            <a:off x="7623334" y="2125028"/>
            <a:ext cx="6317337" cy="205740"/>
          </a:xfrm>
          <a:prstGeom prst="rect">
            <a:avLst/>
          </a:prstGeom>
          <a:noFill/>
          <a:ln/>
        </p:spPr>
        <p:txBody>
          <a:bodyPr wrap="none" lIns="0" tIns="0" rIns="0" bIns="0" rtlCol="0" anchor="t"/>
          <a:lstStyle/>
          <a:p>
            <a:pPr algn="l" indent="0" marL="0">
              <a:lnSpc>
                <a:spcPts val="1600"/>
              </a:lnSpc>
              <a:buNone/>
            </a:pPr>
            <a:r>
              <a:rPr lang="en-US" sz="1000" dirty="0">
                <a:solidFill>
                  <a:srgbClr val="151617"/>
                </a:solidFill>
                <a:latin typeface="Inconsolata" pitchFamily="34" charset="0"/>
                <a:ea typeface="Inconsolata" pitchFamily="34" charset="-122"/>
                <a:cs typeface="Inconsolata" pitchFamily="34" charset="-120"/>
              </a:rPr>
              <a:t>5,000+ existing servers ready to monetize</a:t>
            </a:r>
            <a:endParaRPr lang="en-US" sz="1000" dirty="0"/>
          </a:p>
        </p:txBody>
      </p:sp>
      <p:sp>
        <p:nvSpPr>
          <p:cNvPr id="12" name="Shape 10"/>
          <p:cNvSpPr/>
          <p:nvPr/>
        </p:nvSpPr>
        <p:spPr>
          <a:xfrm>
            <a:off x="7479625" y="2602944"/>
            <a:ext cx="6604754" cy="822484"/>
          </a:xfrm>
          <a:prstGeom prst="roundRect">
            <a:avLst>
              <a:gd name="adj" fmla="val 1112"/>
            </a:avLst>
          </a:prstGeom>
          <a:solidFill>
            <a:srgbClr val="F8ECE4"/>
          </a:solidFill>
          <a:ln w="15240">
            <a:solidFill>
              <a:srgbClr val="151617"/>
            </a:solidFill>
            <a:prstDash val="solid"/>
          </a:ln>
          <a:effectLst>
            <a:outerShdw sx="100000" sy="100000" kx="0" ky="0" algn="bl" rotWithShape="0" blurRad="0" dist="11430" dir="2700000">
              <a:srgbClr val="151617">
                <a:alpha val="100000"/>
              </a:srgbClr>
            </a:outerShdw>
          </a:effectLst>
        </p:spPr>
      </p:sp>
      <p:sp>
        <p:nvSpPr>
          <p:cNvPr id="13" name="Text 11"/>
          <p:cNvSpPr/>
          <p:nvPr/>
        </p:nvSpPr>
        <p:spPr>
          <a:xfrm>
            <a:off x="7623334" y="2746653"/>
            <a:ext cx="2066211" cy="200858"/>
          </a:xfrm>
          <a:prstGeom prst="rect">
            <a:avLst/>
          </a:prstGeom>
          <a:noFill/>
          <a:ln/>
        </p:spPr>
        <p:txBody>
          <a:bodyPr wrap="none" lIns="0" tIns="0" rIns="0" bIns="0" rtlCol="0" anchor="t"/>
          <a:lstStyle/>
          <a:p>
            <a:pPr algn="l" indent="0" marL="0">
              <a:lnSpc>
                <a:spcPts val="1550"/>
              </a:lnSpc>
              <a:buNone/>
            </a:pPr>
            <a:r>
              <a:rPr lang="en-US" sz="1250" b="1" dirty="0">
                <a:solidFill>
                  <a:srgbClr val="151617"/>
                </a:solidFill>
                <a:latin typeface="Montserrat Black" pitchFamily="34" charset="0"/>
                <a:ea typeface="Montserrat Black" pitchFamily="34" charset="-122"/>
                <a:cs typeface="Montserrat Black" pitchFamily="34" charset="-120"/>
              </a:rPr>
              <a:t>Enterprise partnerships</a:t>
            </a:r>
            <a:endParaRPr lang="en-US" sz="1250" dirty="0"/>
          </a:p>
        </p:txBody>
      </p:sp>
      <p:sp>
        <p:nvSpPr>
          <p:cNvPr id="14" name="Text 12"/>
          <p:cNvSpPr/>
          <p:nvPr/>
        </p:nvSpPr>
        <p:spPr>
          <a:xfrm>
            <a:off x="7623334" y="3075980"/>
            <a:ext cx="6317337" cy="205740"/>
          </a:xfrm>
          <a:prstGeom prst="rect">
            <a:avLst/>
          </a:prstGeom>
          <a:noFill/>
          <a:ln/>
        </p:spPr>
        <p:txBody>
          <a:bodyPr wrap="none" lIns="0" tIns="0" rIns="0" bIns="0" rtlCol="0" anchor="t"/>
          <a:lstStyle/>
          <a:p>
            <a:pPr algn="l" indent="0" marL="0">
              <a:lnSpc>
                <a:spcPts val="1600"/>
              </a:lnSpc>
              <a:buNone/>
            </a:pPr>
            <a:r>
              <a:rPr lang="en-US" sz="1000" dirty="0">
                <a:solidFill>
                  <a:srgbClr val="151617"/>
                </a:solidFill>
                <a:latin typeface="Inconsolata" pitchFamily="34" charset="0"/>
                <a:ea typeface="Inconsolata" pitchFamily="34" charset="-122"/>
                <a:cs typeface="Inconsolata" pitchFamily="34" charset="-120"/>
              </a:rPr>
              <a:t>Shopify, Stripe, Atlassian integrations</a:t>
            </a:r>
            <a:endParaRPr lang="en-US" sz="1000" dirty="0"/>
          </a:p>
        </p:txBody>
      </p:sp>
      <p:sp>
        <p:nvSpPr>
          <p:cNvPr id="15" name="Shape 13"/>
          <p:cNvSpPr/>
          <p:nvPr/>
        </p:nvSpPr>
        <p:spPr>
          <a:xfrm>
            <a:off x="7479625" y="3553897"/>
            <a:ext cx="6604754" cy="822484"/>
          </a:xfrm>
          <a:prstGeom prst="roundRect">
            <a:avLst>
              <a:gd name="adj" fmla="val 1112"/>
            </a:avLst>
          </a:prstGeom>
          <a:solidFill>
            <a:srgbClr val="F8ECE4"/>
          </a:solidFill>
          <a:ln w="15240">
            <a:solidFill>
              <a:srgbClr val="151617"/>
            </a:solidFill>
            <a:prstDash val="solid"/>
          </a:ln>
          <a:effectLst>
            <a:outerShdw sx="100000" sy="100000" kx="0" ky="0" algn="bl" rotWithShape="0" blurRad="0" dist="11430" dir="2700000">
              <a:srgbClr val="151617">
                <a:alpha val="100000"/>
              </a:srgbClr>
            </a:outerShdw>
          </a:effectLst>
        </p:spPr>
      </p:sp>
      <p:sp>
        <p:nvSpPr>
          <p:cNvPr id="16" name="Text 14"/>
          <p:cNvSpPr/>
          <p:nvPr/>
        </p:nvSpPr>
        <p:spPr>
          <a:xfrm>
            <a:off x="7623334" y="3697605"/>
            <a:ext cx="2296358" cy="200858"/>
          </a:xfrm>
          <a:prstGeom prst="rect">
            <a:avLst/>
          </a:prstGeom>
          <a:noFill/>
          <a:ln/>
        </p:spPr>
        <p:txBody>
          <a:bodyPr wrap="none" lIns="0" tIns="0" rIns="0" bIns="0" rtlCol="0" anchor="t"/>
          <a:lstStyle/>
          <a:p>
            <a:pPr algn="l" indent="0" marL="0">
              <a:lnSpc>
                <a:spcPts val="1550"/>
              </a:lnSpc>
              <a:buNone/>
            </a:pPr>
            <a:r>
              <a:rPr lang="en-US" sz="1250" b="1" dirty="0">
                <a:solidFill>
                  <a:srgbClr val="151617"/>
                </a:solidFill>
                <a:latin typeface="Montserrat Black" pitchFamily="34" charset="0"/>
                <a:ea typeface="Montserrat Black" pitchFamily="34" charset="-122"/>
                <a:cs typeface="Montserrat Black" pitchFamily="34" charset="-120"/>
              </a:rPr>
              <a:t>AI developer communities</a:t>
            </a:r>
            <a:endParaRPr lang="en-US" sz="1250" dirty="0"/>
          </a:p>
        </p:txBody>
      </p:sp>
      <p:sp>
        <p:nvSpPr>
          <p:cNvPr id="17" name="Text 15"/>
          <p:cNvSpPr/>
          <p:nvPr/>
        </p:nvSpPr>
        <p:spPr>
          <a:xfrm>
            <a:off x="7623334" y="4026932"/>
            <a:ext cx="6317337" cy="205740"/>
          </a:xfrm>
          <a:prstGeom prst="rect">
            <a:avLst/>
          </a:prstGeom>
          <a:noFill/>
          <a:ln/>
        </p:spPr>
        <p:txBody>
          <a:bodyPr wrap="none" lIns="0" tIns="0" rIns="0" bIns="0" rtlCol="0" anchor="t"/>
          <a:lstStyle/>
          <a:p>
            <a:pPr algn="l" indent="0" marL="0">
              <a:lnSpc>
                <a:spcPts val="1600"/>
              </a:lnSpc>
              <a:buNone/>
            </a:pPr>
            <a:r>
              <a:rPr lang="en-US" sz="1000" dirty="0">
                <a:solidFill>
                  <a:srgbClr val="151617"/>
                </a:solidFill>
                <a:latin typeface="Inconsolata" pitchFamily="34" charset="0"/>
                <a:ea typeface="Inconsolata" pitchFamily="34" charset="-122"/>
                <a:cs typeface="Inconsolata" pitchFamily="34" charset="-120"/>
              </a:rPr>
              <a:t>Discord, Reddit, Twitter outreach</a:t>
            </a:r>
            <a:endParaRPr lang="en-US" sz="1000" dirty="0"/>
          </a:p>
        </p:txBody>
      </p:sp>
      <p:sp>
        <p:nvSpPr>
          <p:cNvPr id="18" name="Text 16"/>
          <p:cNvSpPr/>
          <p:nvPr/>
        </p:nvSpPr>
        <p:spPr>
          <a:xfrm>
            <a:off x="553641" y="4793933"/>
            <a:ext cx="6604754" cy="401717"/>
          </a:xfrm>
          <a:prstGeom prst="rect">
            <a:avLst/>
          </a:prstGeom>
          <a:noFill/>
          <a:ln/>
        </p:spPr>
        <p:txBody>
          <a:bodyPr wrap="square" lIns="0" tIns="0" rIns="0" bIns="0" rtlCol="0" anchor="t"/>
          <a:lstStyle/>
          <a:p>
            <a:pPr algn="l" indent="0" marL="0">
              <a:lnSpc>
                <a:spcPts val="1550"/>
              </a:lnSpc>
              <a:buNone/>
            </a:pPr>
            <a:r>
              <a:rPr lang="en-US" sz="1250" b="1" dirty="0">
                <a:solidFill>
                  <a:srgbClr val="151617"/>
                </a:solidFill>
                <a:latin typeface="Montserrat Black" pitchFamily="34" charset="0"/>
                <a:ea typeface="Montserrat Black" pitchFamily="34" charset="-122"/>
                <a:cs typeface="Montserrat Black" pitchFamily="34" charset="-120"/>
              </a:rPr>
              <a:t>"Has anyone made money from GPTs? Developers aren't seeing revenue despite demand."</a:t>
            </a:r>
            <a:endParaRPr lang="en-US" sz="1250" dirty="0"/>
          </a:p>
        </p:txBody>
      </p:sp>
      <p:sp>
        <p:nvSpPr>
          <p:cNvPr id="19" name="Text 17"/>
          <p:cNvSpPr/>
          <p:nvPr/>
        </p:nvSpPr>
        <p:spPr>
          <a:xfrm>
            <a:off x="553641" y="5324118"/>
            <a:ext cx="6604754" cy="205740"/>
          </a:xfrm>
          <a:prstGeom prst="rect">
            <a:avLst/>
          </a:prstGeom>
          <a:noFill/>
          <a:ln/>
        </p:spPr>
        <p:txBody>
          <a:bodyPr wrap="none" lIns="0" tIns="0" rIns="0" bIns="0" rtlCol="0" anchor="t"/>
          <a:lstStyle/>
          <a:p>
            <a:pPr algn="r" indent="0" marL="0">
              <a:lnSpc>
                <a:spcPts val="1600"/>
              </a:lnSpc>
              <a:buNone/>
            </a:pPr>
            <a:r>
              <a:rPr lang="en-US" sz="1000" dirty="0">
                <a:solidFill>
                  <a:srgbClr val="151617"/>
                </a:solidFill>
                <a:latin typeface="Inconsolata" pitchFamily="34" charset="0"/>
                <a:ea typeface="Inconsolata" pitchFamily="34" charset="-122"/>
                <a:cs typeface="Inconsolata" pitchFamily="34" charset="-120"/>
              </a:rPr>
              <a:t>— </a:t>
            </a:r>
            <a:pPr algn="r" indent="0" marL="0">
              <a:lnSpc>
                <a:spcPts val="1600"/>
              </a:lnSpc>
              <a:buNone/>
            </a:pPr>
            <a:r>
              <a:rPr lang="en-US" sz="1000" u="sng" dirty="0">
                <a:solidFill>
                  <a:srgbClr val="151617"/>
                </a:solidFill>
                <a:latin typeface="Inconsolata" pitchFamily="34" charset="0"/>
                <a:ea typeface="Inconsolata" pitchFamily="34" charset="-122"/>
                <a:cs typeface="Inconsolata"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ChatGPT Forum</a:t>
            </a:r>
            <a:endParaRPr lang="en-US" sz="1000" dirty="0"/>
          </a:p>
        </p:txBody>
      </p:sp>
      <p:sp>
        <p:nvSpPr>
          <p:cNvPr id="20" name="Text 18"/>
          <p:cNvSpPr/>
          <p:nvPr/>
        </p:nvSpPr>
        <p:spPr>
          <a:xfrm>
            <a:off x="553641" y="5658326"/>
            <a:ext cx="6604754" cy="401717"/>
          </a:xfrm>
          <a:prstGeom prst="rect">
            <a:avLst/>
          </a:prstGeom>
          <a:noFill/>
          <a:ln/>
        </p:spPr>
        <p:txBody>
          <a:bodyPr wrap="square" lIns="0" tIns="0" rIns="0" bIns="0" rtlCol="0" anchor="t"/>
          <a:lstStyle/>
          <a:p>
            <a:pPr algn="l" indent="0" marL="0">
              <a:lnSpc>
                <a:spcPts val="1550"/>
              </a:lnSpc>
              <a:buNone/>
            </a:pPr>
            <a:r>
              <a:rPr lang="en-US" sz="1250" b="1" dirty="0">
                <a:solidFill>
                  <a:srgbClr val="151617"/>
                </a:solidFill>
                <a:latin typeface="Montserrat Black" pitchFamily="34" charset="0"/>
                <a:ea typeface="Montserrat Black" pitchFamily="34" charset="-122"/>
                <a:cs typeface="Montserrat Black" pitchFamily="34" charset="-120"/>
              </a:rPr>
              <a:t>"I really want the GPT Store to succeed, but at the moment, it isn't: What I'm missing is..."</a:t>
            </a:r>
            <a:endParaRPr lang="en-US" sz="1250" dirty="0"/>
          </a:p>
        </p:txBody>
      </p:sp>
      <p:sp>
        <p:nvSpPr>
          <p:cNvPr id="21" name="Text 19"/>
          <p:cNvSpPr/>
          <p:nvPr/>
        </p:nvSpPr>
        <p:spPr>
          <a:xfrm>
            <a:off x="553641" y="6188512"/>
            <a:ext cx="6604754" cy="205740"/>
          </a:xfrm>
          <a:prstGeom prst="rect">
            <a:avLst/>
          </a:prstGeom>
          <a:noFill/>
          <a:ln/>
        </p:spPr>
        <p:txBody>
          <a:bodyPr wrap="none" lIns="0" tIns="0" rIns="0" bIns="0" rtlCol="0" anchor="t"/>
          <a:lstStyle/>
          <a:p>
            <a:pPr algn="r" indent="0" marL="0">
              <a:lnSpc>
                <a:spcPts val="1600"/>
              </a:lnSpc>
              <a:buNone/>
            </a:pPr>
            <a:r>
              <a:rPr lang="en-US" sz="1000" dirty="0">
                <a:solidFill>
                  <a:srgbClr val="151617"/>
                </a:solidFill>
                <a:latin typeface="Inconsolata" pitchFamily="34" charset="0"/>
                <a:ea typeface="Inconsolata" pitchFamily="34" charset="-122"/>
                <a:cs typeface="Inconsolata" pitchFamily="34" charset="-120"/>
              </a:rPr>
              <a:t>— </a:t>
            </a:r>
            <a:pPr algn="r" indent="0" marL="0">
              <a:lnSpc>
                <a:spcPts val="1600"/>
              </a:lnSpc>
              <a:buNone/>
            </a:pPr>
            <a:r>
              <a:rPr lang="en-US" sz="1000" u="sng" dirty="0">
                <a:solidFill>
                  <a:srgbClr val="151617"/>
                </a:solidFill>
                <a:latin typeface="Inconsolata" pitchFamily="34" charset="0"/>
                <a:ea typeface="Inconsolata" pitchFamily="34" charset="-122"/>
                <a:cs typeface="Inconsolata"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Reddit</a:t>
            </a:r>
            <a:endParaRPr lang="en-US" sz="1000" dirty="0"/>
          </a:p>
        </p:txBody>
      </p:sp>
      <p:sp>
        <p:nvSpPr>
          <p:cNvPr id="22" name="Text 20"/>
          <p:cNvSpPr/>
          <p:nvPr/>
        </p:nvSpPr>
        <p:spPr>
          <a:xfrm>
            <a:off x="553641" y="6509861"/>
            <a:ext cx="6604754" cy="257175"/>
          </a:xfrm>
          <a:prstGeom prst="rect">
            <a:avLst/>
          </a:prstGeom>
          <a:noFill/>
          <a:ln/>
        </p:spPr>
        <p:txBody>
          <a:bodyPr wrap="none" lIns="0" tIns="0" rIns="0" bIns="0" rtlCol="0" anchor="t"/>
          <a:lstStyle/>
          <a:p>
            <a:pPr algn="l" indent="0" marL="0">
              <a:lnSpc>
                <a:spcPts val="2000"/>
              </a:lnSpc>
              <a:buNone/>
            </a:pPr>
            <a:endParaRPr lang="en-US" sz="1250" dirty="0"/>
          </a:p>
        </p:txBody>
      </p:sp>
      <p:sp>
        <p:nvSpPr>
          <p:cNvPr id="23" name="Text 21"/>
          <p:cNvSpPr/>
          <p:nvPr/>
        </p:nvSpPr>
        <p:spPr>
          <a:xfrm>
            <a:off x="7479625" y="4793933"/>
            <a:ext cx="1957983" cy="240863"/>
          </a:xfrm>
          <a:prstGeom prst="rect">
            <a:avLst/>
          </a:prstGeom>
          <a:noFill/>
          <a:ln/>
        </p:spPr>
        <p:txBody>
          <a:bodyPr wrap="none" lIns="0" tIns="0" rIns="0" bIns="0" rtlCol="0" anchor="t"/>
          <a:lstStyle/>
          <a:p>
            <a:pPr algn="l" indent="0" marL="0">
              <a:lnSpc>
                <a:spcPts val="1850"/>
              </a:lnSpc>
              <a:buNone/>
            </a:pPr>
            <a:r>
              <a:rPr lang="en-US" sz="1500" b="1" dirty="0">
                <a:solidFill>
                  <a:srgbClr val="151617"/>
                </a:solidFill>
                <a:latin typeface="Montserrat Black" pitchFamily="34" charset="0"/>
                <a:ea typeface="Montserrat Black" pitchFamily="34" charset="-122"/>
                <a:cs typeface="Montserrat Black" pitchFamily="34" charset="-120"/>
              </a:rPr>
              <a:t>Migration Strategy</a:t>
            </a:r>
            <a:endParaRPr lang="en-US" sz="1500" dirty="0"/>
          </a:p>
        </p:txBody>
      </p:sp>
      <p:sp>
        <p:nvSpPr>
          <p:cNvPr id="24" name="Text 22"/>
          <p:cNvSpPr/>
          <p:nvPr/>
        </p:nvSpPr>
        <p:spPr>
          <a:xfrm>
            <a:off x="7479625" y="5179338"/>
            <a:ext cx="128468" cy="160615"/>
          </a:xfrm>
          <a:prstGeom prst="rect">
            <a:avLst/>
          </a:prstGeom>
          <a:noFill/>
          <a:ln/>
        </p:spPr>
        <p:txBody>
          <a:bodyPr wrap="none" lIns="0" tIns="0" rIns="0" bIns="0" rtlCol="0" anchor="t"/>
          <a:lstStyle/>
          <a:p>
            <a:pPr algn="l" indent="0" marL="0">
              <a:lnSpc>
                <a:spcPts val="1600"/>
              </a:lnSpc>
              <a:buNone/>
            </a:pPr>
            <a:r>
              <a:rPr lang="en-US" sz="1000" dirty="0">
                <a:solidFill>
                  <a:srgbClr val="151617"/>
                </a:solidFill>
                <a:latin typeface="Montserrat Light" pitchFamily="34" charset="0"/>
                <a:ea typeface="Montserrat Light" pitchFamily="34" charset="-122"/>
                <a:cs typeface="Montserrat Light" pitchFamily="34" charset="-120"/>
              </a:rPr>
              <a:t>01</a:t>
            </a:r>
            <a:endParaRPr lang="en-US" sz="1000" dirty="0"/>
          </a:p>
        </p:txBody>
      </p:sp>
      <p:sp>
        <p:nvSpPr>
          <p:cNvPr id="25" name="Shape 23"/>
          <p:cNvSpPr/>
          <p:nvPr/>
        </p:nvSpPr>
        <p:spPr>
          <a:xfrm>
            <a:off x="7479625" y="5382339"/>
            <a:ext cx="6604754" cy="15240"/>
          </a:xfrm>
          <a:prstGeom prst="rect">
            <a:avLst/>
          </a:prstGeom>
          <a:solidFill>
            <a:srgbClr val="151617"/>
          </a:solidFill>
          <a:ln/>
        </p:spPr>
      </p:sp>
      <p:sp>
        <p:nvSpPr>
          <p:cNvPr id="26" name="Text 24"/>
          <p:cNvSpPr/>
          <p:nvPr/>
        </p:nvSpPr>
        <p:spPr>
          <a:xfrm>
            <a:off x="7479625" y="5476994"/>
            <a:ext cx="6604754" cy="205740"/>
          </a:xfrm>
          <a:prstGeom prst="rect">
            <a:avLst/>
          </a:prstGeom>
          <a:noFill/>
          <a:ln/>
        </p:spPr>
        <p:txBody>
          <a:bodyPr wrap="none" lIns="0" tIns="0" rIns="0" bIns="0" rtlCol="0" anchor="t"/>
          <a:lstStyle/>
          <a:p>
            <a:pPr algn="l" indent="0" marL="0">
              <a:lnSpc>
                <a:spcPts val="1600"/>
              </a:lnSpc>
              <a:buNone/>
            </a:pPr>
            <a:r>
              <a:rPr lang="en-US" sz="1000" b="1" dirty="0">
                <a:solidFill>
                  <a:srgbClr val="151617"/>
                </a:solidFill>
                <a:latin typeface="Inconsolata" pitchFamily="34" charset="0"/>
                <a:ea typeface="Inconsolata" pitchFamily="34" charset="-122"/>
                <a:cs typeface="Inconsolata" pitchFamily="34" charset="-120"/>
              </a:rPr>
              <a:t>Direct outreach</a:t>
            </a:r>
            <a:pPr algn="l" indent="0" marL="0">
              <a:lnSpc>
                <a:spcPts val="1600"/>
              </a:lnSpc>
              <a:buNone/>
            </a:pPr>
            <a:r>
              <a:rPr lang="en-US" sz="1000" dirty="0">
                <a:solidFill>
                  <a:srgbClr val="151617"/>
                </a:solidFill>
                <a:latin typeface="Inconsolata" pitchFamily="34" charset="0"/>
                <a:ea typeface="Inconsolata" pitchFamily="34" charset="-122"/>
                <a:cs typeface="Inconsolata" pitchFamily="34" charset="-120"/>
              </a:rPr>
              <a:t> to high-engagement GPT creators</a:t>
            </a:r>
            <a:endParaRPr lang="en-US" sz="1000" dirty="0"/>
          </a:p>
        </p:txBody>
      </p:sp>
      <p:sp>
        <p:nvSpPr>
          <p:cNvPr id="27" name="Text 25"/>
          <p:cNvSpPr/>
          <p:nvPr/>
        </p:nvSpPr>
        <p:spPr>
          <a:xfrm>
            <a:off x="7479625" y="5907524"/>
            <a:ext cx="128468" cy="160615"/>
          </a:xfrm>
          <a:prstGeom prst="rect">
            <a:avLst/>
          </a:prstGeom>
          <a:noFill/>
          <a:ln/>
        </p:spPr>
        <p:txBody>
          <a:bodyPr wrap="none" lIns="0" tIns="0" rIns="0" bIns="0" rtlCol="0" anchor="t"/>
          <a:lstStyle/>
          <a:p>
            <a:pPr algn="l" indent="0" marL="0">
              <a:lnSpc>
                <a:spcPts val="1600"/>
              </a:lnSpc>
              <a:buNone/>
            </a:pPr>
            <a:r>
              <a:rPr lang="en-US" sz="1000" dirty="0">
                <a:solidFill>
                  <a:srgbClr val="151617"/>
                </a:solidFill>
                <a:latin typeface="Montserrat Light" pitchFamily="34" charset="0"/>
                <a:ea typeface="Montserrat Light" pitchFamily="34" charset="-122"/>
                <a:cs typeface="Montserrat Light" pitchFamily="34" charset="-120"/>
              </a:rPr>
              <a:t>02</a:t>
            </a:r>
            <a:endParaRPr lang="en-US" sz="1000" dirty="0"/>
          </a:p>
        </p:txBody>
      </p:sp>
      <p:sp>
        <p:nvSpPr>
          <p:cNvPr id="28" name="Shape 26"/>
          <p:cNvSpPr/>
          <p:nvPr/>
        </p:nvSpPr>
        <p:spPr>
          <a:xfrm>
            <a:off x="7479625" y="6110526"/>
            <a:ext cx="6604754" cy="15240"/>
          </a:xfrm>
          <a:prstGeom prst="rect">
            <a:avLst/>
          </a:prstGeom>
          <a:solidFill>
            <a:srgbClr val="151617"/>
          </a:solidFill>
          <a:ln/>
        </p:spPr>
      </p:sp>
      <p:sp>
        <p:nvSpPr>
          <p:cNvPr id="29" name="Text 27"/>
          <p:cNvSpPr/>
          <p:nvPr/>
        </p:nvSpPr>
        <p:spPr>
          <a:xfrm>
            <a:off x="7479625" y="6205180"/>
            <a:ext cx="6604754" cy="205740"/>
          </a:xfrm>
          <a:prstGeom prst="rect">
            <a:avLst/>
          </a:prstGeom>
          <a:noFill/>
          <a:ln/>
        </p:spPr>
        <p:txBody>
          <a:bodyPr wrap="none" lIns="0" tIns="0" rIns="0" bIns="0" rtlCol="0" anchor="t"/>
          <a:lstStyle/>
          <a:p>
            <a:pPr algn="l" indent="0" marL="0">
              <a:lnSpc>
                <a:spcPts val="1600"/>
              </a:lnSpc>
              <a:buNone/>
            </a:pPr>
            <a:r>
              <a:rPr lang="en-US" sz="1000" b="1" dirty="0">
                <a:solidFill>
                  <a:srgbClr val="151617"/>
                </a:solidFill>
                <a:latin typeface="Inconsolata" pitchFamily="34" charset="0"/>
                <a:ea typeface="Inconsolata" pitchFamily="34" charset="-122"/>
                <a:cs typeface="Inconsolata" pitchFamily="34" charset="-120"/>
              </a:rPr>
              <a:t>Technical migration support</a:t>
            </a:r>
            <a:pPr algn="l" indent="0" marL="0">
              <a:lnSpc>
                <a:spcPts val="1600"/>
              </a:lnSpc>
              <a:buNone/>
            </a:pPr>
            <a:r>
              <a:rPr lang="en-US" sz="1000" dirty="0">
                <a:solidFill>
                  <a:srgbClr val="151617"/>
                </a:solidFill>
                <a:latin typeface="Inconsolata" pitchFamily="34" charset="0"/>
                <a:ea typeface="Inconsolata" pitchFamily="34" charset="-122"/>
                <a:cs typeface="Inconsolata" pitchFamily="34" charset="-120"/>
              </a:rPr>
              <a:t> - convert GPT concepts to MCP</a:t>
            </a:r>
            <a:endParaRPr lang="en-US" sz="1000" dirty="0"/>
          </a:p>
        </p:txBody>
      </p:sp>
      <p:sp>
        <p:nvSpPr>
          <p:cNvPr id="30" name="Text 28"/>
          <p:cNvSpPr/>
          <p:nvPr/>
        </p:nvSpPr>
        <p:spPr>
          <a:xfrm>
            <a:off x="7479625" y="6635710"/>
            <a:ext cx="128468" cy="160615"/>
          </a:xfrm>
          <a:prstGeom prst="rect">
            <a:avLst/>
          </a:prstGeom>
          <a:noFill/>
          <a:ln/>
        </p:spPr>
        <p:txBody>
          <a:bodyPr wrap="none" lIns="0" tIns="0" rIns="0" bIns="0" rtlCol="0" anchor="t"/>
          <a:lstStyle/>
          <a:p>
            <a:pPr algn="l" indent="0" marL="0">
              <a:lnSpc>
                <a:spcPts val="1600"/>
              </a:lnSpc>
              <a:buNone/>
            </a:pPr>
            <a:r>
              <a:rPr lang="en-US" sz="1000" dirty="0">
                <a:solidFill>
                  <a:srgbClr val="151617"/>
                </a:solidFill>
                <a:latin typeface="Montserrat Light" pitchFamily="34" charset="0"/>
                <a:ea typeface="Montserrat Light" pitchFamily="34" charset="-122"/>
                <a:cs typeface="Montserrat Light" pitchFamily="34" charset="-120"/>
              </a:rPr>
              <a:t>03</a:t>
            </a:r>
            <a:endParaRPr lang="en-US" sz="1000" dirty="0"/>
          </a:p>
        </p:txBody>
      </p:sp>
      <p:sp>
        <p:nvSpPr>
          <p:cNvPr id="31" name="Shape 29"/>
          <p:cNvSpPr/>
          <p:nvPr/>
        </p:nvSpPr>
        <p:spPr>
          <a:xfrm>
            <a:off x="7479625" y="6838712"/>
            <a:ext cx="6604754" cy="15240"/>
          </a:xfrm>
          <a:prstGeom prst="rect">
            <a:avLst/>
          </a:prstGeom>
          <a:solidFill>
            <a:srgbClr val="151617"/>
          </a:solidFill>
          <a:ln/>
        </p:spPr>
      </p:sp>
      <p:sp>
        <p:nvSpPr>
          <p:cNvPr id="32" name="Text 30"/>
          <p:cNvSpPr/>
          <p:nvPr/>
        </p:nvSpPr>
        <p:spPr>
          <a:xfrm>
            <a:off x="7479625" y="6933367"/>
            <a:ext cx="6604754" cy="205740"/>
          </a:xfrm>
          <a:prstGeom prst="rect">
            <a:avLst/>
          </a:prstGeom>
          <a:noFill/>
          <a:ln/>
        </p:spPr>
        <p:txBody>
          <a:bodyPr wrap="none" lIns="0" tIns="0" rIns="0" bIns="0" rtlCol="0" anchor="t"/>
          <a:lstStyle/>
          <a:p>
            <a:pPr algn="l" indent="0" marL="0">
              <a:lnSpc>
                <a:spcPts val="1600"/>
              </a:lnSpc>
              <a:buNone/>
            </a:pPr>
            <a:r>
              <a:rPr lang="en-US" sz="1000" b="1" dirty="0">
                <a:solidFill>
                  <a:srgbClr val="151617"/>
                </a:solidFill>
                <a:latin typeface="Inconsolata" pitchFamily="34" charset="0"/>
                <a:ea typeface="Inconsolata" pitchFamily="34" charset="-122"/>
                <a:cs typeface="Inconsolata" pitchFamily="34" charset="-120"/>
              </a:rPr>
              <a:t>Early adopter incentives</a:t>
            </a:r>
            <a:pPr algn="l" indent="0" marL="0">
              <a:lnSpc>
                <a:spcPts val="1600"/>
              </a:lnSpc>
              <a:buNone/>
            </a:pPr>
            <a:r>
              <a:rPr lang="en-US" sz="1000" dirty="0">
                <a:solidFill>
                  <a:srgbClr val="151617"/>
                </a:solidFill>
                <a:latin typeface="Inconsolata" pitchFamily="34" charset="0"/>
                <a:ea typeface="Inconsolata" pitchFamily="34" charset="-122"/>
                <a:cs typeface="Inconsolata" pitchFamily="34" charset="-120"/>
              </a:rPr>
              <a:t> - better revenue share initially</a:t>
            </a:r>
            <a:endParaRPr lang="en-US" sz="1000" dirty="0"/>
          </a:p>
        </p:txBody>
      </p:sp>
      <p:sp>
        <p:nvSpPr>
          <p:cNvPr id="33" name="Text 31"/>
          <p:cNvSpPr/>
          <p:nvPr/>
        </p:nvSpPr>
        <p:spPr>
          <a:xfrm>
            <a:off x="7479625" y="7379970"/>
            <a:ext cx="6604754" cy="205740"/>
          </a:xfrm>
          <a:prstGeom prst="rect">
            <a:avLst/>
          </a:prstGeom>
          <a:noFill/>
          <a:ln/>
        </p:spPr>
        <p:txBody>
          <a:bodyPr wrap="none" lIns="0" tIns="0" rIns="0" bIns="0" rtlCol="0" anchor="t"/>
          <a:lstStyle/>
          <a:p>
            <a:pPr algn="l" indent="0" marL="0">
              <a:lnSpc>
                <a:spcPts val="1600"/>
              </a:lnSpc>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37724"/>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151617"/>
                </a:solidFill>
                <a:latin typeface="Montserrat Black" pitchFamily="34" charset="0"/>
                <a:ea typeface="Montserrat Black" pitchFamily="34" charset="-122"/>
                <a:cs typeface="Montserrat Black" pitchFamily="34" charset="-120"/>
              </a:rPr>
              <a:t>Market Validation</a:t>
            </a:r>
            <a:endParaRPr lang="en-US" sz="4450" dirty="0"/>
          </a:p>
        </p:txBody>
      </p:sp>
      <p:sp>
        <p:nvSpPr>
          <p:cNvPr id="3" name="Text 1"/>
          <p:cNvSpPr/>
          <p:nvPr/>
        </p:nvSpPr>
        <p:spPr>
          <a:xfrm>
            <a:off x="793790" y="2113478"/>
            <a:ext cx="3048000" cy="453628"/>
          </a:xfrm>
          <a:prstGeom prst="rect">
            <a:avLst/>
          </a:prstGeom>
          <a:noFill/>
          <a:ln/>
        </p:spPr>
        <p:txBody>
          <a:bodyPr wrap="none" lIns="0" tIns="0" rIns="0" bIns="0" rtlCol="0" anchor="t"/>
          <a:lstStyle/>
          <a:p>
            <a:pPr algn="ctr" indent="0" marL="0">
              <a:lnSpc>
                <a:spcPts val="3550"/>
              </a:lnSpc>
              <a:buNone/>
            </a:pPr>
            <a:r>
              <a:rPr lang="en-US" sz="3550" b="1" dirty="0">
                <a:solidFill>
                  <a:srgbClr val="151617"/>
                </a:solidFill>
                <a:latin typeface="Montserrat Black" pitchFamily="34" charset="0"/>
                <a:ea typeface="Montserrat Black" pitchFamily="34" charset="-122"/>
                <a:cs typeface="Montserrat Black" pitchFamily="34" charset="-120"/>
              </a:rPr>
              <a:t>$12.1B</a:t>
            </a:r>
            <a:endParaRPr lang="en-US" sz="3550" dirty="0"/>
          </a:p>
        </p:txBody>
      </p:sp>
      <p:sp>
        <p:nvSpPr>
          <p:cNvPr id="4" name="Text 2"/>
          <p:cNvSpPr/>
          <p:nvPr/>
        </p:nvSpPr>
        <p:spPr>
          <a:xfrm>
            <a:off x="793790" y="2850475"/>
            <a:ext cx="3048000" cy="708660"/>
          </a:xfrm>
          <a:prstGeom prst="rect">
            <a:avLst/>
          </a:prstGeom>
          <a:noFill/>
          <a:ln/>
        </p:spPr>
        <p:txBody>
          <a:bodyPr wrap="square" lIns="0" tIns="0" rIns="0" bIns="0" rtlCol="0" anchor="t"/>
          <a:lstStyle/>
          <a:p>
            <a:pPr algn="ctr" indent="0" marL="0">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Consumer AI Market in 2025</a:t>
            </a:r>
            <a:endParaRPr lang="en-US" sz="2200" dirty="0"/>
          </a:p>
        </p:txBody>
      </p:sp>
      <p:sp>
        <p:nvSpPr>
          <p:cNvPr id="5" name="Text 3"/>
          <p:cNvSpPr/>
          <p:nvPr/>
        </p:nvSpPr>
        <p:spPr>
          <a:xfrm>
            <a:off x="793790" y="3695224"/>
            <a:ext cx="3048000" cy="1088708"/>
          </a:xfrm>
          <a:prstGeom prst="rect">
            <a:avLst/>
          </a:prstGeom>
          <a:noFill/>
          <a:ln/>
        </p:spPr>
        <p:txBody>
          <a:bodyPr wrap="square" lIns="0" tIns="0" rIns="0" bIns="0" rtlCol="0" anchor="t"/>
          <a:lstStyle/>
          <a:p>
            <a:pPr algn="ctr"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Projected market size, indicating strong user demand.</a:t>
            </a:r>
            <a:endParaRPr lang="en-US" sz="1750" dirty="0"/>
          </a:p>
        </p:txBody>
      </p:sp>
      <p:sp>
        <p:nvSpPr>
          <p:cNvPr id="6" name="Text 4"/>
          <p:cNvSpPr/>
          <p:nvPr/>
        </p:nvSpPr>
        <p:spPr>
          <a:xfrm>
            <a:off x="4125278" y="2113478"/>
            <a:ext cx="3048119" cy="453628"/>
          </a:xfrm>
          <a:prstGeom prst="rect">
            <a:avLst/>
          </a:prstGeom>
          <a:noFill/>
          <a:ln/>
        </p:spPr>
        <p:txBody>
          <a:bodyPr wrap="none" lIns="0" tIns="0" rIns="0" bIns="0" rtlCol="0" anchor="t"/>
          <a:lstStyle/>
          <a:p>
            <a:pPr algn="ctr" indent="0" marL="0">
              <a:lnSpc>
                <a:spcPts val="3550"/>
              </a:lnSpc>
              <a:buNone/>
            </a:pPr>
            <a:r>
              <a:rPr lang="en-US" sz="3550" b="1" dirty="0">
                <a:solidFill>
                  <a:srgbClr val="151617"/>
                </a:solidFill>
                <a:latin typeface="Montserrat Black" pitchFamily="34" charset="0"/>
                <a:ea typeface="Montserrat Black" pitchFamily="34" charset="-122"/>
                <a:cs typeface="Montserrat Black" pitchFamily="34" charset="-120"/>
              </a:rPr>
              <a:t>$2.4B</a:t>
            </a:r>
            <a:endParaRPr lang="en-US" sz="3550" dirty="0"/>
          </a:p>
        </p:txBody>
      </p:sp>
      <p:sp>
        <p:nvSpPr>
          <p:cNvPr id="7" name="Text 5"/>
          <p:cNvSpPr/>
          <p:nvPr/>
        </p:nvSpPr>
        <p:spPr>
          <a:xfrm>
            <a:off x="4125278" y="2850475"/>
            <a:ext cx="3048119" cy="708660"/>
          </a:xfrm>
          <a:prstGeom prst="rect">
            <a:avLst/>
          </a:prstGeom>
          <a:noFill/>
          <a:ln/>
        </p:spPr>
        <p:txBody>
          <a:bodyPr wrap="square" lIns="0" tIns="0" rIns="0" bIns="0" rtlCol="0" anchor="t"/>
          <a:lstStyle/>
          <a:p>
            <a:pPr algn="ctr" indent="0" marL="0">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Specialized Tools Segment</a:t>
            </a:r>
            <a:endParaRPr lang="en-US" sz="2200" dirty="0"/>
          </a:p>
        </p:txBody>
      </p:sp>
      <p:sp>
        <p:nvSpPr>
          <p:cNvPr id="8" name="Text 6"/>
          <p:cNvSpPr/>
          <p:nvPr/>
        </p:nvSpPr>
        <p:spPr>
          <a:xfrm>
            <a:off x="4125278" y="3695224"/>
            <a:ext cx="3048119" cy="1088708"/>
          </a:xfrm>
          <a:prstGeom prst="rect">
            <a:avLst/>
          </a:prstGeom>
          <a:noFill/>
          <a:ln/>
        </p:spPr>
        <p:txBody>
          <a:bodyPr wrap="square" lIns="0" tIns="0" rIns="0" bIns="0" rtlCol="0" anchor="t"/>
          <a:lstStyle/>
          <a:p>
            <a:pPr algn="ctr"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Portion of the consumer AI market focused on niche applications.</a:t>
            </a:r>
            <a:endParaRPr lang="en-US" sz="1750" dirty="0"/>
          </a:p>
        </p:txBody>
      </p:sp>
      <p:sp>
        <p:nvSpPr>
          <p:cNvPr id="9" name="Text 7"/>
          <p:cNvSpPr/>
          <p:nvPr/>
        </p:nvSpPr>
        <p:spPr>
          <a:xfrm>
            <a:off x="7456884" y="2113478"/>
            <a:ext cx="3048119" cy="453628"/>
          </a:xfrm>
          <a:prstGeom prst="rect">
            <a:avLst/>
          </a:prstGeom>
          <a:noFill/>
          <a:ln/>
        </p:spPr>
        <p:txBody>
          <a:bodyPr wrap="none" lIns="0" tIns="0" rIns="0" bIns="0" rtlCol="0" anchor="t"/>
          <a:lstStyle/>
          <a:p>
            <a:pPr algn="ctr" indent="0" marL="0">
              <a:lnSpc>
                <a:spcPts val="3550"/>
              </a:lnSpc>
              <a:buNone/>
            </a:pPr>
            <a:r>
              <a:rPr lang="en-US" sz="3550" b="1" dirty="0">
                <a:solidFill>
                  <a:srgbClr val="151617"/>
                </a:solidFill>
                <a:latin typeface="Montserrat Black" pitchFamily="34" charset="0"/>
                <a:ea typeface="Montserrat Black" pitchFamily="34" charset="-122"/>
                <a:cs typeface="Montserrat Black" pitchFamily="34" charset="-120"/>
              </a:rPr>
              <a:t>30%</a:t>
            </a:r>
            <a:endParaRPr lang="en-US" sz="3550" dirty="0"/>
          </a:p>
        </p:txBody>
      </p:sp>
      <p:sp>
        <p:nvSpPr>
          <p:cNvPr id="10" name="Text 8"/>
          <p:cNvSpPr/>
          <p:nvPr/>
        </p:nvSpPr>
        <p:spPr>
          <a:xfrm>
            <a:off x="7563326" y="2850475"/>
            <a:ext cx="2835235" cy="354330"/>
          </a:xfrm>
          <a:prstGeom prst="rect">
            <a:avLst/>
          </a:prstGeom>
          <a:noFill/>
          <a:ln/>
        </p:spPr>
        <p:txBody>
          <a:bodyPr wrap="none" lIns="0" tIns="0" rIns="0" bIns="0" rtlCol="0" anchor="t"/>
          <a:lstStyle/>
          <a:p>
            <a:pPr algn="ctr" indent="0" marL="0">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AI Market CAGR</a:t>
            </a:r>
            <a:endParaRPr lang="en-US" sz="2200" dirty="0"/>
          </a:p>
        </p:txBody>
      </p:sp>
      <p:sp>
        <p:nvSpPr>
          <p:cNvPr id="11" name="Text 9"/>
          <p:cNvSpPr/>
          <p:nvPr/>
        </p:nvSpPr>
        <p:spPr>
          <a:xfrm>
            <a:off x="7456884" y="3340894"/>
            <a:ext cx="3048119" cy="1088708"/>
          </a:xfrm>
          <a:prstGeom prst="rect">
            <a:avLst/>
          </a:prstGeom>
          <a:noFill/>
          <a:ln/>
        </p:spPr>
        <p:txBody>
          <a:bodyPr wrap="square" lIns="0" tIns="0" rIns="0" bIns="0" rtlCol="0" anchor="t"/>
          <a:lstStyle/>
          <a:p>
            <a:pPr algn="ctr"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Consistent annual growth rate across the broader AI industry.</a:t>
            </a:r>
            <a:endParaRPr lang="en-US" sz="1750" dirty="0"/>
          </a:p>
        </p:txBody>
      </p:sp>
      <p:sp>
        <p:nvSpPr>
          <p:cNvPr id="12" name="Text 10"/>
          <p:cNvSpPr/>
          <p:nvPr/>
        </p:nvSpPr>
        <p:spPr>
          <a:xfrm>
            <a:off x="10788491" y="2113478"/>
            <a:ext cx="3048119" cy="453628"/>
          </a:xfrm>
          <a:prstGeom prst="rect">
            <a:avLst/>
          </a:prstGeom>
          <a:noFill/>
          <a:ln/>
        </p:spPr>
        <p:txBody>
          <a:bodyPr wrap="none" lIns="0" tIns="0" rIns="0" bIns="0" rtlCol="0" anchor="t"/>
          <a:lstStyle/>
          <a:p>
            <a:pPr algn="ctr" indent="0" marL="0">
              <a:lnSpc>
                <a:spcPts val="3550"/>
              </a:lnSpc>
              <a:buNone/>
            </a:pPr>
            <a:r>
              <a:rPr lang="en-US" sz="3550" b="1" dirty="0">
                <a:solidFill>
                  <a:srgbClr val="151617"/>
                </a:solidFill>
                <a:latin typeface="Montserrat Black" pitchFamily="34" charset="0"/>
                <a:ea typeface="Montserrat Black" pitchFamily="34" charset="-122"/>
                <a:cs typeface="Montserrat Black" pitchFamily="34" charset="-120"/>
              </a:rPr>
              <a:t>3.5%</a:t>
            </a:r>
            <a:endParaRPr lang="en-US" sz="3550" dirty="0"/>
          </a:p>
        </p:txBody>
      </p:sp>
      <p:sp>
        <p:nvSpPr>
          <p:cNvPr id="13" name="Text 11"/>
          <p:cNvSpPr/>
          <p:nvPr/>
        </p:nvSpPr>
        <p:spPr>
          <a:xfrm>
            <a:off x="10788491" y="2850475"/>
            <a:ext cx="3048119" cy="708660"/>
          </a:xfrm>
          <a:prstGeom prst="rect">
            <a:avLst/>
          </a:prstGeom>
          <a:noFill/>
          <a:ln/>
        </p:spPr>
        <p:txBody>
          <a:bodyPr wrap="square" lIns="0" tIns="0" rIns="0" bIns="0" rtlCol="0" anchor="t"/>
          <a:lstStyle/>
          <a:p>
            <a:pPr algn="ctr" indent="0" marL="0">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Freemium Conversion Rate</a:t>
            </a:r>
            <a:endParaRPr lang="en-US" sz="2200" dirty="0"/>
          </a:p>
        </p:txBody>
      </p:sp>
      <p:sp>
        <p:nvSpPr>
          <p:cNvPr id="14" name="Text 12"/>
          <p:cNvSpPr/>
          <p:nvPr/>
        </p:nvSpPr>
        <p:spPr>
          <a:xfrm>
            <a:off x="10788491" y="3695224"/>
            <a:ext cx="3048119" cy="1088708"/>
          </a:xfrm>
          <a:prstGeom prst="rect">
            <a:avLst/>
          </a:prstGeom>
          <a:noFill/>
          <a:ln/>
        </p:spPr>
        <p:txBody>
          <a:bodyPr wrap="square" lIns="0" tIns="0" rIns="0" bIns="0" rtlCol="0" anchor="t"/>
          <a:lstStyle/>
          <a:p>
            <a:pPr algn="ctr"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Average conversion for SaaS, validating our monetization strategy.</a:t>
            </a:r>
            <a:endParaRPr lang="en-US" sz="1750" dirty="0"/>
          </a:p>
        </p:txBody>
      </p:sp>
      <p:sp>
        <p:nvSpPr>
          <p:cNvPr id="15" name="Text 13"/>
          <p:cNvSpPr/>
          <p:nvPr/>
        </p:nvSpPr>
        <p:spPr>
          <a:xfrm>
            <a:off x="793790" y="5152430"/>
            <a:ext cx="4158615" cy="748427"/>
          </a:xfrm>
          <a:prstGeom prst="rect">
            <a:avLst/>
          </a:prstGeom>
          <a:noFill/>
          <a:ln/>
        </p:spPr>
        <p:txBody>
          <a:bodyPr wrap="none" lIns="0" tIns="0" rIns="0" bIns="0" rtlCol="0" anchor="t"/>
          <a:lstStyle/>
          <a:p>
            <a:pPr algn="ctr" indent="0" marL="0">
              <a:lnSpc>
                <a:spcPts val="5850"/>
              </a:lnSpc>
              <a:buNone/>
            </a:pPr>
            <a:r>
              <a:rPr lang="en-US" sz="5850" b="1" dirty="0">
                <a:solidFill>
                  <a:srgbClr val="151617"/>
                </a:solidFill>
                <a:latin typeface="Montserrat Black" pitchFamily="34" charset="0"/>
                <a:ea typeface="Montserrat Black" pitchFamily="34" charset="-122"/>
                <a:cs typeface="Montserrat Black" pitchFamily="34" charset="-120"/>
              </a:rPr>
              <a:t>$44B</a:t>
            </a:r>
            <a:endParaRPr lang="en-US" sz="5850" dirty="0"/>
          </a:p>
        </p:txBody>
      </p:sp>
      <p:sp>
        <p:nvSpPr>
          <p:cNvPr id="16" name="Text 14"/>
          <p:cNvSpPr/>
          <p:nvPr/>
        </p:nvSpPr>
        <p:spPr>
          <a:xfrm>
            <a:off x="793790" y="6184225"/>
            <a:ext cx="4158615" cy="708660"/>
          </a:xfrm>
          <a:prstGeom prst="rect">
            <a:avLst/>
          </a:prstGeom>
          <a:noFill/>
          <a:ln/>
        </p:spPr>
        <p:txBody>
          <a:bodyPr wrap="square" lIns="0" tIns="0" rIns="0" bIns="0" rtlCol="0" anchor="t"/>
          <a:lstStyle/>
          <a:p>
            <a:pPr algn="ctr" indent="0" marL="0">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Total Addressable Market (TAM)</a:t>
            </a:r>
            <a:endParaRPr lang="en-US" sz="2200" dirty="0"/>
          </a:p>
        </p:txBody>
      </p:sp>
      <p:sp>
        <p:nvSpPr>
          <p:cNvPr id="17" name="Text 15"/>
          <p:cNvSpPr/>
          <p:nvPr/>
        </p:nvSpPr>
        <p:spPr>
          <a:xfrm>
            <a:off x="793790" y="7028974"/>
            <a:ext cx="4158615" cy="362903"/>
          </a:xfrm>
          <a:prstGeom prst="rect">
            <a:avLst/>
          </a:prstGeom>
          <a:noFill/>
          <a:ln/>
        </p:spPr>
        <p:txBody>
          <a:bodyPr wrap="none" lIns="0" tIns="0" rIns="0" bIns="0" rtlCol="0" anchor="t"/>
          <a:lstStyle/>
          <a:p>
            <a:pPr algn="ctr"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Consumer AI Market by 2030</a:t>
            </a:r>
            <a:endParaRPr lang="en-US" sz="1750" dirty="0"/>
          </a:p>
        </p:txBody>
      </p:sp>
      <p:sp>
        <p:nvSpPr>
          <p:cNvPr id="18" name="Text 16"/>
          <p:cNvSpPr/>
          <p:nvPr/>
        </p:nvSpPr>
        <p:spPr>
          <a:xfrm>
            <a:off x="5235893" y="5152430"/>
            <a:ext cx="4158615" cy="748427"/>
          </a:xfrm>
          <a:prstGeom prst="rect">
            <a:avLst/>
          </a:prstGeom>
          <a:noFill/>
          <a:ln/>
        </p:spPr>
        <p:txBody>
          <a:bodyPr wrap="none" lIns="0" tIns="0" rIns="0" bIns="0" rtlCol="0" anchor="t"/>
          <a:lstStyle/>
          <a:p>
            <a:pPr algn="ctr" indent="0" marL="0">
              <a:lnSpc>
                <a:spcPts val="5850"/>
              </a:lnSpc>
              <a:buNone/>
            </a:pPr>
            <a:r>
              <a:rPr lang="en-US" sz="5850" b="1" dirty="0">
                <a:solidFill>
                  <a:srgbClr val="151617"/>
                </a:solidFill>
                <a:latin typeface="Montserrat Black" pitchFamily="34" charset="0"/>
                <a:ea typeface="Montserrat Black" pitchFamily="34" charset="-122"/>
                <a:cs typeface="Montserrat Black" pitchFamily="34" charset="-120"/>
              </a:rPr>
              <a:t>$8.8B</a:t>
            </a:r>
            <a:endParaRPr lang="en-US" sz="5850" dirty="0"/>
          </a:p>
        </p:txBody>
      </p:sp>
      <p:sp>
        <p:nvSpPr>
          <p:cNvPr id="19" name="Text 17"/>
          <p:cNvSpPr/>
          <p:nvPr/>
        </p:nvSpPr>
        <p:spPr>
          <a:xfrm>
            <a:off x="5235893" y="6184225"/>
            <a:ext cx="4158615" cy="708660"/>
          </a:xfrm>
          <a:prstGeom prst="rect">
            <a:avLst/>
          </a:prstGeom>
          <a:noFill/>
          <a:ln/>
        </p:spPr>
        <p:txBody>
          <a:bodyPr wrap="square" lIns="0" tIns="0" rIns="0" bIns="0" rtlCol="0" anchor="t"/>
          <a:lstStyle/>
          <a:p>
            <a:pPr algn="ctr" indent="0" marL="0">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Serviceable Available Market (SAM)</a:t>
            </a:r>
            <a:endParaRPr lang="en-US" sz="2200" dirty="0"/>
          </a:p>
        </p:txBody>
      </p:sp>
      <p:sp>
        <p:nvSpPr>
          <p:cNvPr id="20" name="Text 18"/>
          <p:cNvSpPr/>
          <p:nvPr/>
        </p:nvSpPr>
        <p:spPr>
          <a:xfrm>
            <a:off x="5235893" y="7028974"/>
            <a:ext cx="4158615" cy="362903"/>
          </a:xfrm>
          <a:prstGeom prst="rect">
            <a:avLst/>
          </a:prstGeom>
          <a:noFill/>
          <a:ln/>
        </p:spPr>
        <p:txBody>
          <a:bodyPr wrap="none" lIns="0" tIns="0" rIns="0" bIns="0" rtlCol="0" anchor="t"/>
          <a:lstStyle/>
          <a:p>
            <a:pPr algn="ctr"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Specialized AI Tools Market by 2030</a:t>
            </a:r>
            <a:endParaRPr lang="en-US" sz="1750" dirty="0"/>
          </a:p>
        </p:txBody>
      </p:sp>
      <p:sp>
        <p:nvSpPr>
          <p:cNvPr id="21" name="Text 19"/>
          <p:cNvSpPr/>
          <p:nvPr/>
        </p:nvSpPr>
        <p:spPr>
          <a:xfrm>
            <a:off x="9677995" y="5152430"/>
            <a:ext cx="4158615" cy="748427"/>
          </a:xfrm>
          <a:prstGeom prst="rect">
            <a:avLst/>
          </a:prstGeom>
          <a:noFill/>
          <a:ln/>
        </p:spPr>
        <p:txBody>
          <a:bodyPr wrap="none" lIns="0" tIns="0" rIns="0" bIns="0" rtlCol="0" anchor="t"/>
          <a:lstStyle/>
          <a:p>
            <a:pPr algn="ctr" indent="0" marL="0">
              <a:lnSpc>
                <a:spcPts val="5850"/>
              </a:lnSpc>
              <a:buNone/>
            </a:pPr>
            <a:r>
              <a:rPr lang="en-US" sz="5850" b="1" dirty="0">
                <a:solidFill>
                  <a:srgbClr val="151617"/>
                </a:solidFill>
                <a:latin typeface="Montserrat Black" pitchFamily="34" charset="0"/>
                <a:ea typeface="Montserrat Black" pitchFamily="34" charset="-122"/>
                <a:cs typeface="Montserrat Black" pitchFamily="34" charset="-120"/>
              </a:rPr>
              <a:t>$30M</a:t>
            </a:r>
            <a:endParaRPr lang="en-US" sz="5850" dirty="0"/>
          </a:p>
        </p:txBody>
      </p:sp>
      <p:sp>
        <p:nvSpPr>
          <p:cNvPr id="22" name="Text 20"/>
          <p:cNvSpPr/>
          <p:nvPr/>
        </p:nvSpPr>
        <p:spPr>
          <a:xfrm>
            <a:off x="9677995" y="6184225"/>
            <a:ext cx="4158615" cy="708660"/>
          </a:xfrm>
          <a:prstGeom prst="rect">
            <a:avLst/>
          </a:prstGeom>
          <a:noFill/>
          <a:ln/>
        </p:spPr>
        <p:txBody>
          <a:bodyPr wrap="square" lIns="0" tIns="0" rIns="0" bIns="0" rtlCol="0" anchor="t"/>
          <a:lstStyle/>
          <a:p>
            <a:pPr algn="ctr" indent="0" marL="0">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Serviceable Obtainable Market (SOM)</a:t>
            </a:r>
            <a:endParaRPr lang="en-US" sz="2200" dirty="0"/>
          </a:p>
        </p:txBody>
      </p:sp>
      <p:sp>
        <p:nvSpPr>
          <p:cNvPr id="23" name="Text 21"/>
          <p:cNvSpPr/>
          <p:nvPr/>
        </p:nvSpPr>
        <p:spPr>
          <a:xfrm>
            <a:off x="9677995" y="7028974"/>
            <a:ext cx="4158615" cy="362903"/>
          </a:xfrm>
          <a:prstGeom prst="rect">
            <a:avLst/>
          </a:prstGeom>
          <a:noFill/>
          <a:ln/>
        </p:spPr>
        <p:txBody>
          <a:bodyPr wrap="none" lIns="0" tIns="0" rIns="0" bIns="0" rtlCol="0" anchor="t"/>
          <a:lstStyle/>
          <a:p>
            <a:pPr algn="ctr"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Nexus Annual Revenue by 2030</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6628" y="781169"/>
            <a:ext cx="2762131" cy="234553"/>
          </a:xfrm>
          <a:prstGeom prst="rect">
            <a:avLst/>
          </a:prstGeom>
          <a:noFill/>
          <a:ln/>
        </p:spPr>
        <p:txBody>
          <a:bodyPr wrap="none" lIns="0" tIns="0" rIns="0" bIns="0" rtlCol="0" anchor="t"/>
          <a:lstStyle/>
          <a:p>
            <a:pPr algn="l" indent="0" marL="0">
              <a:lnSpc>
                <a:spcPts val="1800"/>
              </a:lnSpc>
              <a:buNone/>
            </a:pPr>
            <a:r>
              <a:rPr lang="en-US" sz="1450" b="1" dirty="0">
                <a:solidFill>
                  <a:srgbClr val="151617"/>
                </a:solidFill>
                <a:latin typeface="Montserrat Black" pitchFamily="34" charset="0"/>
                <a:ea typeface="Montserrat Black" pitchFamily="34" charset="-122"/>
                <a:cs typeface="Montserrat Black" pitchFamily="34" charset="-120"/>
              </a:rPr>
              <a:t>Key Assumptions (by 2030)</a:t>
            </a:r>
            <a:endParaRPr lang="en-US" sz="1450" dirty="0"/>
          </a:p>
        </p:txBody>
      </p:sp>
      <p:sp>
        <p:nvSpPr>
          <p:cNvPr id="3" name="Shape 1"/>
          <p:cNvSpPr/>
          <p:nvPr/>
        </p:nvSpPr>
        <p:spPr>
          <a:xfrm>
            <a:off x="646628" y="1541026"/>
            <a:ext cx="6593562" cy="780693"/>
          </a:xfrm>
          <a:prstGeom prst="roundRect">
            <a:avLst>
              <a:gd name="adj" fmla="val 9370"/>
            </a:avLst>
          </a:prstGeom>
          <a:solidFill>
            <a:srgbClr val="F8ECE4"/>
          </a:solidFill>
          <a:ln/>
          <a:effectLst>
            <a:outerShdw sx="100000" sy="100000" kx="0" ky="0" algn="bl" rotWithShape="0" blurRad="0" dist="13970" dir="2700000">
              <a:srgbClr val="151617">
                <a:alpha val="100000"/>
              </a:srgbClr>
            </a:outerShdw>
          </a:effectLst>
        </p:spPr>
      </p:sp>
      <p:sp>
        <p:nvSpPr>
          <p:cNvPr id="4" name="Shape 2"/>
          <p:cNvSpPr/>
          <p:nvPr/>
        </p:nvSpPr>
        <p:spPr>
          <a:xfrm>
            <a:off x="646628" y="1525786"/>
            <a:ext cx="6593562" cy="60960"/>
          </a:xfrm>
          <a:prstGeom prst="roundRect">
            <a:avLst>
              <a:gd name="adj" fmla="val 15000"/>
            </a:avLst>
          </a:prstGeom>
          <a:solidFill>
            <a:srgbClr val="151617"/>
          </a:solidFill>
          <a:ln/>
        </p:spPr>
      </p:sp>
      <p:sp>
        <p:nvSpPr>
          <p:cNvPr id="5" name="Shape 3"/>
          <p:cNvSpPr/>
          <p:nvPr/>
        </p:nvSpPr>
        <p:spPr>
          <a:xfrm>
            <a:off x="3718203" y="1315879"/>
            <a:ext cx="450294" cy="450294"/>
          </a:xfrm>
          <a:prstGeom prst="roundRect">
            <a:avLst>
              <a:gd name="adj" fmla="val 203067"/>
            </a:avLst>
          </a:prstGeom>
          <a:solidFill>
            <a:srgbClr val="151617"/>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53220" y="1450896"/>
            <a:ext cx="180142" cy="180142"/>
          </a:xfrm>
          <a:prstGeom prst="rect">
            <a:avLst/>
          </a:prstGeom>
        </p:spPr>
      </p:pic>
      <p:sp>
        <p:nvSpPr>
          <p:cNvPr id="7" name="Text 4"/>
          <p:cNvSpPr/>
          <p:nvPr/>
        </p:nvSpPr>
        <p:spPr>
          <a:xfrm>
            <a:off x="811887" y="1916311"/>
            <a:ext cx="6263045" cy="240149"/>
          </a:xfrm>
          <a:prstGeom prst="rect">
            <a:avLst/>
          </a:prstGeom>
          <a:noFill/>
          <a:ln/>
        </p:spPr>
        <p:txBody>
          <a:bodyPr wrap="none" lIns="0" tIns="0" rIns="0" bIns="0" rtlCol="0" anchor="t"/>
          <a:lstStyle/>
          <a:p>
            <a:pPr algn="l" indent="0" marL="0">
              <a:lnSpc>
                <a:spcPts val="1850"/>
              </a:lnSpc>
              <a:buNone/>
            </a:pPr>
            <a:r>
              <a:rPr lang="en-US" sz="1150" dirty="0">
                <a:solidFill>
                  <a:srgbClr val="151617"/>
                </a:solidFill>
                <a:latin typeface="Inconsolata" pitchFamily="34" charset="0"/>
                <a:ea typeface="Inconsolata" pitchFamily="34" charset="-122"/>
                <a:cs typeface="Inconsolata" pitchFamily="34" charset="-120"/>
              </a:rPr>
              <a:t>Targeting </a:t>
            </a:r>
            <a:pPr algn="l" indent="0" marL="0">
              <a:lnSpc>
                <a:spcPts val="1850"/>
              </a:lnSpc>
              <a:buNone/>
            </a:pPr>
            <a:r>
              <a:rPr lang="en-US" sz="1150" b="1" dirty="0">
                <a:solidFill>
                  <a:srgbClr val="151617"/>
                </a:solidFill>
                <a:latin typeface="Inconsolata" pitchFamily="34" charset="0"/>
                <a:ea typeface="Inconsolata" pitchFamily="34" charset="-122"/>
                <a:cs typeface="Inconsolata" pitchFamily="34" charset="-120"/>
              </a:rPr>
              <a:t>0.5% of 1.8B AI MAU</a:t>
            </a:r>
            <a:pPr algn="l" indent="0" marL="0">
              <a:lnSpc>
                <a:spcPts val="1850"/>
              </a:lnSpc>
              <a:buNone/>
            </a:pPr>
            <a:r>
              <a:rPr lang="en-US" sz="1150" dirty="0">
                <a:solidFill>
                  <a:srgbClr val="151617"/>
                </a:solidFill>
                <a:latin typeface="Inconsolata" pitchFamily="34" charset="0"/>
                <a:ea typeface="Inconsolata" pitchFamily="34" charset="-122"/>
                <a:cs typeface="Inconsolata" pitchFamily="34" charset="-120"/>
              </a:rPr>
              <a:t>, equalling </a:t>
            </a:r>
            <a:pPr algn="l" indent="0" marL="0">
              <a:lnSpc>
                <a:spcPts val="1850"/>
              </a:lnSpc>
              <a:buNone/>
            </a:pPr>
            <a:r>
              <a:rPr lang="en-US" sz="1150" b="1" dirty="0">
                <a:solidFill>
                  <a:srgbClr val="151617"/>
                </a:solidFill>
                <a:latin typeface="Inconsolata" pitchFamily="34" charset="0"/>
                <a:ea typeface="Inconsolata" pitchFamily="34" charset="-122"/>
                <a:cs typeface="Inconsolata" pitchFamily="34" charset="-120"/>
              </a:rPr>
              <a:t>9 Million users</a:t>
            </a:r>
            <a:pPr algn="l" indent="0" marL="0">
              <a:lnSpc>
                <a:spcPts val="1850"/>
              </a:lnSpc>
              <a:buNone/>
            </a:pPr>
            <a:r>
              <a:rPr lang="en-US" sz="1150" dirty="0">
                <a:solidFill>
                  <a:srgbClr val="151617"/>
                </a:solidFill>
                <a:latin typeface="Inconsolata" pitchFamily="34" charset="0"/>
                <a:ea typeface="Inconsolata" pitchFamily="34" charset="-122"/>
                <a:cs typeface="Inconsolata" pitchFamily="34" charset="-120"/>
              </a:rPr>
              <a:t> on Nexus</a:t>
            </a:r>
            <a:endParaRPr lang="en-US" sz="1150" dirty="0"/>
          </a:p>
        </p:txBody>
      </p:sp>
      <p:sp>
        <p:nvSpPr>
          <p:cNvPr id="8" name="Shape 5"/>
          <p:cNvSpPr/>
          <p:nvPr/>
        </p:nvSpPr>
        <p:spPr>
          <a:xfrm>
            <a:off x="7390209" y="1541026"/>
            <a:ext cx="6593562" cy="780693"/>
          </a:xfrm>
          <a:prstGeom prst="roundRect">
            <a:avLst>
              <a:gd name="adj" fmla="val 9370"/>
            </a:avLst>
          </a:prstGeom>
          <a:solidFill>
            <a:srgbClr val="F8ECE4"/>
          </a:solidFill>
          <a:ln/>
          <a:effectLst>
            <a:outerShdw sx="100000" sy="100000" kx="0" ky="0" algn="bl" rotWithShape="0" blurRad="0" dist="13970" dir="2700000">
              <a:srgbClr val="151617">
                <a:alpha val="100000"/>
              </a:srgbClr>
            </a:outerShdw>
          </a:effectLst>
        </p:spPr>
      </p:sp>
      <p:sp>
        <p:nvSpPr>
          <p:cNvPr id="9" name="Shape 6"/>
          <p:cNvSpPr/>
          <p:nvPr/>
        </p:nvSpPr>
        <p:spPr>
          <a:xfrm>
            <a:off x="7390209" y="1525786"/>
            <a:ext cx="6593562" cy="60960"/>
          </a:xfrm>
          <a:prstGeom prst="roundRect">
            <a:avLst>
              <a:gd name="adj" fmla="val 15000"/>
            </a:avLst>
          </a:prstGeom>
          <a:solidFill>
            <a:srgbClr val="151617"/>
          </a:solidFill>
          <a:ln/>
        </p:spPr>
      </p:sp>
      <p:sp>
        <p:nvSpPr>
          <p:cNvPr id="10" name="Shape 7"/>
          <p:cNvSpPr/>
          <p:nvPr/>
        </p:nvSpPr>
        <p:spPr>
          <a:xfrm>
            <a:off x="10461784" y="1315879"/>
            <a:ext cx="450294" cy="450294"/>
          </a:xfrm>
          <a:prstGeom prst="roundRect">
            <a:avLst>
              <a:gd name="adj" fmla="val 203067"/>
            </a:avLst>
          </a:prstGeom>
          <a:solidFill>
            <a:srgbClr val="151617"/>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96801" y="1450896"/>
            <a:ext cx="180142" cy="180142"/>
          </a:xfrm>
          <a:prstGeom prst="rect">
            <a:avLst/>
          </a:prstGeom>
        </p:spPr>
      </p:pic>
      <p:sp>
        <p:nvSpPr>
          <p:cNvPr id="12" name="Text 8"/>
          <p:cNvSpPr/>
          <p:nvPr/>
        </p:nvSpPr>
        <p:spPr>
          <a:xfrm>
            <a:off x="7555468" y="1916311"/>
            <a:ext cx="6263045" cy="240149"/>
          </a:xfrm>
          <a:prstGeom prst="rect">
            <a:avLst/>
          </a:prstGeom>
          <a:noFill/>
          <a:ln/>
        </p:spPr>
        <p:txBody>
          <a:bodyPr wrap="none" lIns="0" tIns="0" rIns="0" bIns="0" rtlCol="0" anchor="t"/>
          <a:lstStyle/>
          <a:p>
            <a:pPr algn="l" indent="0" marL="0">
              <a:lnSpc>
                <a:spcPts val="1850"/>
              </a:lnSpc>
              <a:buNone/>
            </a:pPr>
            <a:r>
              <a:rPr lang="en-US" sz="1150" b="1" dirty="0">
                <a:solidFill>
                  <a:srgbClr val="151617"/>
                </a:solidFill>
                <a:latin typeface="Inconsolata" pitchFamily="34" charset="0"/>
                <a:ea typeface="Inconsolata" pitchFamily="34" charset="-122"/>
                <a:cs typeface="Inconsolata" pitchFamily="34" charset="-120"/>
              </a:rPr>
              <a:t>3% conversion</a:t>
            </a:r>
            <a:pPr algn="l" indent="0" marL="0">
              <a:lnSpc>
                <a:spcPts val="1850"/>
              </a:lnSpc>
              <a:buNone/>
            </a:pPr>
            <a:r>
              <a:rPr lang="en-US" sz="1150" dirty="0">
                <a:solidFill>
                  <a:srgbClr val="151617"/>
                </a:solidFill>
                <a:latin typeface="Inconsolata" pitchFamily="34" charset="0"/>
                <a:ea typeface="Inconsolata" pitchFamily="34" charset="-122"/>
                <a:cs typeface="Inconsolata" pitchFamily="34" charset="-120"/>
              </a:rPr>
              <a:t> to paying users with an </a:t>
            </a:r>
            <a:pPr algn="l" indent="0" marL="0">
              <a:lnSpc>
                <a:spcPts val="1850"/>
              </a:lnSpc>
              <a:buNone/>
            </a:pPr>
            <a:r>
              <a:rPr lang="en-US" sz="1150" b="1" dirty="0">
                <a:solidFill>
                  <a:srgbClr val="151617"/>
                </a:solidFill>
                <a:latin typeface="Inconsolata" pitchFamily="34" charset="0"/>
                <a:ea typeface="Inconsolata" pitchFamily="34" charset="-122"/>
                <a:cs typeface="Inconsolata" pitchFamily="34" charset="-120"/>
              </a:rPr>
              <a:t>ARPU of $250</a:t>
            </a:r>
            <a:endParaRPr lang="en-US" sz="1150" dirty="0"/>
          </a:p>
        </p:txBody>
      </p:sp>
      <p:sp>
        <p:nvSpPr>
          <p:cNvPr id="13" name="Shape 9"/>
          <p:cNvSpPr/>
          <p:nvPr/>
        </p:nvSpPr>
        <p:spPr>
          <a:xfrm>
            <a:off x="646628" y="2696885"/>
            <a:ext cx="6593562" cy="780693"/>
          </a:xfrm>
          <a:prstGeom prst="roundRect">
            <a:avLst>
              <a:gd name="adj" fmla="val 9370"/>
            </a:avLst>
          </a:prstGeom>
          <a:solidFill>
            <a:srgbClr val="F8ECE4"/>
          </a:solidFill>
          <a:ln/>
          <a:effectLst>
            <a:outerShdw sx="100000" sy="100000" kx="0" ky="0" algn="bl" rotWithShape="0" blurRad="0" dist="13970" dir="2700000">
              <a:srgbClr val="151617">
                <a:alpha val="100000"/>
              </a:srgbClr>
            </a:outerShdw>
          </a:effectLst>
        </p:spPr>
      </p:sp>
      <p:sp>
        <p:nvSpPr>
          <p:cNvPr id="14" name="Shape 10"/>
          <p:cNvSpPr/>
          <p:nvPr/>
        </p:nvSpPr>
        <p:spPr>
          <a:xfrm>
            <a:off x="646628" y="2681645"/>
            <a:ext cx="6593562" cy="60960"/>
          </a:xfrm>
          <a:prstGeom prst="roundRect">
            <a:avLst>
              <a:gd name="adj" fmla="val 15000"/>
            </a:avLst>
          </a:prstGeom>
          <a:solidFill>
            <a:srgbClr val="151617"/>
          </a:solidFill>
          <a:ln/>
        </p:spPr>
      </p:sp>
      <p:sp>
        <p:nvSpPr>
          <p:cNvPr id="15" name="Shape 11"/>
          <p:cNvSpPr/>
          <p:nvPr/>
        </p:nvSpPr>
        <p:spPr>
          <a:xfrm>
            <a:off x="3718203" y="2471738"/>
            <a:ext cx="450294" cy="450294"/>
          </a:xfrm>
          <a:prstGeom prst="roundRect">
            <a:avLst>
              <a:gd name="adj" fmla="val 203067"/>
            </a:avLst>
          </a:prstGeom>
          <a:solidFill>
            <a:srgbClr val="151617"/>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53220" y="2606754"/>
            <a:ext cx="180142" cy="180142"/>
          </a:xfrm>
          <a:prstGeom prst="rect">
            <a:avLst/>
          </a:prstGeom>
        </p:spPr>
      </p:pic>
      <p:sp>
        <p:nvSpPr>
          <p:cNvPr id="17" name="Text 12"/>
          <p:cNvSpPr/>
          <p:nvPr/>
        </p:nvSpPr>
        <p:spPr>
          <a:xfrm>
            <a:off x="811887" y="3072170"/>
            <a:ext cx="6263045" cy="240149"/>
          </a:xfrm>
          <a:prstGeom prst="rect">
            <a:avLst/>
          </a:prstGeom>
          <a:noFill/>
          <a:ln/>
        </p:spPr>
        <p:txBody>
          <a:bodyPr wrap="none" lIns="0" tIns="0" rIns="0" bIns="0" rtlCol="0" anchor="t"/>
          <a:lstStyle/>
          <a:p>
            <a:pPr algn="l" indent="0" marL="0">
              <a:lnSpc>
                <a:spcPts val="1850"/>
              </a:lnSpc>
              <a:buNone/>
            </a:pPr>
            <a:r>
              <a:rPr lang="en-US" sz="1150" b="1" dirty="0">
                <a:solidFill>
                  <a:srgbClr val="151617"/>
                </a:solidFill>
                <a:latin typeface="Inconsolata" pitchFamily="34" charset="0"/>
                <a:ea typeface="Inconsolata" pitchFamily="34" charset="-122"/>
                <a:cs typeface="Inconsolata" pitchFamily="34" charset="-120"/>
              </a:rPr>
              <a:t>15% take rate</a:t>
            </a:r>
            <a:pPr algn="l" indent="0" marL="0">
              <a:lnSpc>
                <a:spcPts val="1850"/>
              </a:lnSpc>
              <a:buNone/>
            </a:pPr>
            <a:r>
              <a:rPr lang="en-US" sz="1150" dirty="0">
                <a:solidFill>
                  <a:srgbClr val="151617"/>
                </a:solidFill>
                <a:latin typeface="Inconsolata" pitchFamily="34" charset="0"/>
                <a:ea typeface="Inconsolata" pitchFamily="34" charset="-122"/>
                <a:cs typeface="Inconsolata" pitchFamily="34" charset="-120"/>
              </a:rPr>
              <a:t> on App Store transactions</a:t>
            </a:r>
            <a:endParaRPr lang="en-US" sz="1150" dirty="0"/>
          </a:p>
        </p:txBody>
      </p:sp>
      <p:sp>
        <p:nvSpPr>
          <p:cNvPr id="18" name="Shape 13"/>
          <p:cNvSpPr/>
          <p:nvPr/>
        </p:nvSpPr>
        <p:spPr>
          <a:xfrm>
            <a:off x="7390209" y="2696885"/>
            <a:ext cx="6593562" cy="780693"/>
          </a:xfrm>
          <a:prstGeom prst="roundRect">
            <a:avLst>
              <a:gd name="adj" fmla="val 9370"/>
            </a:avLst>
          </a:prstGeom>
          <a:solidFill>
            <a:srgbClr val="F8ECE4"/>
          </a:solidFill>
          <a:ln/>
          <a:effectLst>
            <a:outerShdw sx="100000" sy="100000" kx="0" ky="0" algn="bl" rotWithShape="0" blurRad="0" dist="13970" dir="2700000">
              <a:srgbClr val="151617">
                <a:alpha val="100000"/>
              </a:srgbClr>
            </a:outerShdw>
          </a:effectLst>
        </p:spPr>
      </p:sp>
      <p:sp>
        <p:nvSpPr>
          <p:cNvPr id="19" name="Shape 14"/>
          <p:cNvSpPr/>
          <p:nvPr/>
        </p:nvSpPr>
        <p:spPr>
          <a:xfrm>
            <a:off x="7390209" y="2681645"/>
            <a:ext cx="6593562" cy="60960"/>
          </a:xfrm>
          <a:prstGeom prst="roundRect">
            <a:avLst>
              <a:gd name="adj" fmla="val 15000"/>
            </a:avLst>
          </a:prstGeom>
          <a:solidFill>
            <a:srgbClr val="151617"/>
          </a:solidFill>
          <a:ln/>
        </p:spPr>
      </p:sp>
      <p:sp>
        <p:nvSpPr>
          <p:cNvPr id="20" name="Shape 15"/>
          <p:cNvSpPr/>
          <p:nvPr/>
        </p:nvSpPr>
        <p:spPr>
          <a:xfrm>
            <a:off x="10461784" y="2471738"/>
            <a:ext cx="450294" cy="450294"/>
          </a:xfrm>
          <a:prstGeom prst="roundRect">
            <a:avLst>
              <a:gd name="adj" fmla="val 203067"/>
            </a:avLst>
          </a:prstGeom>
          <a:solidFill>
            <a:srgbClr val="151617"/>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96801" y="2606754"/>
            <a:ext cx="180142" cy="180142"/>
          </a:xfrm>
          <a:prstGeom prst="rect">
            <a:avLst/>
          </a:prstGeom>
        </p:spPr>
      </p:pic>
      <p:sp>
        <p:nvSpPr>
          <p:cNvPr id="22" name="Text 16"/>
          <p:cNvSpPr/>
          <p:nvPr/>
        </p:nvSpPr>
        <p:spPr>
          <a:xfrm>
            <a:off x="7555468" y="3072170"/>
            <a:ext cx="6263045" cy="240149"/>
          </a:xfrm>
          <a:prstGeom prst="rect">
            <a:avLst/>
          </a:prstGeom>
          <a:noFill/>
          <a:ln/>
        </p:spPr>
        <p:txBody>
          <a:bodyPr wrap="none" lIns="0" tIns="0" rIns="0" bIns="0" rtlCol="0" anchor="t"/>
          <a:lstStyle/>
          <a:p>
            <a:pPr algn="l" indent="0" marL="0">
              <a:lnSpc>
                <a:spcPts val="1850"/>
              </a:lnSpc>
              <a:buNone/>
            </a:pPr>
            <a:r>
              <a:rPr lang="en-US" sz="1150" b="1" dirty="0">
                <a:solidFill>
                  <a:srgbClr val="151617"/>
                </a:solidFill>
                <a:latin typeface="Inconsolata" pitchFamily="34" charset="0"/>
                <a:ea typeface="Inconsolata" pitchFamily="34" charset="-122"/>
                <a:cs typeface="Inconsolata" pitchFamily="34" charset="-120"/>
              </a:rPr>
              <a:t>1% of users</a:t>
            </a:r>
            <a:pPr algn="l" indent="0" marL="0">
              <a:lnSpc>
                <a:spcPts val="1850"/>
              </a:lnSpc>
              <a:buNone/>
            </a:pPr>
            <a:r>
              <a:rPr lang="en-US" sz="1150" dirty="0">
                <a:solidFill>
                  <a:srgbClr val="151617"/>
                </a:solidFill>
                <a:latin typeface="Inconsolata" pitchFamily="34" charset="0"/>
                <a:ea typeface="Inconsolata" pitchFamily="34" charset="-122"/>
                <a:cs typeface="Inconsolata" pitchFamily="34" charset="-120"/>
              </a:rPr>
              <a:t> opting for premium 'Pro' features at </a:t>
            </a:r>
            <a:pPr algn="l" indent="0" marL="0">
              <a:lnSpc>
                <a:spcPts val="1850"/>
              </a:lnSpc>
              <a:buNone/>
            </a:pPr>
            <a:r>
              <a:rPr lang="en-US" sz="1150" b="1" dirty="0">
                <a:solidFill>
                  <a:srgbClr val="151617"/>
                </a:solidFill>
                <a:latin typeface="Inconsolata" pitchFamily="34" charset="0"/>
                <a:ea typeface="Inconsolata" pitchFamily="34" charset="-122"/>
                <a:cs typeface="Inconsolata" pitchFamily="34" charset="-120"/>
              </a:rPr>
              <a:t>$10/mon</a:t>
            </a:r>
            <a:endParaRPr lang="en-US" sz="1150" dirty="0"/>
          </a:p>
        </p:txBody>
      </p:sp>
      <p:sp>
        <p:nvSpPr>
          <p:cNvPr id="23" name="Text 17"/>
          <p:cNvSpPr/>
          <p:nvPr/>
        </p:nvSpPr>
        <p:spPr>
          <a:xfrm>
            <a:off x="646628" y="3702725"/>
            <a:ext cx="3705463" cy="234553"/>
          </a:xfrm>
          <a:prstGeom prst="rect">
            <a:avLst/>
          </a:prstGeom>
          <a:noFill/>
          <a:ln/>
        </p:spPr>
        <p:txBody>
          <a:bodyPr wrap="none" lIns="0" tIns="0" rIns="0" bIns="0" rtlCol="0" anchor="t"/>
          <a:lstStyle/>
          <a:p>
            <a:pPr algn="l" indent="0" marL="0">
              <a:lnSpc>
                <a:spcPts val="1800"/>
              </a:lnSpc>
              <a:buNone/>
            </a:pPr>
            <a:r>
              <a:rPr lang="en-US" sz="1450" b="1" dirty="0">
                <a:solidFill>
                  <a:srgbClr val="151617"/>
                </a:solidFill>
                <a:latin typeface="Montserrat Black" pitchFamily="34" charset="0"/>
                <a:ea typeface="Montserrat Black" pitchFamily="34" charset="-122"/>
                <a:cs typeface="Montserrat Black" pitchFamily="34" charset="-120"/>
              </a:rPr>
              <a:t>Projected Annual Revenue (by 2030)</a:t>
            </a:r>
            <a:endParaRPr lang="en-US" sz="1450" dirty="0"/>
          </a:p>
        </p:txBody>
      </p:sp>
      <p:sp>
        <p:nvSpPr>
          <p:cNvPr id="24" name="Shape 18"/>
          <p:cNvSpPr/>
          <p:nvPr/>
        </p:nvSpPr>
        <p:spPr>
          <a:xfrm>
            <a:off x="646628" y="4162425"/>
            <a:ext cx="4345662" cy="1726049"/>
          </a:xfrm>
          <a:prstGeom prst="roundRect">
            <a:avLst>
              <a:gd name="adj" fmla="val 530"/>
            </a:avLst>
          </a:prstGeom>
          <a:solidFill>
            <a:srgbClr val="F8ECE4"/>
          </a:solidFill>
          <a:ln w="7620">
            <a:solidFill>
              <a:srgbClr val="151617"/>
            </a:solidFill>
            <a:prstDash val="solid"/>
          </a:ln>
          <a:effectLst>
            <a:outerShdw sx="100000" sy="100000" kx="0" ky="0" algn="bl" rotWithShape="0" blurRad="0" dist="13970" dir="2700000">
              <a:srgbClr val="151617">
                <a:alpha val="100000"/>
              </a:srgbClr>
            </a:outerShdw>
          </a:effectLst>
        </p:spPr>
      </p:sp>
      <p:sp>
        <p:nvSpPr>
          <p:cNvPr id="25" name="Shape 19"/>
          <p:cNvSpPr/>
          <p:nvPr/>
        </p:nvSpPr>
        <p:spPr>
          <a:xfrm>
            <a:off x="2594253" y="4320064"/>
            <a:ext cx="450294" cy="450294"/>
          </a:xfrm>
          <a:prstGeom prst="roundRect">
            <a:avLst>
              <a:gd name="adj" fmla="val 20304702"/>
            </a:avLst>
          </a:prstGeom>
          <a:solidFill>
            <a:srgbClr val="151617"/>
          </a:solidFill>
          <a:ln/>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18078" y="4443770"/>
            <a:ext cx="202644" cy="202644"/>
          </a:xfrm>
          <a:prstGeom prst="rect">
            <a:avLst/>
          </a:prstGeom>
        </p:spPr>
      </p:pic>
      <p:sp>
        <p:nvSpPr>
          <p:cNvPr id="27" name="Text 20"/>
          <p:cNvSpPr/>
          <p:nvPr/>
        </p:nvSpPr>
        <p:spPr>
          <a:xfrm>
            <a:off x="942975" y="4920377"/>
            <a:ext cx="3752850" cy="469106"/>
          </a:xfrm>
          <a:prstGeom prst="rect">
            <a:avLst/>
          </a:prstGeom>
          <a:noFill/>
          <a:ln/>
        </p:spPr>
        <p:txBody>
          <a:bodyPr wrap="none" lIns="0" tIns="0" rIns="0" bIns="0" rtlCol="0" anchor="t"/>
          <a:lstStyle/>
          <a:p>
            <a:pPr algn="ctr" indent="0" marL="0">
              <a:lnSpc>
                <a:spcPts val="3650"/>
              </a:lnSpc>
              <a:buNone/>
            </a:pPr>
            <a:r>
              <a:rPr lang="en-US" sz="2950" b="1" dirty="0">
                <a:solidFill>
                  <a:srgbClr val="5CC97B"/>
                </a:solidFill>
                <a:latin typeface="Montserrat Black" pitchFamily="34" charset="0"/>
                <a:ea typeface="Montserrat Black" pitchFamily="34" charset="-122"/>
                <a:cs typeface="Montserrat Black" pitchFamily="34" charset="-120"/>
              </a:rPr>
              <a:t>$10M</a:t>
            </a:r>
            <a:endParaRPr lang="en-US" sz="2950" dirty="0"/>
          </a:p>
        </p:txBody>
      </p:sp>
      <p:sp>
        <p:nvSpPr>
          <p:cNvPr id="28" name="Text 21"/>
          <p:cNvSpPr/>
          <p:nvPr/>
        </p:nvSpPr>
        <p:spPr>
          <a:xfrm>
            <a:off x="883325" y="5449491"/>
            <a:ext cx="3872151" cy="281345"/>
          </a:xfrm>
          <a:prstGeom prst="rect">
            <a:avLst/>
          </a:prstGeom>
          <a:noFill/>
          <a:ln/>
        </p:spPr>
        <p:txBody>
          <a:bodyPr wrap="none" lIns="0" tIns="0" rIns="0" bIns="0" rtlCol="0" anchor="t"/>
          <a:lstStyle/>
          <a:p>
            <a:pPr algn="ctr" indent="0" marL="0">
              <a:lnSpc>
                <a:spcPts val="2200"/>
              </a:lnSpc>
              <a:buNone/>
            </a:pPr>
            <a:r>
              <a:rPr lang="en-US" sz="1750" b="1" dirty="0">
                <a:solidFill>
                  <a:srgbClr val="151617"/>
                </a:solidFill>
                <a:latin typeface="Montserrat Black" pitchFamily="34" charset="0"/>
                <a:ea typeface="Montserrat Black" pitchFamily="34" charset="-122"/>
                <a:cs typeface="Montserrat Black" pitchFamily="34" charset="-120"/>
              </a:rPr>
              <a:t>App Store Model (15% take rate)</a:t>
            </a:r>
            <a:endParaRPr lang="en-US" sz="1750" dirty="0"/>
          </a:p>
        </p:txBody>
      </p:sp>
      <p:sp>
        <p:nvSpPr>
          <p:cNvPr id="29" name="Shape 22"/>
          <p:cNvSpPr/>
          <p:nvPr/>
        </p:nvSpPr>
        <p:spPr>
          <a:xfrm>
            <a:off x="5142309" y="4162425"/>
            <a:ext cx="4345662" cy="1726049"/>
          </a:xfrm>
          <a:prstGeom prst="roundRect">
            <a:avLst>
              <a:gd name="adj" fmla="val 530"/>
            </a:avLst>
          </a:prstGeom>
          <a:solidFill>
            <a:srgbClr val="F8ECE4"/>
          </a:solidFill>
          <a:ln w="7620">
            <a:solidFill>
              <a:srgbClr val="151617"/>
            </a:solidFill>
            <a:prstDash val="solid"/>
          </a:ln>
          <a:effectLst>
            <a:outerShdw sx="100000" sy="100000" kx="0" ky="0" algn="bl" rotWithShape="0" blurRad="0" dist="13970" dir="2700000">
              <a:srgbClr val="151617">
                <a:alpha val="100000"/>
              </a:srgbClr>
            </a:outerShdw>
          </a:effectLst>
        </p:spPr>
      </p:sp>
      <p:sp>
        <p:nvSpPr>
          <p:cNvPr id="30" name="Shape 23"/>
          <p:cNvSpPr/>
          <p:nvPr/>
        </p:nvSpPr>
        <p:spPr>
          <a:xfrm>
            <a:off x="7089934" y="4320064"/>
            <a:ext cx="450294" cy="450294"/>
          </a:xfrm>
          <a:prstGeom prst="roundRect">
            <a:avLst>
              <a:gd name="adj" fmla="val 20304702"/>
            </a:avLst>
          </a:prstGeom>
          <a:solidFill>
            <a:srgbClr val="151617"/>
          </a:solidFill>
          <a:ln/>
        </p:spPr>
      </p:sp>
      <p:pic>
        <p:nvPicPr>
          <p:cNvPr id="3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13759" y="4443770"/>
            <a:ext cx="202644" cy="202644"/>
          </a:xfrm>
          <a:prstGeom prst="rect">
            <a:avLst/>
          </a:prstGeom>
        </p:spPr>
      </p:pic>
      <p:sp>
        <p:nvSpPr>
          <p:cNvPr id="32" name="Text 24"/>
          <p:cNvSpPr/>
          <p:nvPr/>
        </p:nvSpPr>
        <p:spPr>
          <a:xfrm>
            <a:off x="5438656" y="4920377"/>
            <a:ext cx="3752850" cy="469106"/>
          </a:xfrm>
          <a:prstGeom prst="rect">
            <a:avLst/>
          </a:prstGeom>
          <a:noFill/>
          <a:ln/>
        </p:spPr>
        <p:txBody>
          <a:bodyPr wrap="none" lIns="0" tIns="0" rIns="0" bIns="0" rtlCol="0" anchor="t"/>
          <a:lstStyle/>
          <a:p>
            <a:pPr algn="ctr" indent="0" marL="0">
              <a:lnSpc>
                <a:spcPts val="3650"/>
              </a:lnSpc>
              <a:buNone/>
            </a:pPr>
            <a:r>
              <a:rPr lang="en-US" sz="2950" b="1" dirty="0">
                <a:solidFill>
                  <a:srgbClr val="5CC97B"/>
                </a:solidFill>
                <a:latin typeface="Montserrat Black" pitchFamily="34" charset="0"/>
                <a:ea typeface="Montserrat Black" pitchFamily="34" charset="-122"/>
                <a:cs typeface="Montserrat Black" pitchFamily="34" charset="-120"/>
              </a:rPr>
              <a:t>$10M</a:t>
            </a:r>
            <a:endParaRPr lang="en-US" sz="2950" dirty="0"/>
          </a:p>
        </p:txBody>
      </p:sp>
      <p:sp>
        <p:nvSpPr>
          <p:cNvPr id="33" name="Text 25"/>
          <p:cNvSpPr/>
          <p:nvPr/>
        </p:nvSpPr>
        <p:spPr>
          <a:xfrm>
            <a:off x="5395317" y="5449491"/>
            <a:ext cx="3839528" cy="281345"/>
          </a:xfrm>
          <a:prstGeom prst="rect">
            <a:avLst/>
          </a:prstGeom>
          <a:noFill/>
          <a:ln/>
        </p:spPr>
        <p:txBody>
          <a:bodyPr wrap="none" lIns="0" tIns="0" rIns="0" bIns="0" rtlCol="0" anchor="t"/>
          <a:lstStyle/>
          <a:p>
            <a:pPr algn="ctr" indent="0" marL="0">
              <a:lnSpc>
                <a:spcPts val="2200"/>
              </a:lnSpc>
              <a:buNone/>
            </a:pPr>
            <a:r>
              <a:rPr lang="en-US" sz="1750" b="1" dirty="0">
                <a:solidFill>
                  <a:srgbClr val="151617"/>
                </a:solidFill>
                <a:latin typeface="Montserrat Black" pitchFamily="34" charset="0"/>
                <a:ea typeface="Montserrat Black" pitchFamily="34" charset="-122"/>
                <a:cs typeface="Montserrat Black" pitchFamily="34" charset="-120"/>
              </a:rPr>
              <a:t>Ad Placement &amp; Featured Tools</a:t>
            </a:r>
            <a:endParaRPr lang="en-US" sz="1750" dirty="0"/>
          </a:p>
        </p:txBody>
      </p:sp>
      <p:sp>
        <p:nvSpPr>
          <p:cNvPr id="34" name="Shape 26"/>
          <p:cNvSpPr/>
          <p:nvPr/>
        </p:nvSpPr>
        <p:spPr>
          <a:xfrm>
            <a:off x="9637990" y="4162425"/>
            <a:ext cx="4345662" cy="1726049"/>
          </a:xfrm>
          <a:prstGeom prst="roundRect">
            <a:avLst>
              <a:gd name="adj" fmla="val 530"/>
            </a:avLst>
          </a:prstGeom>
          <a:solidFill>
            <a:srgbClr val="F8ECE4"/>
          </a:solidFill>
          <a:ln w="7620">
            <a:solidFill>
              <a:srgbClr val="151617"/>
            </a:solidFill>
            <a:prstDash val="solid"/>
          </a:ln>
          <a:effectLst>
            <a:outerShdw sx="100000" sy="100000" kx="0" ky="0" algn="bl" rotWithShape="0" blurRad="0" dist="13970" dir="2700000">
              <a:srgbClr val="151617">
                <a:alpha val="100000"/>
              </a:srgbClr>
            </a:outerShdw>
          </a:effectLst>
        </p:spPr>
      </p:sp>
      <p:sp>
        <p:nvSpPr>
          <p:cNvPr id="35" name="Shape 27"/>
          <p:cNvSpPr/>
          <p:nvPr/>
        </p:nvSpPr>
        <p:spPr>
          <a:xfrm>
            <a:off x="11585615" y="4320064"/>
            <a:ext cx="450294" cy="450294"/>
          </a:xfrm>
          <a:prstGeom prst="roundRect">
            <a:avLst>
              <a:gd name="adj" fmla="val 20304702"/>
            </a:avLst>
          </a:prstGeom>
          <a:solidFill>
            <a:srgbClr val="151617"/>
          </a:solidFill>
          <a:ln/>
        </p:spPr>
      </p:sp>
      <p:pic>
        <p:nvPicPr>
          <p:cNvPr id="3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709440" y="4443770"/>
            <a:ext cx="202644" cy="202644"/>
          </a:xfrm>
          <a:prstGeom prst="rect">
            <a:avLst/>
          </a:prstGeom>
        </p:spPr>
      </p:pic>
      <p:sp>
        <p:nvSpPr>
          <p:cNvPr id="37" name="Text 28"/>
          <p:cNvSpPr/>
          <p:nvPr/>
        </p:nvSpPr>
        <p:spPr>
          <a:xfrm>
            <a:off x="9934337" y="4920377"/>
            <a:ext cx="3752850" cy="469106"/>
          </a:xfrm>
          <a:prstGeom prst="rect">
            <a:avLst/>
          </a:prstGeom>
          <a:noFill/>
          <a:ln/>
        </p:spPr>
        <p:txBody>
          <a:bodyPr wrap="none" lIns="0" tIns="0" rIns="0" bIns="0" rtlCol="0" anchor="t"/>
          <a:lstStyle/>
          <a:p>
            <a:pPr algn="ctr" indent="0" marL="0">
              <a:lnSpc>
                <a:spcPts val="3650"/>
              </a:lnSpc>
              <a:buNone/>
            </a:pPr>
            <a:r>
              <a:rPr lang="en-US" sz="2950" b="1" dirty="0">
                <a:solidFill>
                  <a:srgbClr val="5CC97B"/>
                </a:solidFill>
                <a:latin typeface="Montserrat Black" pitchFamily="34" charset="0"/>
                <a:ea typeface="Montserrat Black" pitchFamily="34" charset="-122"/>
                <a:cs typeface="Montserrat Black" pitchFamily="34" charset="-120"/>
              </a:rPr>
              <a:t>$10M</a:t>
            </a:r>
            <a:endParaRPr lang="en-US" sz="2950" dirty="0"/>
          </a:p>
        </p:txBody>
      </p:sp>
      <p:sp>
        <p:nvSpPr>
          <p:cNvPr id="38" name="Text 29"/>
          <p:cNvSpPr/>
          <p:nvPr/>
        </p:nvSpPr>
        <p:spPr>
          <a:xfrm>
            <a:off x="10260687" y="5449491"/>
            <a:ext cx="3100149" cy="281345"/>
          </a:xfrm>
          <a:prstGeom prst="rect">
            <a:avLst/>
          </a:prstGeom>
          <a:noFill/>
          <a:ln/>
        </p:spPr>
        <p:txBody>
          <a:bodyPr wrap="none" lIns="0" tIns="0" rIns="0" bIns="0" rtlCol="0" anchor="t"/>
          <a:lstStyle/>
          <a:p>
            <a:pPr algn="ctr" indent="0" marL="0">
              <a:lnSpc>
                <a:spcPts val="2200"/>
              </a:lnSpc>
              <a:buNone/>
            </a:pPr>
            <a:r>
              <a:rPr lang="en-US" sz="1750" b="1" dirty="0">
                <a:solidFill>
                  <a:srgbClr val="151617"/>
                </a:solidFill>
                <a:latin typeface="Montserrat Black" pitchFamily="34" charset="0"/>
                <a:ea typeface="Montserrat Black" pitchFamily="34" charset="-122"/>
                <a:cs typeface="Montserrat Black" pitchFamily="34" charset="-120"/>
              </a:rPr>
              <a:t>Premium Developer Tiers</a:t>
            </a:r>
            <a:endParaRPr lang="en-US" sz="1750" dirty="0"/>
          </a:p>
        </p:txBody>
      </p:sp>
      <p:sp>
        <p:nvSpPr>
          <p:cNvPr id="39" name="Text 30"/>
          <p:cNvSpPr/>
          <p:nvPr/>
        </p:nvSpPr>
        <p:spPr>
          <a:xfrm>
            <a:off x="646628" y="6057305"/>
            <a:ext cx="13337143" cy="192167"/>
          </a:xfrm>
          <a:prstGeom prst="rect">
            <a:avLst/>
          </a:prstGeom>
          <a:noFill/>
          <a:ln/>
        </p:spPr>
        <p:txBody>
          <a:bodyPr wrap="none" lIns="0" tIns="0" rIns="0" bIns="0" rtlCol="0" anchor="t"/>
          <a:lstStyle/>
          <a:p>
            <a:pPr algn="ctr" indent="0" marL="0">
              <a:lnSpc>
                <a:spcPts val="1500"/>
              </a:lnSpc>
              <a:buNone/>
            </a:pPr>
            <a:endParaRPr lang="en-US" sz="900" dirty="0"/>
          </a:p>
        </p:txBody>
      </p:sp>
      <p:sp>
        <p:nvSpPr>
          <p:cNvPr id="40" name="Text 31"/>
          <p:cNvSpPr/>
          <p:nvPr/>
        </p:nvSpPr>
        <p:spPr>
          <a:xfrm>
            <a:off x="4270653" y="6474619"/>
            <a:ext cx="6088975" cy="647343"/>
          </a:xfrm>
          <a:prstGeom prst="rect">
            <a:avLst/>
          </a:prstGeom>
          <a:noFill/>
          <a:ln/>
        </p:spPr>
        <p:txBody>
          <a:bodyPr wrap="none" lIns="0" tIns="0" rIns="0" bIns="0" rtlCol="0" anchor="t"/>
          <a:lstStyle/>
          <a:p>
            <a:pPr algn="ctr" indent="0" marL="0">
              <a:lnSpc>
                <a:spcPts val="5050"/>
              </a:lnSpc>
              <a:buNone/>
            </a:pPr>
            <a:r>
              <a:rPr lang="en-US" sz="4050" b="1" dirty="0">
                <a:solidFill>
                  <a:srgbClr val="151617"/>
                </a:solidFill>
                <a:latin typeface="Montserrat Black" pitchFamily="34" charset="0"/>
                <a:ea typeface="Montserrat Black" pitchFamily="34" charset="-122"/>
                <a:cs typeface="Montserrat Black" pitchFamily="34" charset="-120"/>
              </a:rPr>
              <a:t>Total: </a:t>
            </a:r>
            <a:pPr algn="ctr" indent="0" marL="0">
              <a:lnSpc>
                <a:spcPts val="5050"/>
              </a:lnSpc>
              <a:buNone/>
            </a:pPr>
            <a:r>
              <a:rPr lang="en-US" sz="4050" b="1" dirty="0">
                <a:solidFill>
                  <a:srgbClr val="1F7135"/>
                </a:solidFill>
                <a:latin typeface="Montserrat Black" pitchFamily="34" charset="0"/>
                <a:ea typeface="Montserrat Black" pitchFamily="34" charset="-122"/>
                <a:cs typeface="Montserrat Black" pitchFamily="34" charset="-120"/>
              </a:rPr>
              <a:t>$30 Million USD</a:t>
            </a:r>
            <a:endParaRPr lang="en-US" sz="4050" dirty="0"/>
          </a:p>
        </p:txBody>
      </p:sp>
      <p:sp>
        <p:nvSpPr>
          <p:cNvPr id="41" name="Shape 32"/>
          <p:cNvSpPr/>
          <p:nvPr/>
        </p:nvSpPr>
        <p:spPr>
          <a:xfrm>
            <a:off x="646628" y="7422143"/>
            <a:ext cx="13337143" cy="26313"/>
          </a:xfrm>
          <a:prstGeom prst="rect">
            <a:avLst/>
          </a:prstGeom>
          <a:solidFill>
            <a:srgbClr val="151617">
              <a:alpha val="50000"/>
            </a:srgbClr>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210508"/>
            <a:ext cx="7088267" cy="885944"/>
          </a:xfrm>
          <a:prstGeom prst="rect">
            <a:avLst/>
          </a:prstGeom>
          <a:noFill/>
          <a:ln/>
        </p:spPr>
        <p:txBody>
          <a:bodyPr wrap="none" lIns="0" tIns="0" rIns="0" bIns="0" rtlCol="0" anchor="t"/>
          <a:lstStyle/>
          <a:p>
            <a:pPr algn="l" indent="0" marL="0">
              <a:lnSpc>
                <a:spcPts val="6950"/>
              </a:lnSpc>
              <a:buNone/>
            </a:pPr>
            <a:r>
              <a:rPr lang="en-US" sz="5550" b="1" dirty="0">
                <a:solidFill>
                  <a:srgbClr val="5E208E"/>
                </a:solidFill>
                <a:latin typeface="Montserrat Black" pitchFamily="34" charset="0"/>
                <a:ea typeface="Montserrat Black" pitchFamily="34" charset="-122"/>
                <a:cs typeface="Montserrat Black" pitchFamily="34" charset="-120"/>
              </a:rPr>
              <a:t>Revenue Streams</a:t>
            </a:r>
            <a:endParaRPr lang="en-US" sz="5550" dirty="0"/>
          </a:p>
        </p:txBody>
      </p:sp>
      <p:sp>
        <p:nvSpPr>
          <p:cNvPr id="3" name="Text 1"/>
          <p:cNvSpPr/>
          <p:nvPr/>
        </p:nvSpPr>
        <p:spPr>
          <a:xfrm>
            <a:off x="793790" y="2805232"/>
            <a:ext cx="4930259" cy="443032"/>
          </a:xfrm>
          <a:prstGeom prst="rect">
            <a:avLst/>
          </a:prstGeom>
          <a:noFill/>
          <a:ln/>
        </p:spPr>
        <p:txBody>
          <a:bodyPr wrap="none" lIns="0" tIns="0" rIns="0" bIns="0" rtlCol="0" anchor="t"/>
          <a:lstStyle/>
          <a:p>
            <a:pPr algn="l" indent="0" marL="0">
              <a:lnSpc>
                <a:spcPts val="3450"/>
              </a:lnSpc>
              <a:buNone/>
            </a:pPr>
            <a:r>
              <a:rPr lang="en-US" sz="2750" b="1" dirty="0">
                <a:solidFill>
                  <a:srgbClr val="151617"/>
                </a:solidFill>
                <a:latin typeface="Montserrat Black" pitchFamily="34" charset="0"/>
                <a:ea typeface="Montserrat Black" pitchFamily="34" charset="-122"/>
                <a:cs typeface="Montserrat Black" pitchFamily="34" charset="-120"/>
              </a:rPr>
              <a:t>Primary: App Store Model</a:t>
            </a:r>
            <a:endParaRPr lang="en-US" sz="2750" dirty="0"/>
          </a:p>
        </p:txBody>
      </p:sp>
      <p:sp>
        <p:nvSpPr>
          <p:cNvPr id="4" name="Text 2"/>
          <p:cNvSpPr/>
          <p:nvPr/>
        </p:nvSpPr>
        <p:spPr>
          <a:xfrm>
            <a:off x="793790" y="3531751"/>
            <a:ext cx="6175534" cy="1134189"/>
          </a:xfrm>
          <a:prstGeom prst="rect">
            <a:avLst/>
          </a:prstGeom>
          <a:noFill/>
          <a:ln/>
        </p:spPr>
        <p:txBody>
          <a:bodyPr wrap="square" lIns="0" tIns="0" rIns="0" bIns="0" rtlCol="0" anchor="t"/>
          <a:lstStyle/>
          <a:p>
            <a:pPr algn="l" indent="0" marL="0">
              <a:lnSpc>
                <a:spcPts val="4450"/>
              </a:lnSpc>
              <a:buNone/>
            </a:pPr>
            <a:r>
              <a:rPr lang="en-US" sz="2750" b="1" dirty="0">
                <a:solidFill>
                  <a:srgbClr val="151617"/>
                </a:solidFill>
                <a:latin typeface="Inconsolata" pitchFamily="34" charset="0"/>
                <a:ea typeface="Inconsolata" pitchFamily="34" charset="-122"/>
                <a:cs typeface="Inconsolata" pitchFamily="34" charset="-120"/>
              </a:rPr>
              <a:t>Graduated take rate:</a:t>
            </a:r>
            <a:pPr algn="l" indent="0" marL="0">
              <a:lnSpc>
                <a:spcPts val="4450"/>
              </a:lnSpc>
              <a:buNone/>
            </a:pPr>
            <a:r>
              <a:rPr lang="en-US" sz="2750" dirty="0">
                <a:solidFill>
                  <a:srgbClr val="151617"/>
                </a:solidFill>
                <a:latin typeface="Inconsolata" pitchFamily="34" charset="0"/>
                <a:ea typeface="Inconsolata" pitchFamily="34" charset="-122"/>
                <a:cs typeface="Inconsolata" pitchFamily="34" charset="-120"/>
              </a:rPr>
              <a:t> 10-30% based on developer earnings</a:t>
            </a:r>
            <a:endParaRPr lang="en-US" sz="2750" dirty="0"/>
          </a:p>
        </p:txBody>
      </p:sp>
      <p:sp>
        <p:nvSpPr>
          <p:cNvPr id="5" name="Text 3"/>
          <p:cNvSpPr/>
          <p:nvPr/>
        </p:nvSpPr>
        <p:spPr>
          <a:xfrm>
            <a:off x="793790" y="4921091"/>
            <a:ext cx="6175534" cy="1134189"/>
          </a:xfrm>
          <a:prstGeom prst="rect">
            <a:avLst/>
          </a:prstGeom>
          <a:noFill/>
          <a:ln/>
        </p:spPr>
        <p:txBody>
          <a:bodyPr wrap="square" lIns="0" tIns="0" rIns="0" bIns="0" rtlCol="0" anchor="t"/>
          <a:lstStyle/>
          <a:p>
            <a:pPr algn="l" indent="0" marL="0">
              <a:lnSpc>
                <a:spcPts val="4450"/>
              </a:lnSpc>
              <a:buNone/>
            </a:pPr>
            <a:r>
              <a:rPr lang="en-US" sz="2750" dirty="0">
                <a:solidFill>
                  <a:srgbClr val="151617"/>
                </a:solidFill>
                <a:latin typeface="Inconsolata" pitchFamily="34" charset="0"/>
                <a:ea typeface="Inconsolata" pitchFamily="34" charset="-122"/>
                <a:cs typeface="Inconsolata" pitchFamily="34" charset="-120"/>
              </a:rPr>
              <a:t>Example: Developer earning ₹10L keeps ₹8.5L monthly</a:t>
            </a:r>
            <a:endParaRPr lang="en-US" sz="2750" dirty="0"/>
          </a:p>
        </p:txBody>
      </p:sp>
      <p:sp>
        <p:nvSpPr>
          <p:cNvPr id="6" name="Text 4"/>
          <p:cNvSpPr/>
          <p:nvPr/>
        </p:nvSpPr>
        <p:spPr>
          <a:xfrm>
            <a:off x="793790" y="6310432"/>
            <a:ext cx="6175534" cy="453509"/>
          </a:xfrm>
          <a:prstGeom prst="rect">
            <a:avLst/>
          </a:prstGeom>
          <a:noFill/>
          <a:ln/>
        </p:spPr>
        <p:txBody>
          <a:bodyPr wrap="none" lIns="0" tIns="0" rIns="0" bIns="0" rtlCol="0" anchor="t"/>
          <a:lstStyle/>
          <a:p>
            <a:pPr algn="l" indent="0" marL="0">
              <a:lnSpc>
                <a:spcPts val="3550"/>
              </a:lnSpc>
              <a:buNone/>
            </a:pPr>
            <a:endParaRPr lang="en-US" sz="2200" dirty="0"/>
          </a:p>
        </p:txBody>
      </p:sp>
      <p:sp>
        <p:nvSpPr>
          <p:cNvPr id="7" name="Text 5"/>
          <p:cNvSpPr/>
          <p:nvPr/>
        </p:nvSpPr>
        <p:spPr>
          <a:xfrm>
            <a:off x="7668697" y="2805232"/>
            <a:ext cx="4823222" cy="443032"/>
          </a:xfrm>
          <a:prstGeom prst="rect">
            <a:avLst/>
          </a:prstGeom>
          <a:noFill/>
          <a:ln/>
        </p:spPr>
        <p:txBody>
          <a:bodyPr wrap="none" lIns="0" tIns="0" rIns="0" bIns="0" rtlCol="0" anchor="t"/>
          <a:lstStyle/>
          <a:p>
            <a:pPr algn="l" indent="0" marL="0">
              <a:lnSpc>
                <a:spcPts val="3450"/>
              </a:lnSpc>
              <a:buNone/>
            </a:pPr>
            <a:r>
              <a:rPr lang="en-US" sz="2750" b="1" dirty="0">
                <a:solidFill>
                  <a:srgbClr val="151617"/>
                </a:solidFill>
                <a:latin typeface="Montserrat Black" pitchFamily="34" charset="0"/>
                <a:ea typeface="Montserrat Black" pitchFamily="34" charset="-122"/>
                <a:cs typeface="Montserrat Black" pitchFamily="34" charset="-120"/>
              </a:rPr>
              <a:t>Secondary (Scale Phase):</a:t>
            </a:r>
            <a:endParaRPr lang="en-US" sz="2750" dirty="0"/>
          </a:p>
        </p:txBody>
      </p:sp>
      <p:sp>
        <p:nvSpPr>
          <p:cNvPr id="8" name="Text 6"/>
          <p:cNvSpPr/>
          <p:nvPr/>
        </p:nvSpPr>
        <p:spPr>
          <a:xfrm>
            <a:off x="7668697" y="3531751"/>
            <a:ext cx="6175534" cy="1134189"/>
          </a:xfrm>
          <a:prstGeom prst="rect">
            <a:avLst/>
          </a:prstGeom>
          <a:noFill/>
          <a:ln/>
        </p:spPr>
        <p:txBody>
          <a:bodyPr wrap="square" lIns="0" tIns="0" rIns="0" bIns="0" rtlCol="0" anchor="t"/>
          <a:lstStyle/>
          <a:p>
            <a:pPr algn="l" marL="342900" indent="-342900">
              <a:lnSpc>
                <a:spcPts val="3550"/>
              </a:lnSpc>
              <a:buSzPct val="100000"/>
              <a:buChar char="•"/>
            </a:pPr>
            <a:r>
              <a:rPr lang="en-US" sz="2200" dirty="0">
                <a:solidFill>
                  <a:srgbClr val="151617"/>
                </a:solidFill>
                <a:latin typeface="Inconsolata" pitchFamily="34" charset="0"/>
                <a:ea typeface="Inconsolata" pitchFamily="34" charset="-122"/>
                <a:cs typeface="Inconsolata" pitchFamily="34" charset="-120"/>
              </a:rPr>
              <a:t>Premium placement for featured tools</a:t>
            </a:r>
            <a:endParaRPr lang="en-US" sz="2200" dirty="0"/>
          </a:p>
        </p:txBody>
      </p:sp>
      <p:sp>
        <p:nvSpPr>
          <p:cNvPr id="9" name="Text 7"/>
          <p:cNvSpPr/>
          <p:nvPr/>
        </p:nvSpPr>
        <p:spPr>
          <a:xfrm>
            <a:off x="7668697" y="4765119"/>
            <a:ext cx="6175534" cy="567095"/>
          </a:xfrm>
          <a:prstGeom prst="rect">
            <a:avLst/>
          </a:prstGeom>
          <a:noFill/>
          <a:ln/>
        </p:spPr>
        <p:txBody>
          <a:bodyPr wrap="none" lIns="0" tIns="0" rIns="0" bIns="0" rtlCol="0" anchor="t"/>
          <a:lstStyle/>
          <a:p>
            <a:pPr algn="l" marL="342900" indent="-342900">
              <a:lnSpc>
                <a:spcPts val="3550"/>
              </a:lnSpc>
              <a:buSzPct val="100000"/>
              <a:buChar char="•"/>
            </a:pPr>
            <a:r>
              <a:rPr lang="en-US" sz="2200" dirty="0">
                <a:solidFill>
                  <a:srgbClr val="151617"/>
                </a:solidFill>
                <a:latin typeface="Inconsolata" pitchFamily="34" charset="0"/>
                <a:ea typeface="Inconsolata" pitchFamily="34" charset="-122"/>
                <a:cs typeface="Inconsolata" pitchFamily="34" charset="-120"/>
              </a:rPr>
              <a:t>Pro analytics for developers</a:t>
            </a:r>
            <a:endParaRPr lang="en-US" sz="2200" dirty="0"/>
          </a:p>
        </p:txBody>
      </p:sp>
      <p:sp>
        <p:nvSpPr>
          <p:cNvPr id="10" name="Text 8"/>
          <p:cNvSpPr/>
          <p:nvPr/>
        </p:nvSpPr>
        <p:spPr>
          <a:xfrm>
            <a:off x="7668697" y="5431393"/>
            <a:ext cx="6175534" cy="567095"/>
          </a:xfrm>
          <a:prstGeom prst="rect">
            <a:avLst/>
          </a:prstGeom>
          <a:noFill/>
          <a:ln/>
        </p:spPr>
        <p:txBody>
          <a:bodyPr wrap="none" lIns="0" tIns="0" rIns="0" bIns="0" rtlCol="0" anchor="t"/>
          <a:lstStyle/>
          <a:p>
            <a:pPr algn="l" marL="342900" indent="-342900">
              <a:lnSpc>
                <a:spcPts val="3550"/>
              </a:lnSpc>
              <a:buSzPct val="100000"/>
              <a:buChar char="•"/>
            </a:pPr>
            <a:r>
              <a:rPr lang="en-US" sz="2200" dirty="0">
                <a:solidFill>
                  <a:srgbClr val="151617"/>
                </a:solidFill>
                <a:latin typeface="Inconsolata" pitchFamily="34" charset="0"/>
                <a:ea typeface="Inconsolata" pitchFamily="34" charset="-122"/>
                <a:cs typeface="Inconsolata" pitchFamily="34" charset="-120"/>
              </a:rPr>
              <a:t>Enterprise private marketplaces</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32711" y="1020247"/>
            <a:ext cx="5597009" cy="531614"/>
          </a:xfrm>
          <a:prstGeom prst="rect">
            <a:avLst/>
          </a:prstGeom>
          <a:noFill/>
          <a:ln/>
        </p:spPr>
        <p:txBody>
          <a:bodyPr wrap="none" lIns="0" tIns="0" rIns="0" bIns="0" rtlCol="0" anchor="t"/>
          <a:lstStyle/>
          <a:p>
            <a:pPr algn="l" indent="0" marL="0">
              <a:lnSpc>
                <a:spcPts val="4150"/>
              </a:lnSpc>
              <a:buNone/>
            </a:pPr>
            <a:r>
              <a:rPr lang="en-US" sz="3300" b="1" dirty="0">
                <a:solidFill>
                  <a:srgbClr val="151617"/>
                </a:solidFill>
                <a:latin typeface="Montserrat Black" pitchFamily="34" charset="0"/>
                <a:ea typeface="Montserrat Black" pitchFamily="34" charset="-122"/>
                <a:cs typeface="Montserrat Black" pitchFamily="34" charset="-120"/>
              </a:rPr>
              <a:t>Competitive Positioning</a:t>
            </a:r>
            <a:endParaRPr lang="en-US" sz="3300" dirty="0"/>
          </a:p>
        </p:txBody>
      </p:sp>
      <p:sp>
        <p:nvSpPr>
          <p:cNvPr id="3" name="Shape 1"/>
          <p:cNvSpPr/>
          <p:nvPr/>
        </p:nvSpPr>
        <p:spPr>
          <a:xfrm>
            <a:off x="732711" y="1892022"/>
            <a:ext cx="13164979" cy="3492937"/>
          </a:xfrm>
          <a:prstGeom prst="roundRect">
            <a:avLst>
              <a:gd name="adj" fmla="val 262"/>
            </a:avLst>
          </a:prstGeom>
          <a:noFill/>
          <a:ln w="7620">
            <a:solidFill>
              <a:srgbClr val="000000">
                <a:alpha val="8000"/>
              </a:srgbClr>
            </a:solidFill>
            <a:prstDash val="solid"/>
          </a:ln>
        </p:spPr>
      </p:sp>
      <p:sp>
        <p:nvSpPr>
          <p:cNvPr id="4" name="Shape 2"/>
          <p:cNvSpPr/>
          <p:nvPr/>
        </p:nvSpPr>
        <p:spPr>
          <a:xfrm>
            <a:off x="740331" y="1899642"/>
            <a:ext cx="13149739" cy="559475"/>
          </a:xfrm>
          <a:prstGeom prst="rect">
            <a:avLst/>
          </a:prstGeom>
          <a:solidFill>
            <a:srgbClr val="FFFFFF">
              <a:alpha val="4000"/>
            </a:srgbClr>
          </a:solidFill>
          <a:ln/>
        </p:spPr>
      </p:sp>
      <p:sp>
        <p:nvSpPr>
          <p:cNvPr id="5" name="Text 3"/>
          <p:cNvSpPr/>
          <p:nvPr/>
        </p:nvSpPr>
        <p:spPr>
          <a:xfrm>
            <a:off x="910352" y="2009299"/>
            <a:ext cx="2943582" cy="340162"/>
          </a:xfrm>
          <a:prstGeom prst="rect">
            <a:avLst/>
          </a:prstGeom>
          <a:noFill/>
          <a:ln/>
        </p:spPr>
        <p:txBody>
          <a:bodyPr wrap="none" lIns="0" tIns="0" rIns="0" bIns="0" rtlCol="0" anchor="t"/>
          <a:lstStyle/>
          <a:p>
            <a:pPr algn="l" indent="0" marL="0">
              <a:lnSpc>
                <a:spcPts val="2650"/>
              </a:lnSpc>
              <a:buNone/>
            </a:pPr>
            <a:r>
              <a:rPr lang="en-US" sz="1650" b="1" dirty="0">
                <a:solidFill>
                  <a:srgbClr val="151617"/>
                </a:solidFill>
                <a:latin typeface="Inconsolata" pitchFamily="34" charset="0"/>
                <a:ea typeface="Inconsolata" pitchFamily="34" charset="-122"/>
                <a:cs typeface="Inconsolata" pitchFamily="34" charset="-120"/>
              </a:rPr>
              <a:t>Category</a:t>
            </a:r>
            <a:endParaRPr lang="en-US" sz="1650" dirty="0"/>
          </a:p>
        </p:txBody>
      </p:sp>
      <p:sp>
        <p:nvSpPr>
          <p:cNvPr id="6" name="Text 4"/>
          <p:cNvSpPr/>
          <p:nvPr/>
        </p:nvSpPr>
        <p:spPr>
          <a:xfrm>
            <a:off x="4201597" y="2009299"/>
            <a:ext cx="2939772" cy="340162"/>
          </a:xfrm>
          <a:prstGeom prst="rect">
            <a:avLst/>
          </a:prstGeom>
          <a:noFill/>
          <a:ln/>
        </p:spPr>
        <p:txBody>
          <a:bodyPr wrap="none" lIns="0" tIns="0" rIns="0" bIns="0" rtlCol="0" anchor="t"/>
          <a:lstStyle/>
          <a:p>
            <a:pPr algn="l" indent="0" marL="0">
              <a:lnSpc>
                <a:spcPts val="2650"/>
              </a:lnSpc>
              <a:buNone/>
            </a:pPr>
            <a:r>
              <a:rPr lang="en-US" sz="1650" b="1" dirty="0">
                <a:solidFill>
                  <a:srgbClr val="151617"/>
                </a:solidFill>
                <a:latin typeface="Inconsolata" pitchFamily="34" charset="0"/>
                <a:ea typeface="Inconsolata" pitchFamily="34" charset="-122"/>
                <a:cs typeface="Inconsolata" pitchFamily="34" charset="-120"/>
              </a:rPr>
              <a:t>Examples</a:t>
            </a:r>
            <a:endParaRPr lang="en-US" sz="1650" dirty="0"/>
          </a:p>
        </p:txBody>
      </p:sp>
      <p:sp>
        <p:nvSpPr>
          <p:cNvPr id="7" name="Text 5"/>
          <p:cNvSpPr/>
          <p:nvPr/>
        </p:nvSpPr>
        <p:spPr>
          <a:xfrm>
            <a:off x="7489031" y="2009299"/>
            <a:ext cx="2939772" cy="340162"/>
          </a:xfrm>
          <a:prstGeom prst="rect">
            <a:avLst/>
          </a:prstGeom>
          <a:noFill/>
          <a:ln/>
        </p:spPr>
        <p:txBody>
          <a:bodyPr wrap="none" lIns="0" tIns="0" rIns="0" bIns="0" rtlCol="0" anchor="t"/>
          <a:lstStyle/>
          <a:p>
            <a:pPr algn="l" indent="0" marL="0">
              <a:lnSpc>
                <a:spcPts val="2650"/>
              </a:lnSpc>
              <a:buNone/>
            </a:pPr>
            <a:r>
              <a:rPr lang="en-US" sz="1650" b="1" dirty="0">
                <a:solidFill>
                  <a:srgbClr val="151617"/>
                </a:solidFill>
                <a:latin typeface="Inconsolata" pitchFamily="34" charset="0"/>
                <a:ea typeface="Inconsolata" pitchFamily="34" charset="-122"/>
                <a:cs typeface="Inconsolata" pitchFamily="34" charset="-120"/>
              </a:rPr>
              <a:t>Strength</a:t>
            </a:r>
            <a:endParaRPr lang="en-US" sz="1650" dirty="0"/>
          </a:p>
        </p:txBody>
      </p:sp>
      <p:sp>
        <p:nvSpPr>
          <p:cNvPr id="8" name="Text 6"/>
          <p:cNvSpPr/>
          <p:nvPr/>
        </p:nvSpPr>
        <p:spPr>
          <a:xfrm>
            <a:off x="10776466" y="2009299"/>
            <a:ext cx="2943582" cy="340162"/>
          </a:xfrm>
          <a:prstGeom prst="rect">
            <a:avLst/>
          </a:prstGeom>
          <a:noFill/>
          <a:ln/>
        </p:spPr>
        <p:txBody>
          <a:bodyPr wrap="none" lIns="0" tIns="0" rIns="0" bIns="0" rtlCol="0" anchor="t"/>
          <a:lstStyle/>
          <a:p>
            <a:pPr algn="l" indent="0" marL="0">
              <a:lnSpc>
                <a:spcPts val="2650"/>
              </a:lnSpc>
              <a:buNone/>
            </a:pPr>
            <a:r>
              <a:rPr lang="en-US" sz="1650" b="1" dirty="0">
                <a:solidFill>
                  <a:srgbClr val="151617"/>
                </a:solidFill>
                <a:latin typeface="Inconsolata" pitchFamily="34" charset="0"/>
                <a:ea typeface="Inconsolata" pitchFamily="34" charset="-122"/>
                <a:cs typeface="Inconsolata" pitchFamily="34" charset="-120"/>
              </a:rPr>
              <a:t>Critical Limitation</a:t>
            </a:r>
            <a:endParaRPr lang="en-US" sz="1650" dirty="0"/>
          </a:p>
        </p:txBody>
      </p:sp>
      <p:sp>
        <p:nvSpPr>
          <p:cNvPr id="9" name="Shape 7"/>
          <p:cNvSpPr/>
          <p:nvPr/>
        </p:nvSpPr>
        <p:spPr>
          <a:xfrm>
            <a:off x="740331" y="2459117"/>
            <a:ext cx="13149739" cy="559475"/>
          </a:xfrm>
          <a:prstGeom prst="rect">
            <a:avLst/>
          </a:prstGeom>
          <a:solidFill>
            <a:srgbClr val="000000">
              <a:alpha val="4000"/>
            </a:srgbClr>
          </a:solidFill>
          <a:ln/>
        </p:spPr>
      </p:sp>
      <p:sp>
        <p:nvSpPr>
          <p:cNvPr id="10" name="Text 8"/>
          <p:cNvSpPr/>
          <p:nvPr/>
        </p:nvSpPr>
        <p:spPr>
          <a:xfrm>
            <a:off x="910352" y="2568773"/>
            <a:ext cx="2943582" cy="340162"/>
          </a:xfrm>
          <a:prstGeom prst="rect">
            <a:avLst/>
          </a:prstGeom>
          <a:noFill/>
          <a:ln/>
        </p:spPr>
        <p:txBody>
          <a:bodyPr wrap="none" lIns="0" tIns="0" rIns="0" bIns="0" rtlCol="0" anchor="t"/>
          <a:lstStyle/>
          <a:p>
            <a:pPr algn="l" indent="0" marL="0">
              <a:lnSpc>
                <a:spcPts val="2650"/>
              </a:lnSpc>
              <a:buNone/>
            </a:pPr>
            <a:r>
              <a:rPr lang="en-US" sz="1650" dirty="0">
                <a:solidFill>
                  <a:srgbClr val="151617"/>
                </a:solidFill>
                <a:latin typeface="Inconsolata" pitchFamily="34" charset="0"/>
                <a:ea typeface="Inconsolata" pitchFamily="34" charset="-122"/>
                <a:cs typeface="Inconsolata" pitchFamily="34" charset="-120"/>
              </a:rPr>
              <a:t>Custom GPT Store</a:t>
            </a:r>
            <a:endParaRPr lang="en-US" sz="1650" dirty="0"/>
          </a:p>
        </p:txBody>
      </p:sp>
      <p:sp>
        <p:nvSpPr>
          <p:cNvPr id="11" name="Text 9"/>
          <p:cNvSpPr/>
          <p:nvPr/>
        </p:nvSpPr>
        <p:spPr>
          <a:xfrm>
            <a:off x="4201597" y="2568773"/>
            <a:ext cx="2939772" cy="340162"/>
          </a:xfrm>
          <a:prstGeom prst="rect">
            <a:avLst/>
          </a:prstGeom>
          <a:noFill/>
          <a:ln/>
        </p:spPr>
        <p:txBody>
          <a:bodyPr wrap="none" lIns="0" tIns="0" rIns="0" bIns="0" rtlCol="0" anchor="t"/>
          <a:lstStyle/>
          <a:p>
            <a:pPr algn="l" indent="0" marL="0">
              <a:lnSpc>
                <a:spcPts val="2650"/>
              </a:lnSpc>
              <a:buNone/>
            </a:pPr>
            <a:r>
              <a:rPr lang="en-US" sz="1650" dirty="0">
                <a:solidFill>
                  <a:srgbClr val="151617"/>
                </a:solidFill>
                <a:latin typeface="Inconsolata" pitchFamily="34" charset="0"/>
                <a:ea typeface="Inconsolata" pitchFamily="34" charset="-122"/>
                <a:cs typeface="Inconsolata" pitchFamily="34" charset="-120"/>
              </a:rPr>
              <a:t>ChatGPT Store</a:t>
            </a:r>
            <a:endParaRPr lang="en-US" sz="1650" dirty="0"/>
          </a:p>
        </p:txBody>
      </p:sp>
      <p:sp>
        <p:nvSpPr>
          <p:cNvPr id="12" name="Text 10"/>
          <p:cNvSpPr/>
          <p:nvPr/>
        </p:nvSpPr>
        <p:spPr>
          <a:xfrm>
            <a:off x="7489031" y="2568773"/>
            <a:ext cx="2939772" cy="340162"/>
          </a:xfrm>
          <a:prstGeom prst="rect">
            <a:avLst/>
          </a:prstGeom>
          <a:noFill/>
          <a:ln/>
        </p:spPr>
        <p:txBody>
          <a:bodyPr wrap="none" lIns="0" tIns="0" rIns="0" bIns="0" rtlCol="0" anchor="t"/>
          <a:lstStyle/>
          <a:p>
            <a:pPr algn="l" indent="0" marL="0">
              <a:lnSpc>
                <a:spcPts val="2650"/>
              </a:lnSpc>
              <a:buNone/>
            </a:pPr>
            <a:r>
              <a:rPr lang="en-US" sz="1650" dirty="0">
                <a:solidFill>
                  <a:srgbClr val="151617"/>
                </a:solidFill>
                <a:latin typeface="Inconsolata" pitchFamily="34" charset="0"/>
                <a:ea typeface="Inconsolata" pitchFamily="34" charset="-122"/>
                <a:cs typeface="Inconsolata" pitchFamily="34" charset="-120"/>
              </a:rPr>
              <a:t>Proven demand</a:t>
            </a:r>
            <a:endParaRPr lang="en-US" sz="1650" dirty="0"/>
          </a:p>
        </p:txBody>
      </p:sp>
      <p:sp>
        <p:nvSpPr>
          <p:cNvPr id="13" name="Text 11"/>
          <p:cNvSpPr/>
          <p:nvPr/>
        </p:nvSpPr>
        <p:spPr>
          <a:xfrm>
            <a:off x="10776466" y="2568773"/>
            <a:ext cx="2943582" cy="340162"/>
          </a:xfrm>
          <a:prstGeom prst="rect">
            <a:avLst/>
          </a:prstGeom>
          <a:noFill/>
          <a:ln/>
        </p:spPr>
        <p:txBody>
          <a:bodyPr wrap="none" lIns="0" tIns="0" rIns="0" bIns="0" rtlCol="0" anchor="t"/>
          <a:lstStyle/>
          <a:p>
            <a:pPr algn="l" indent="0" marL="0">
              <a:lnSpc>
                <a:spcPts val="2650"/>
              </a:lnSpc>
              <a:buNone/>
            </a:pPr>
            <a:r>
              <a:rPr lang="en-US" sz="1650" b="1" dirty="0">
                <a:solidFill>
                  <a:srgbClr val="151617"/>
                </a:solidFill>
                <a:latin typeface="Inconsolata" pitchFamily="34" charset="0"/>
                <a:ea typeface="Inconsolata" pitchFamily="34" charset="-122"/>
                <a:cs typeface="Inconsolata" pitchFamily="34" charset="-120"/>
              </a:rPr>
              <a:t>₹0 developer earnings</a:t>
            </a:r>
            <a:endParaRPr lang="en-US" sz="1650" dirty="0"/>
          </a:p>
        </p:txBody>
      </p:sp>
      <p:sp>
        <p:nvSpPr>
          <p:cNvPr id="14" name="Shape 12"/>
          <p:cNvSpPr/>
          <p:nvPr/>
        </p:nvSpPr>
        <p:spPr>
          <a:xfrm>
            <a:off x="740331" y="3018592"/>
            <a:ext cx="13149739" cy="559475"/>
          </a:xfrm>
          <a:prstGeom prst="rect">
            <a:avLst/>
          </a:prstGeom>
          <a:solidFill>
            <a:srgbClr val="FFFFFF">
              <a:alpha val="4000"/>
            </a:srgbClr>
          </a:solidFill>
          <a:ln/>
        </p:spPr>
      </p:sp>
      <p:sp>
        <p:nvSpPr>
          <p:cNvPr id="15" name="Text 13"/>
          <p:cNvSpPr/>
          <p:nvPr/>
        </p:nvSpPr>
        <p:spPr>
          <a:xfrm>
            <a:off x="910352" y="3128248"/>
            <a:ext cx="2943582" cy="340162"/>
          </a:xfrm>
          <a:prstGeom prst="rect">
            <a:avLst/>
          </a:prstGeom>
          <a:noFill/>
          <a:ln/>
        </p:spPr>
        <p:txBody>
          <a:bodyPr wrap="none" lIns="0" tIns="0" rIns="0" bIns="0" rtlCol="0" anchor="t"/>
          <a:lstStyle/>
          <a:p>
            <a:pPr algn="l" indent="0" marL="0">
              <a:lnSpc>
                <a:spcPts val="2650"/>
              </a:lnSpc>
              <a:buNone/>
            </a:pPr>
            <a:r>
              <a:rPr lang="en-US" sz="1650" dirty="0">
                <a:solidFill>
                  <a:srgbClr val="151617"/>
                </a:solidFill>
                <a:latin typeface="Inconsolata" pitchFamily="34" charset="0"/>
                <a:ea typeface="Inconsolata" pitchFamily="34" charset="-122"/>
                <a:cs typeface="Inconsolata" pitchFamily="34" charset="-120"/>
              </a:rPr>
              <a:t>Desktop MCP</a:t>
            </a:r>
            <a:endParaRPr lang="en-US" sz="1650" dirty="0"/>
          </a:p>
        </p:txBody>
      </p:sp>
      <p:sp>
        <p:nvSpPr>
          <p:cNvPr id="16" name="Text 14"/>
          <p:cNvSpPr/>
          <p:nvPr/>
        </p:nvSpPr>
        <p:spPr>
          <a:xfrm>
            <a:off x="4201597" y="3128248"/>
            <a:ext cx="2939772" cy="340162"/>
          </a:xfrm>
          <a:prstGeom prst="rect">
            <a:avLst/>
          </a:prstGeom>
          <a:noFill/>
          <a:ln/>
        </p:spPr>
        <p:txBody>
          <a:bodyPr wrap="none" lIns="0" tIns="0" rIns="0" bIns="0" rtlCol="0" anchor="t"/>
          <a:lstStyle/>
          <a:p>
            <a:pPr algn="l" indent="0" marL="0">
              <a:lnSpc>
                <a:spcPts val="2650"/>
              </a:lnSpc>
              <a:buNone/>
            </a:pPr>
            <a:r>
              <a:rPr lang="en-US" sz="1650" dirty="0">
                <a:solidFill>
                  <a:srgbClr val="151617"/>
                </a:solidFill>
                <a:latin typeface="Inconsolata" pitchFamily="34" charset="0"/>
                <a:ea typeface="Inconsolata" pitchFamily="34" charset="-122"/>
                <a:cs typeface="Inconsolata" pitchFamily="34" charset="-120"/>
              </a:rPr>
              <a:t>Claude Desktop, Cursor</a:t>
            </a:r>
            <a:endParaRPr lang="en-US" sz="1650" dirty="0"/>
          </a:p>
        </p:txBody>
      </p:sp>
      <p:sp>
        <p:nvSpPr>
          <p:cNvPr id="17" name="Text 15"/>
          <p:cNvSpPr/>
          <p:nvPr/>
        </p:nvSpPr>
        <p:spPr>
          <a:xfrm>
            <a:off x="7489031" y="3128248"/>
            <a:ext cx="2939772" cy="340162"/>
          </a:xfrm>
          <a:prstGeom prst="rect">
            <a:avLst/>
          </a:prstGeom>
          <a:noFill/>
          <a:ln/>
        </p:spPr>
        <p:txBody>
          <a:bodyPr wrap="none" lIns="0" tIns="0" rIns="0" bIns="0" rtlCol="0" anchor="t"/>
          <a:lstStyle/>
          <a:p>
            <a:pPr algn="l" indent="0" marL="0">
              <a:lnSpc>
                <a:spcPts val="2650"/>
              </a:lnSpc>
              <a:buNone/>
            </a:pPr>
            <a:r>
              <a:rPr lang="en-US" sz="1650" dirty="0">
                <a:solidFill>
                  <a:srgbClr val="151617"/>
                </a:solidFill>
                <a:latin typeface="Inconsolata" pitchFamily="34" charset="0"/>
                <a:ea typeface="Inconsolata" pitchFamily="34" charset="-122"/>
                <a:cs typeface="Inconsolata" pitchFamily="34" charset="-120"/>
              </a:rPr>
              <a:t>Great dev tools</a:t>
            </a:r>
            <a:endParaRPr lang="en-US" sz="1650" dirty="0"/>
          </a:p>
        </p:txBody>
      </p:sp>
      <p:sp>
        <p:nvSpPr>
          <p:cNvPr id="18" name="Text 16"/>
          <p:cNvSpPr/>
          <p:nvPr/>
        </p:nvSpPr>
        <p:spPr>
          <a:xfrm>
            <a:off x="10776466" y="3128248"/>
            <a:ext cx="2943582" cy="340162"/>
          </a:xfrm>
          <a:prstGeom prst="rect">
            <a:avLst/>
          </a:prstGeom>
          <a:noFill/>
          <a:ln/>
        </p:spPr>
        <p:txBody>
          <a:bodyPr wrap="none" lIns="0" tIns="0" rIns="0" bIns="0" rtlCol="0" anchor="t"/>
          <a:lstStyle/>
          <a:p>
            <a:pPr algn="l" indent="0" marL="0">
              <a:lnSpc>
                <a:spcPts val="2650"/>
              </a:lnSpc>
              <a:buNone/>
            </a:pPr>
            <a:r>
              <a:rPr lang="en-US" sz="1650" b="1" dirty="0">
                <a:solidFill>
                  <a:srgbClr val="151617"/>
                </a:solidFill>
                <a:latin typeface="Inconsolata" pitchFamily="34" charset="0"/>
                <a:ea typeface="Inconsolata" pitchFamily="34" charset="-122"/>
                <a:cs typeface="Inconsolata" pitchFamily="34" charset="-120"/>
              </a:rPr>
              <a:t>No mobile, no monetization</a:t>
            </a:r>
            <a:endParaRPr lang="en-US" sz="1650" dirty="0"/>
          </a:p>
        </p:txBody>
      </p:sp>
      <p:sp>
        <p:nvSpPr>
          <p:cNvPr id="19" name="Shape 17"/>
          <p:cNvSpPr/>
          <p:nvPr/>
        </p:nvSpPr>
        <p:spPr>
          <a:xfrm>
            <a:off x="740331" y="3578066"/>
            <a:ext cx="13149739" cy="899636"/>
          </a:xfrm>
          <a:prstGeom prst="rect">
            <a:avLst/>
          </a:prstGeom>
          <a:solidFill>
            <a:srgbClr val="000000">
              <a:alpha val="4000"/>
            </a:srgbClr>
          </a:solidFill>
          <a:ln/>
        </p:spPr>
      </p:sp>
      <p:sp>
        <p:nvSpPr>
          <p:cNvPr id="20" name="Text 18"/>
          <p:cNvSpPr/>
          <p:nvPr/>
        </p:nvSpPr>
        <p:spPr>
          <a:xfrm>
            <a:off x="910352" y="3687723"/>
            <a:ext cx="2943582" cy="340162"/>
          </a:xfrm>
          <a:prstGeom prst="rect">
            <a:avLst/>
          </a:prstGeom>
          <a:noFill/>
          <a:ln/>
        </p:spPr>
        <p:txBody>
          <a:bodyPr wrap="none" lIns="0" tIns="0" rIns="0" bIns="0" rtlCol="0" anchor="t"/>
          <a:lstStyle/>
          <a:p>
            <a:pPr algn="l" indent="0" marL="0">
              <a:lnSpc>
                <a:spcPts val="2650"/>
              </a:lnSpc>
              <a:buNone/>
            </a:pPr>
            <a:r>
              <a:rPr lang="en-US" sz="1650" dirty="0">
                <a:solidFill>
                  <a:srgbClr val="151617"/>
                </a:solidFill>
                <a:latin typeface="Inconsolata" pitchFamily="34" charset="0"/>
                <a:ea typeface="Inconsolata" pitchFamily="34" charset="-122"/>
                <a:cs typeface="Inconsolata" pitchFamily="34" charset="-120"/>
              </a:rPr>
              <a:t>Mobile AI Limited</a:t>
            </a:r>
            <a:endParaRPr lang="en-US" sz="1650" dirty="0"/>
          </a:p>
        </p:txBody>
      </p:sp>
      <p:sp>
        <p:nvSpPr>
          <p:cNvPr id="21" name="Text 19"/>
          <p:cNvSpPr/>
          <p:nvPr/>
        </p:nvSpPr>
        <p:spPr>
          <a:xfrm>
            <a:off x="4201597" y="3687723"/>
            <a:ext cx="2939772" cy="340162"/>
          </a:xfrm>
          <a:prstGeom prst="rect">
            <a:avLst/>
          </a:prstGeom>
          <a:noFill/>
          <a:ln/>
        </p:spPr>
        <p:txBody>
          <a:bodyPr wrap="none" lIns="0" tIns="0" rIns="0" bIns="0" rtlCol="0" anchor="t"/>
          <a:lstStyle/>
          <a:p>
            <a:pPr algn="l" indent="0" marL="0">
              <a:lnSpc>
                <a:spcPts val="2650"/>
              </a:lnSpc>
              <a:buNone/>
            </a:pPr>
            <a:r>
              <a:rPr lang="en-US" sz="1650" dirty="0">
                <a:solidFill>
                  <a:srgbClr val="151617"/>
                </a:solidFill>
                <a:latin typeface="Inconsolata" pitchFamily="34" charset="0"/>
                <a:ea typeface="Inconsolata" pitchFamily="34" charset="-122"/>
                <a:cs typeface="Inconsolata" pitchFamily="34" charset="-120"/>
              </a:rPr>
              <a:t>Claude Mobile, ChatGPT</a:t>
            </a:r>
            <a:endParaRPr lang="en-US" sz="1650" dirty="0"/>
          </a:p>
        </p:txBody>
      </p:sp>
      <p:sp>
        <p:nvSpPr>
          <p:cNvPr id="22" name="Text 20"/>
          <p:cNvSpPr/>
          <p:nvPr/>
        </p:nvSpPr>
        <p:spPr>
          <a:xfrm>
            <a:off x="7489031" y="3687723"/>
            <a:ext cx="2939772" cy="340162"/>
          </a:xfrm>
          <a:prstGeom prst="rect">
            <a:avLst/>
          </a:prstGeom>
          <a:noFill/>
          <a:ln/>
        </p:spPr>
        <p:txBody>
          <a:bodyPr wrap="none" lIns="0" tIns="0" rIns="0" bIns="0" rtlCol="0" anchor="t"/>
          <a:lstStyle/>
          <a:p>
            <a:pPr algn="l" indent="0" marL="0">
              <a:lnSpc>
                <a:spcPts val="2650"/>
              </a:lnSpc>
              <a:buNone/>
            </a:pPr>
            <a:r>
              <a:rPr lang="en-US" sz="1650" dirty="0">
                <a:solidFill>
                  <a:srgbClr val="151617"/>
                </a:solidFill>
                <a:latin typeface="Inconsolata" pitchFamily="34" charset="0"/>
                <a:ea typeface="Inconsolata" pitchFamily="34" charset="-122"/>
                <a:cs typeface="Inconsolata" pitchFamily="34" charset="-120"/>
              </a:rPr>
              <a:t>Good chat UX</a:t>
            </a:r>
            <a:endParaRPr lang="en-US" sz="1650" dirty="0"/>
          </a:p>
        </p:txBody>
      </p:sp>
      <p:sp>
        <p:nvSpPr>
          <p:cNvPr id="23" name="Text 21"/>
          <p:cNvSpPr/>
          <p:nvPr/>
        </p:nvSpPr>
        <p:spPr>
          <a:xfrm>
            <a:off x="10776466" y="3687723"/>
            <a:ext cx="2943582" cy="680323"/>
          </a:xfrm>
          <a:prstGeom prst="rect">
            <a:avLst/>
          </a:prstGeom>
          <a:noFill/>
          <a:ln/>
        </p:spPr>
        <p:txBody>
          <a:bodyPr wrap="square" lIns="0" tIns="0" rIns="0" bIns="0" rtlCol="0" anchor="t"/>
          <a:lstStyle/>
          <a:p>
            <a:pPr algn="l" indent="0" marL="0">
              <a:lnSpc>
                <a:spcPts val="2650"/>
              </a:lnSpc>
              <a:buNone/>
            </a:pPr>
            <a:r>
              <a:rPr lang="en-US" sz="1650" b="1" dirty="0">
                <a:solidFill>
                  <a:srgbClr val="151617"/>
                </a:solidFill>
                <a:latin typeface="Inconsolata" pitchFamily="34" charset="0"/>
                <a:ea typeface="Inconsolata" pitchFamily="34" charset="-122"/>
                <a:cs typeface="Inconsolata" pitchFamily="34" charset="-120"/>
              </a:rPr>
              <a:t>15-25 tools, $20/month paywall</a:t>
            </a:r>
            <a:endParaRPr lang="en-US" sz="1650" dirty="0"/>
          </a:p>
        </p:txBody>
      </p:sp>
      <p:sp>
        <p:nvSpPr>
          <p:cNvPr id="24" name="Shape 22"/>
          <p:cNvSpPr/>
          <p:nvPr/>
        </p:nvSpPr>
        <p:spPr>
          <a:xfrm>
            <a:off x="740331" y="4477703"/>
            <a:ext cx="13149739" cy="899636"/>
          </a:xfrm>
          <a:prstGeom prst="rect">
            <a:avLst/>
          </a:prstGeom>
          <a:solidFill>
            <a:srgbClr val="FFFFFF">
              <a:alpha val="4000"/>
            </a:srgbClr>
          </a:solidFill>
          <a:ln/>
        </p:spPr>
      </p:sp>
      <p:sp>
        <p:nvSpPr>
          <p:cNvPr id="25" name="Text 23"/>
          <p:cNvSpPr/>
          <p:nvPr/>
        </p:nvSpPr>
        <p:spPr>
          <a:xfrm>
            <a:off x="910352" y="4587359"/>
            <a:ext cx="2943582" cy="340162"/>
          </a:xfrm>
          <a:prstGeom prst="rect">
            <a:avLst/>
          </a:prstGeom>
          <a:noFill/>
          <a:ln/>
        </p:spPr>
        <p:txBody>
          <a:bodyPr wrap="none" lIns="0" tIns="0" rIns="0" bIns="0" rtlCol="0" anchor="t"/>
          <a:lstStyle/>
          <a:p>
            <a:pPr algn="l" indent="0" marL="0">
              <a:lnSpc>
                <a:spcPts val="2650"/>
              </a:lnSpc>
              <a:buNone/>
            </a:pPr>
            <a:r>
              <a:rPr lang="en-US" sz="1650" dirty="0">
                <a:solidFill>
                  <a:srgbClr val="000000"/>
                </a:solidFill>
                <a:latin typeface="Inconsolata" pitchFamily="34" charset="0"/>
                <a:ea typeface="Inconsolata" pitchFamily="34" charset="-122"/>
                <a:cs typeface="Inconsolata" pitchFamily="34" charset="-120"/>
              </a:rPr>
              <a:t>🏆</a:t>
            </a:r>
            <a:pPr algn="l" indent="0" marL="0">
              <a:lnSpc>
                <a:spcPts val="2650"/>
              </a:lnSpc>
              <a:buNone/>
            </a:pPr>
            <a:r>
              <a:rPr lang="en-US" sz="1650" b="1" dirty="0">
                <a:solidFill>
                  <a:srgbClr val="FDC4C4"/>
                </a:solidFill>
                <a:latin typeface="Inconsolata" pitchFamily="34" charset="0"/>
                <a:ea typeface="Inconsolata" pitchFamily="34" charset="-122"/>
                <a:cs typeface="Inconsolata" pitchFamily="34" charset="-120"/>
              </a:rPr>
              <a:t> </a:t>
            </a:r>
            <a:pPr algn="l" indent="0" marL="0">
              <a:lnSpc>
                <a:spcPts val="2650"/>
              </a:lnSpc>
              <a:buNone/>
            </a:pPr>
            <a:r>
              <a:rPr lang="en-US" sz="1650" b="1" dirty="0">
                <a:solidFill>
                  <a:srgbClr val="5E208E"/>
                </a:solidFill>
                <a:latin typeface="Inconsolata" pitchFamily="34" charset="0"/>
                <a:ea typeface="Inconsolata" pitchFamily="34" charset="-122"/>
                <a:cs typeface="Inconsolata" pitchFamily="34" charset="-120"/>
              </a:rPr>
              <a:t>Nexus</a:t>
            </a:r>
            <a:endParaRPr lang="en-US" sz="1650" dirty="0"/>
          </a:p>
        </p:txBody>
      </p:sp>
      <p:sp>
        <p:nvSpPr>
          <p:cNvPr id="26" name="Text 24"/>
          <p:cNvSpPr/>
          <p:nvPr/>
        </p:nvSpPr>
        <p:spPr>
          <a:xfrm>
            <a:off x="4201597" y="4587359"/>
            <a:ext cx="2939772" cy="340162"/>
          </a:xfrm>
          <a:prstGeom prst="rect">
            <a:avLst/>
          </a:prstGeom>
          <a:noFill/>
          <a:ln/>
        </p:spPr>
        <p:txBody>
          <a:bodyPr wrap="none" lIns="0" tIns="0" rIns="0" bIns="0" rtlCol="0" anchor="t"/>
          <a:lstStyle/>
          <a:p>
            <a:pPr algn="l" indent="0" marL="0">
              <a:lnSpc>
                <a:spcPts val="2650"/>
              </a:lnSpc>
              <a:buNone/>
            </a:pPr>
            <a:r>
              <a:rPr lang="en-US" sz="1650" b="1" dirty="0">
                <a:solidFill>
                  <a:srgbClr val="151617"/>
                </a:solidFill>
                <a:latin typeface="Inconsolata" pitchFamily="34" charset="0"/>
                <a:ea typeface="Inconsolata" pitchFamily="34" charset="-122"/>
                <a:cs typeface="Inconsolata" pitchFamily="34" charset="-120"/>
              </a:rPr>
              <a:t>Us</a:t>
            </a:r>
            <a:endParaRPr lang="en-US" sz="1650" dirty="0"/>
          </a:p>
        </p:txBody>
      </p:sp>
      <p:sp>
        <p:nvSpPr>
          <p:cNvPr id="27" name="Text 25"/>
          <p:cNvSpPr/>
          <p:nvPr/>
        </p:nvSpPr>
        <p:spPr>
          <a:xfrm>
            <a:off x="7489031" y="4587359"/>
            <a:ext cx="2939772" cy="680323"/>
          </a:xfrm>
          <a:prstGeom prst="rect">
            <a:avLst/>
          </a:prstGeom>
          <a:noFill/>
          <a:ln/>
        </p:spPr>
        <p:txBody>
          <a:bodyPr wrap="square" lIns="0" tIns="0" rIns="0" bIns="0" rtlCol="0" anchor="t"/>
          <a:lstStyle/>
          <a:p>
            <a:pPr algn="l" indent="0" marL="0">
              <a:lnSpc>
                <a:spcPts val="2650"/>
              </a:lnSpc>
              <a:buNone/>
            </a:pPr>
            <a:r>
              <a:rPr lang="en-US" sz="1650" b="1" dirty="0">
                <a:solidFill>
                  <a:srgbClr val="151617"/>
                </a:solidFill>
                <a:latin typeface="Inconsolata" pitchFamily="34" charset="0"/>
                <a:ea typeface="Inconsolata" pitchFamily="34" charset="-122"/>
                <a:cs typeface="Inconsolata" pitchFamily="34" charset="-120"/>
              </a:rPr>
              <a:t>Mobile marketplace + monetization</a:t>
            </a:r>
            <a:endParaRPr lang="en-US" sz="1650" dirty="0"/>
          </a:p>
        </p:txBody>
      </p:sp>
      <p:sp>
        <p:nvSpPr>
          <p:cNvPr id="28" name="Text 26"/>
          <p:cNvSpPr/>
          <p:nvPr/>
        </p:nvSpPr>
        <p:spPr>
          <a:xfrm>
            <a:off x="10776466" y="4587359"/>
            <a:ext cx="2943582" cy="340162"/>
          </a:xfrm>
          <a:prstGeom prst="rect">
            <a:avLst/>
          </a:prstGeom>
          <a:noFill/>
          <a:ln/>
        </p:spPr>
        <p:txBody>
          <a:bodyPr wrap="none" lIns="0" tIns="0" rIns="0" bIns="0" rtlCol="0" anchor="t"/>
          <a:lstStyle/>
          <a:p>
            <a:pPr algn="l" indent="0" marL="0">
              <a:lnSpc>
                <a:spcPts val="2650"/>
              </a:lnSpc>
              <a:buNone/>
            </a:pPr>
            <a:r>
              <a:rPr lang="en-US" sz="1650" b="1" dirty="0">
                <a:solidFill>
                  <a:srgbClr val="151617"/>
                </a:solidFill>
                <a:latin typeface="Inconsolata" pitchFamily="34" charset="0"/>
                <a:ea typeface="Inconsolata" pitchFamily="34" charset="-122"/>
                <a:cs typeface="Inconsolata" pitchFamily="34" charset="-120"/>
              </a:rPr>
              <a:t>100+ tools, freemium model</a:t>
            </a:r>
            <a:endParaRPr lang="en-US" sz="1650" dirty="0"/>
          </a:p>
        </p:txBody>
      </p:sp>
      <p:sp>
        <p:nvSpPr>
          <p:cNvPr id="29" name="Text 27"/>
          <p:cNvSpPr/>
          <p:nvPr/>
        </p:nvSpPr>
        <p:spPr>
          <a:xfrm>
            <a:off x="732711" y="5640110"/>
            <a:ext cx="2788325" cy="318849"/>
          </a:xfrm>
          <a:prstGeom prst="rect">
            <a:avLst/>
          </a:prstGeom>
          <a:noFill/>
          <a:ln/>
        </p:spPr>
        <p:txBody>
          <a:bodyPr wrap="none" lIns="0" tIns="0" rIns="0" bIns="0" rtlCol="0" anchor="t"/>
          <a:lstStyle/>
          <a:p>
            <a:pPr algn="l" indent="0" marL="0">
              <a:lnSpc>
                <a:spcPts val="2500"/>
              </a:lnSpc>
              <a:buNone/>
            </a:pPr>
            <a:r>
              <a:rPr lang="en-US" sz="2000" b="1" dirty="0">
                <a:solidFill>
                  <a:srgbClr val="151617"/>
                </a:solidFill>
                <a:latin typeface="Montserrat Black" pitchFamily="34" charset="0"/>
                <a:ea typeface="Montserrat Black" pitchFamily="34" charset="-122"/>
                <a:cs typeface="Montserrat Black" pitchFamily="34" charset="-120"/>
              </a:rPr>
              <a:t>Our Unique Position</a:t>
            </a:r>
            <a:endParaRPr lang="en-US" sz="2000" dirty="0"/>
          </a:p>
        </p:txBody>
      </p:sp>
      <p:sp>
        <p:nvSpPr>
          <p:cNvPr id="30" name="Shape 28"/>
          <p:cNvSpPr/>
          <p:nvPr/>
        </p:nvSpPr>
        <p:spPr>
          <a:xfrm>
            <a:off x="732711" y="6214110"/>
            <a:ext cx="4274939" cy="995243"/>
          </a:xfrm>
          <a:prstGeom prst="roundRect">
            <a:avLst>
              <a:gd name="adj" fmla="val 41024"/>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31" name="Text 29"/>
          <p:cNvSpPr/>
          <p:nvPr/>
        </p:nvSpPr>
        <p:spPr>
          <a:xfrm>
            <a:off x="910352" y="6391751"/>
            <a:ext cx="3495913" cy="265747"/>
          </a:xfrm>
          <a:prstGeom prst="rect">
            <a:avLst/>
          </a:prstGeom>
          <a:noFill/>
          <a:ln/>
        </p:spPr>
        <p:txBody>
          <a:bodyPr wrap="none" lIns="0" tIns="0" rIns="0" bIns="0" rtlCol="0" anchor="t"/>
          <a:lstStyle/>
          <a:p>
            <a:pPr algn="l" indent="0" marL="0">
              <a:lnSpc>
                <a:spcPts val="2050"/>
              </a:lnSpc>
              <a:buNone/>
            </a:pPr>
            <a:r>
              <a:rPr lang="en-US" sz="1650" b="1" dirty="0">
                <a:solidFill>
                  <a:srgbClr val="151617"/>
                </a:solidFill>
                <a:latin typeface="Montserrat Black" pitchFamily="34" charset="0"/>
                <a:ea typeface="Montserrat Black" pitchFamily="34" charset="-122"/>
                <a:cs typeface="Montserrat Black" pitchFamily="34" charset="-120"/>
              </a:rPr>
              <a:t>Only mobile MCP marketplace</a:t>
            </a:r>
            <a:endParaRPr lang="en-US" sz="1650" dirty="0"/>
          </a:p>
        </p:txBody>
      </p:sp>
      <p:sp>
        <p:nvSpPr>
          <p:cNvPr id="32" name="Text 30"/>
          <p:cNvSpPr/>
          <p:nvPr/>
        </p:nvSpPr>
        <p:spPr>
          <a:xfrm>
            <a:off x="910352" y="6759535"/>
            <a:ext cx="3919657" cy="272177"/>
          </a:xfrm>
          <a:prstGeom prst="rect">
            <a:avLst/>
          </a:prstGeom>
          <a:noFill/>
          <a:ln/>
        </p:spPr>
        <p:txBody>
          <a:bodyPr wrap="none" lIns="0" tIns="0" rIns="0" bIns="0" rtlCol="0" anchor="t"/>
          <a:lstStyle/>
          <a:p>
            <a:pPr algn="l" indent="0" marL="0">
              <a:lnSpc>
                <a:spcPts val="2100"/>
              </a:lnSpc>
              <a:buNone/>
            </a:pPr>
            <a:r>
              <a:rPr lang="en-US" sz="1300" dirty="0">
                <a:solidFill>
                  <a:srgbClr val="151617"/>
                </a:solidFill>
                <a:latin typeface="Inconsolata" pitchFamily="34" charset="0"/>
                <a:ea typeface="Inconsolata" pitchFamily="34" charset="-122"/>
                <a:cs typeface="Inconsolata" pitchFamily="34" charset="-120"/>
              </a:rPr>
              <a:t>With real monetization</a:t>
            </a:r>
            <a:endParaRPr lang="en-US" sz="1300" dirty="0"/>
          </a:p>
        </p:txBody>
      </p:sp>
      <p:sp>
        <p:nvSpPr>
          <p:cNvPr id="33" name="Shape 31"/>
          <p:cNvSpPr/>
          <p:nvPr/>
        </p:nvSpPr>
        <p:spPr>
          <a:xfrm>
            <a:off x="5177671" y="6214110"/>
            <a:ext cx="4274939" cy="995243"/>
          </a:xfrm>
          <a:prstGeom prst="roundRect">
            <a:avLst>
              <a:gd name="adj" fmla="val 41024"/>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34" name="Text 32"/>
          <p:cNvSpPr/>
          <p:nvPr/>
        </p:nvSpPr>
        <p:spPr>
          <a:xfrm>
            <a:off x="5355312" y="6391751"/>
            <a:ext cx="3619857" cy="265747"/>
          </a:xfrm>
          <a:prstGeom prst="rect">
            <a:avLst/>
          </a:prstGeom>
          <a:noFill/>
          <a:ln/>
        </p:spPr>
        <p:txBody>
          <a:bodyPr wrap="none" lIns="0" tIns="0" rIns="0" bIns="0" rtlCol="0" anchor="t"/>
          <a:lstStyle/>
          <a:p>
            <a:pPr algn="l" indent="0" marL="0">
              <a:lnSpc>
                <a:spcPts val="2050"/>
              </a:lnSpc>
              <a:buNone/>
            </a:pPr>
            <a:r>
              <a:rPr lang="en-US" sz="1650" b="1" dirty="0">
                <a:solidFill>
                  <a:srgbClr val="151617"/>
                </a:solidFill>
                <a:latin typeface="Montserrat Black" pitchFamily="34" charset="0"/>
                <a:ea typeface="Montserrat Black" pitchFamily="34" charset="-122"/>
                <a:cs typeface="Montserrat Black" pitchFamily="34" charset="-120"/>
              </a:rPr>
              <a:t>Frustrated developer migration</a:t>
            </a:r>
            <a:endParaRPr lang="en-US" sz="1650" dirty="0"/>
          </a:p>
        </p:txBody>
      </p:sp>
      <p:sp>
        <p:nvSpPr>
          <p:cNvPr id="35" name="Text 33"/>
          <p:cNvSpPr/>
          <p:nvPr/>
        </p:nvSpPr>
        <p:spPr>
          <a:xfrm>
            <a:off x="5355312" y="6759535"/>
            <a:ext cx="3919657" cy="272177"/>
          </a:xfrm>
          <a:prstGeom prst="rect">
            <a:avLst/>
          </a:prstGeom>
          <a:noFill/>
          <a:ln/>
        </p:spPr>
        <p:txBody>
          <a:bodyPr wrap="none" lIns="0" tIns="0" rIns="0" bIns="0" rtlCol="0" anchor="t"/>
          <a:lstStyle/>
          <a:p>
            <a:pPr algn="l" indent="0" marL="0">
              <a:lnSpc>
                <a:spcPts val="2100"/>
              </a:lnSpc>
              <a:buNone/>
            </a:pPr>
            <a:r>
              <a:rPr lang="en-US" sz="1300" dirty="0">
                <a:solidFill>
                  <a:srgbClr val="151617"/>
                </a:solidFill>
                <a:latin typeface="Inconsolata" pitchFamily="34" charset="0"/>
                <a:ea typeface="Inconsolata" pitchFamily="34" charset="-122"/>
                <a:cs typeface="Inconsolata" pitchFamily="34" charset="-120"/>
              </a:rPr>
              <a:t>Ready-made opportunity</a:t>
            </a:r>
            <a:endParaRPr lang="en-US" sz="1300" dirty="0"/>
          </a:p>
        </p:txBody>
      </p:sp>
      <p:sp>
        <p:nvSpPr>
          <p:cNvPr id="36" name="Shape 34"/>
          <p:cNvSpPr/>
          <p:nvPr/>
        </p:nvSpPr>
        <p:spPr>
          <a:xfrm>
            <a:off x="9622631" y="6214110"/>
            <a:ext cx="4274939" cy="995243"/>
          </a:xfrm>
          <a:prstGeom prst="roundRect">
            <a:avLst>
              <a:gd name="adj" fmla="val 41024"/>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37" name="Text 35"/>
          <p:cNvSpPr/>
          <p:nvPr/>
        </p:nvSpPr>
        <p:spPr>
          <a:xfrm>
            <a:off x="9800273" y="6391751"/>
            <a:ext cx="2754154" cy="265747"/>
          </a:xfrm>
          <a:prstGeom prst="rect">
            <a:avLst/>
          </a:prstGeom>
          <a:noFill/>
          <a:ln/>
        </p:spPr>
        <p:txBody>
          <a:bodyPr wrap="none" lIns="0" tIns="0" rIns="0" bIns="0" rtlCol="0" anchor="t"/>
          <a:lstStyle/>
          <a:p>
            <a:pPr algn="l" indent="0" marL="0">
              <a:lnSpc>
                <a:spcPts val="2050"/>
              </a:lnSpc>
              <a:buNone/>
            </a:pPr>
            <a:r>
              <a:rPr lang="en-US" sz="1650" b="1" dirty="0">
                <a:solidFill>
                  <a:srgbClr val="151617"/>
                </a:solidFill>
                <a:latin typeface="Montserrat Black" pitchFamily="34" charset="0"/>
                <a:ea typeface="Montserrat Black" pitchFamily="34" charset="-122"/>
                <a:cs typeface="Montserrat Black" pitchFamily="34" charset="-120"/>
              </a:rPr>
              <a:t>Mobile commerce focus</a:t>
            </a:r>
            <a:endParaRPr lang="en-US" sz="1650" dirty="0"/>
          </a:p>
        </p:txBody>
      </p:sp>
      <p:sp>
        <p:nvSpPr>
          <p:cNvPr id="38" name="Text 36"/>
          <p:cNvSpPr/>
          <p:nvPr/>
        </p:nvSpPr>
        <p:spPr>
          <a:xfrm>
            <a:off x="9800273" y="6759535"/>
            <a:ext cx="3919657" cy="272177"/>
          </a:xfrm>
          <a:prstGeom prst="rect">
            <a:avLst/>
          </a:prstGeom>
          <a:noFill/>
          <a:ln/>
        </p:spPr>
        <p:txBody>
          <a:bodyPr wrap="none" lIns="0" tIns="0" rIns="0" bIns="0" rtlCol="0" anchor="t"/>
          <a:lstStyle/>
          <a:p>
            <a:pPr algn="l" indent="0" marL="0">
              <a:lnSpc>
                <a:spcPts val="2100"/>
              </a:lnSpc>
              <a:buNone/>
            </a:pPr>
            <a:r>
              <a:rPr lang="en-US" sz="1300" dirty="0">
                <a:solidFill>
                  <a:srgbClr val="151617"/>
                </a:solidFill>
                <a:latin typeface="Inconsolata" pitchFamily="34" charset="0"/>
                <a:ea typeface="Inconsolata" pitchFamily="34" charset="-122"/>
                <a:cs typeface="Inconsolata" pitchFamily="34" charset="-120"/>
              </a:rPr>
              <a:t>Competitors ignore e-commerce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67596" y="753785"/>
            <a:ext cx="10159484" cy="556855"/>
          </a:xfrm>
          <a:prstGeom prst="rect">
            <a:avLst/>
          </a:prstGeom>
          <a:noFill/>
          <a:ln/>
        </p:spPr>
        <p:txBody>
          <a:bodyPr wrap="none" lIns="0" tIns="0" rIns="0" bIns="0" rtlCol="0" anchor="t"/>
          <a:lstStyle/>
          <a:p>
            <a:pPr algn="l" indent="0" marL="0">
              <a:lnSpc>
                <a:spcPts val="4350"/>
              </a:lnSpc>
              <a:buNone/>
            </a:pPr>
            <a:r>
              <a:rPr lang="en-US" sz="3500" b="1" dirty="0">
                <a:solidFill>
                  <a:srgbClr val="151617"/>
                </a:solidFill>
                <a:latin typeface="Montserrat Black" pitchFamily="34" charset="0"/>
                <a:ea typeface="Montserrat Black" pitchFamily="34" charset="-122"/>
                <a:cs typeface="Montserrat Black" pitchFamily="34" charset="-120"/>
              </a:rPr>
              <a:t>Production Platform + Clear Path Forward</a:t>
            </a:r>
            <a:endParaRPr lang="en-US" sz="3500" dirty="0"/>
          </a:p>
        </p:txBody>
      </p:sp>
      <p:sp>
        <p:nvSpPr>
          <p:cNvPr id="3" name="Text 1"/>
          <p:cNvSpPr/>
          <p:nvPr/>
        </p:nvSpPr>
        <p:spPr>
          <a:xfrm>
            <a:off x="767596" y="1755934"/>
            <a:ext cx="2672834" cy="334089"/>
          </a:xfrm>
          <a:prstGeom prst="rect">
            <a:avLst/>
          </a:prstGeom>
          <a:noFill/>
          <a:ln/>
        </p:spPr>
        <p:txBody>
          <a:bodyPr wrap="none" lIns="0" tIns="0" rIns="0" bIns="0" rtlCol="0" anchor="t"/>
          <a:lstStyle/>
          <a:p>
            <a:pPr algn="l" indent="0" marL="0">
              <a:lnSpc>
                <a:spcPts val="2600"/>
              </a:lnSpc>
              <a:buNone/>
            </a:pPr>
            <a:r>
              <a:rPr lang="en-US" sz="2100" b="1" dirty="0">
                <a:solidFill>
                  <a:srgbClr val="910D0D"/>
                </a:solidFill>
                <a:latin typeface="Montserrat Black" pitchFamily="34" charset="0"/>
                <a:ea typeface="Montserrat Black" pitchFamily="34" charset="-122"/>
                <a:cs typeface="Montserrat Black" pitchFamily="34" charset="-120"/>
              </a:rPr>
              <a:t>Current Traction</a:t>
            </a:r>
            <a:endParaRPr lang="en-US" sz="2100" dirty="0"/>
          </a:p>
        </p:txBody>
      </p:sp>
      <p:sp>
        <p:nvSpPr>
          <p:cNvPr id="4" name="Shape 2"/>
          <p:cNvSpPr/>
          <p:nvPr/>
        </p:nvSpPr>
        <p:spPr>
          <a:xfrm>
            <a:off x="767596" y="2290405"/>
            <a:ext cx="4074795" cy="1113115"/>
          </a:xfrm>
          <a:prstGeom prst="roundRect">
            <a:avLst>
              <a:gd name="adj" fmla="val 821"/>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5" name="Text 3"/>
          <p:cNvSpPr/>
          <p:nvPr/>
        </p:nvSpPr>
        <p:spPr>
          <a:xfrm>
            <a:off x="953333" y="2476143"/>
            <a:ext cx="2866668" cy="278368"/>
          </a:xfrm>
          <a:prstGeom prst="rect">
            <a:avLst/>
          </a:prstGeom>
          <a:noFill/>
          <a:ln/>
        </p:spPr>
        <p:txBody>
          <a:bodyPr wrap="none" lIns="0" tIns="0" rIns="0" bIns="0" rtlCol="0" anchor="t"/>
          <a:lstStyle/>
          <a:p>
            <a:pPr algn="l" indent="0" marL="0">
              <a:lnSpc>
                <a:spcPts val="2150"/>
              </a:lnSpc>
              <a:buNone/>
            </a:pPr>
            <a:r>
              <a:rPr lang="en-US" sz="1750" b="1" dirty="0">
                <a:solidFill>
                  <a:srgbClr val="151617"/>
                </a:solidFill>
                <a:latin typeface="Montserrat Black" pitchFamily="34" charset="0"/>
                <a:ea typeface="Montserrat Black" pitchFamily="34" charset="-122"/>
                <a:cs typeface="Montserrat Black" pitchFamily="34" charset="-120"/>
              </a:rPr>
              <a:t>100+ AI tools integrated</a:t>
            </a:r>
            <a:endParaRPr lang="en-US" sz="1750" dirty="0"/>
          </a:p>
        </p:txBody>
      </p:sp>
      <p:sp>
        <p:nvSpPr>
          <p:cNvPr id="6" name="Text 4"/>
          <p:cNvSpPr/>
          <p:nvPr/>
        </p:nvSpPr>
        <p:spPr>
          <a:xfrm>
            <a:off x="953333" y="2932628"/>
            <a:ext cx="3703320" cy="285155"/>
          </a:xfrm>
          <a:prstGeom prst="rect">
            <a:avLst/>
          </a:prstGeom>
          <a:noFill/>
          <a:ln/>
        </p:spPr>
        <p:txBody>
          <a:bodyPr wrap="none" lIns="0" tIns="0" rIns="0" bIns="0" rtlCol="0" anchor="t"/>
          <a:lstStyle/>
          <a:p>
            <a:pPr algn="l" indent="0" marL="0">
              <a:lnSpc>
                <a:spcPts val="2200"/>
              </a:lnSpc>
              <a:buNone/>
            </a:pPr>
            <a:r>
              <a:rPr lang="en-US" sz="1400" dirty="0">
                <a:solidFill>
                  <a:srgbClr val="151617"/>
                </a:solidFill>
                <a:latin typeface="Inconsolata" pitchFamily="34" charset="0"/>
                <a:ea typeface="Inconsolata" pitchFamily="34" charset="-122"/>
                <a:cs typeface="Inconsolata" pitchFamily="34" charset="-120"/>
              </a:rPr>
              <a:t>50 productivity + 50 Shopify stores</a:t>
            </a:r>
            <a:endParaRPr lang="en-US" sz="1400" dirty="0"/>
          </a:p>
        </p:txBody>
      </p:sp>
      <p:sp>
        <p:nvSpPr>
          <p:cNvPr id="7" name="Shape 5"/>
          <p:cNvSpPr/>
          <p:nvPr/>
        </p:nvSpPr>
        <p:spPr>
          <a:xfrm>
            <a:off x="767596" y="3581638"/>
            <a:ext cx="4074795" cy="1113115"/>
          </a:xfrm>
          <a:prstGeom prst="roundRect">
            <a:avLst>
              <a:gd name="adj" fmla="val 821"/>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8" name="Text 6"/>
          <p:cNvSpPr/>
          <p:nvPr/>
        </p:nvSpPr>
        <p:spPr>
          <a:xfrm>
            <a:off x="953333" y="3767376"/>
            <a:ext cx="2227302" cy="278368"/>
          </a:xfrm>
          <a:prstGeom prst="rect">
            <a:avLst/>
          </a:prstGeom>
          <a:noFill/>
          <a:ln/>
        </p:spPr>
        <p:txBody>
          <a:bodyPr wrap="none" lIns="0" tIns="0" rIns="0" bIns="0" rtlCol="0" anchor="t"/>
          <a:lstStyle/>
          <a:p>
            <a:pPr algn="l" indent="0" marL="0">
              <a:lnSpc>
                <a:spcPts val="2150"/>
              </a:lnSpc>
              <a:buNone/>
            </a:pPr>
            <a:r>
              <a:rPr lang="en-US" sz="1750" b="1" dirty="0">
                <a:solidFill>
                  <a:srgbClr val="151617"/>
                </a:solidFill>
                <a:latin typeface="Montserrat Black" pitchFamily="34" charset="0"/>
                <a:ea typeface="Montserrat Black" pitchFamily="34" charset="-122"/>
                <a:cs typeface="Montserrat Black" pitchFamily="34" charset="-120"/>
              </a:rPr>
              <a:t>Mobile app built</a:t>
            </a:r>
            <a:endParaRPr lang="en-US" sz="1750" dirty="0"/>
          </a:p>
        </p:txBody>
      </p:sp>
      <p:sp>
        <p:nvSpPr>
          <p:cNvPr id="9" name="Text 7"/>
          <p:cNvSpPr/>
          <p:nvPr/>
        </p:nvSpPr>
        <p:spPr>
          <a:xfrm>
            <a:off x="953333" y="4223861"/>
            <a:ext cx="3703320" cy="285155"/>
          </a:xfrm>
          <a:prstGeom prst="rect">
            <a:avLst/>
          </a:prstGeom>
          <a:noFill/>
          <a:ln/>
        </p:spPr>
        <p:txBody>
          <a:bodyPr wrap="none" lIns="0" tIns="0" rIns="0" bIns="0" rtlCol="0" anchor="t"/>
          <a:lstStyle/>
          <a:p>
            <a:pPr algn="l" indent="0" marL="0">
              <a:lnSpc>
                <a:spcPts val="2200"/>
              </a:lnSpc>
              <a:buNone/>
            </a:pPr>
            <a:r>
              <a:rPr lang="en-US" sz="1400" dirty="0">
                <a:solidFill>
                  <a:srgbClr val="151617"/>
                </a:solidFill>
                <a:latin typeface="Inconsolata" pitchFamily="34" charset="0"/>
                <a:ea typeface="Inconsolata" pitchFamily="34" charset="-122"/>
                <a:cs typeface="Inconsolata" pitchFamily="34" charset="-120"/>
              </a:rPr>
              <a:t>Deployed to mobile via Capacitor</a:t>
            </a:r>
            <a:endParaRPr lang="en-US" sz="1400" dirty="0"/>
          </a:p>
        </p:txBody>
      </p:sp>
      <p:sp>
        <p:nvSpPr>
          <p:cNvPr id="10" name="Shape 8"/>
          <p:cNvSpPr/>
          <p:nvPr/>
        </p:nvSpPr>
        <p:spPr>
          <a:xfrm>
            <a:off x="767596" y="4872871"/>
            <a:ext cx="4074795" cy="1113115"/>
          </a:xfrm>
          <a:prstGeom prst="roundRect">
            <a:avLst>
              <a:gd name="adj" fmla="val 821"/>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11" name="Text 9"/>
          <p:cNvSpPr/>
          <p:nvPr/>
        </p:nvSpPr>
        <p:spPr>
          <a:xfrm>
            <a:off x="953333" y="5058608"/>
            <a:ext cx="2641521" cy="278368"/>
          </a:xfrm>
          <a:prstGeom prst="rect">
            <a:avLst/>
          </a:prstGeom>
          <a:noFill/>
          <a:ln/>
        </p:spPr>
        <p:txBody>
          <a:bodyPr wrap="none" lIns="0" tIns="0" rIns="0" bIns="0" rtlCol="0" anchor="t"/>
          <a:lstStyle/>
          <a:p>
            <a:pPr algn="l" indent="0" marL="0">
              <a:lnSpc>
                <a:spcPts val="2150"/>
              </a:lnSpc>
              <a:buNone/>
            </a:pPr>
            <a:r>
              <a:rPr lang="en-US" sz="1750" b="1" dirty="0">
                <a:solidFill>
                  <a:srgbClr val="151617"/>
                </a:solidFill>
                <a:latin typeface="Montserrat Black" pitchFamily="34" charset="0"/>
                <a:ea typeface="Montserrat Black" pitchFamily="34" charset="-122"/>
                <a:cs typeface="Montserrat Black" pitchFamily="34" charset="-120"/>
              </a:rPr>
              <a:t>OAuth authentication</a:t>
            </a:r>
            <a:endParaRPr lang="en-US" sz="1750" dirty="0"/>
          </a:p>
        </p:txBody>
      </p:sp>
      <p:sp>
        <p:nvSpPr>
          <p:cNvPr id="12" name="Text 10"/>
          <p:cNvSpPr/>
          <p:nvPr/>
        </p:nvSpPr>
        <p:spPr>
          <a:xfrm>
            <a:off x="953333" y="5515094"/>
            <a:ext cx="3703320" cy="285155"/>
          </a:xfrm>
          <a:prstGeom prst="rect">
            <a:avLst/>
          </a:prstGeom>
          <a:noFill/>
          <a:ln/>
        </p:spPr>
        <p:txBody>
          <a:bodyPr wrap="none" lIns="0" tIns="0" rIns="0" bIns="0" rtlCol="0" anchor="t"/>
          <a:lstStyle/>
          <a:p>
            <a:pPr algn="l" indent="0" marL="0">
              <a:lnSpc>
                <a:spcPts val="2200"/>
              </a:lnSpc>
              <a:buNone/>
            </a:pPr>
            <a:r>
              <a:rPr lang="en-US" sz="1400" dirty="0">
                <a:solidFill>
                  <a:srgbClr val="151617"/>
                </a:solidFill>
                <a:latin typeface="Inconsolata" pitchFamily="34" charset="0"/>
                <a:ea typeface="Inconsolata" pitchFamily="34" charset="-122"/>
                <a:cs typeface="Inconsolata" pitchFamily="34" charset="-120"/>
              </a:rPr>
              <a:t>Working across major platforms</a:t>
            </a:r>
            <a:endParaRPr lang="en-US" sz="1400" dirty="0"/>
          </a:p>
        </p:txBody>
      </p:sp>
      <p:sp>
        <p:nvSpPr>
          <p:cNvPr id="13" name="Shape 11"/>
          <p:cNvSpPr/>
          <p:nvPr/>
        </p:nvSpPr>
        <p:spPr>
          <a:xfrm>
            <a:off x="767596" y="6164104"/>
            <a:ext cx="4074795" cy="1113115"/>
          </a:xfrm>
          <a:prstGeom prst="roundRect">
            <a:avLst>
              <a:gd name="adj" fmla="val 821"/>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14" name="Text 12"/>
          <p:cNvSpPr/>
          <p:nvPr/>
        </p:nvSpPr>
        <p:spPr>
          <a:xfrm>
            <a:off x="953333" y="6349841"/>
            <a:ext cx="2227302" cy="278368"/>
          </a:xfrm>
          <a:prstGeom prst="rect">
            <a:avLst/>
          </a:prstGeom>
          <a:noFill/>
          <a:ln/>
        </p:spPr>
        <p:txBody>
          <a:bodyPr wrap="none" lIns="0" tIns="0" rIns="0" bIns="0" rtlCol="0" anchor="t"/>
          <a:lstStyle/>
          <a:p>
            <a:pPr algn="l" indent="0" marL="0">
              <a:lnSpc>
                <a:spcPts val="2150"/>
              </a:lnSpc>
              <a:buNone/>
            </a:pPr>
            <a:r>
              <a:rPr lang="en-US" sz="1750" b="1" dirty="0">
                <a:solidFill>
                  <a:srgbClr val="151617"/>
                </a:solidFill>
                <a:latin typeface="Montserrat Black" pitchFamily="34" charset="0"/>
                <a:ea typeface="Montserrat Black" pitchFamily="34" charset="-122"/>
                <a:cs typeface="Montserrat Black" pitchFamily="34" charset="-120"/>
              </a:rPr>
              <a:t>25+ beta users</a:t>
            </a:r>
            <a:endParaRPr lang="en-US" sz="1750" dirty="0"/>
          </a:p>
        </p:txBody>
      </p:sp>
      <p:sp>
        <p:nvSpPr>
          <p:cNvPr id="15" name="Text 13"/>
          <p:cNvSpPr/>
          <p:nvPr/>
        </p:nvSpPr>
        <p:spPr>
          <a:xfrm>
            <a:off x="953333" y="6806327"/>
            <a:ext cx="3703320" cy="285155"/>
          </a:xfrm>
          <a:prstGeom prst="rect">
            <a:avLst/>
          </a:prstGeom>
          <a:noFill/>
          <a:ln/>
        </p:spPr>
        <p:txBody>
          <a:bodyPr wrap="none" lIns="0" tIns="0" rIns="0" bIns="0" rtlCol="0" anchor="t"/>
          <a:lstStyle/>
          <a:p>
            <a:pPr algn="l" indent="0" marL="0">
              <a:lnSpc>
                <a:spcPts val="2200"/>
              </a:lnSpc>
              <a:buNone/>
            </a:pPr>
            <a:r>
              <a:rPr lang="en-US" sz="1400" dirty="0">
                <a:solidFill>
                  <a:srgbClr val="151617"/>
                </a:solidFill>
                <a:latin typeface="Inconsolata" pitchFamily="34" charset="0"/>
                <a:ea typeface="Inconsolata" pitchFamily="34" charset="-122"/>
                <a:cs typeface="Inconsolata" pitchFamily="34" charset="-120"/>
              </a:rPr>
              <a:t>With positive engagement signals</a:t>
            </a:r>
            <a:endParaRPr lang="en-US" sz="1400" dirty="0"/>
          </a:p>
        </p:txBody>
      </p:sp>
      <p:sp>
        <p:nvSpPr>
          <p:cNvPr id="16" name="Text 14"/>
          <p:cNvSpPr/>
          <p:nvPr/>
        </p:nvSpPr>
        <p:spPr>
          <a:xfrm>
            <a:off x="5284589" y="2402919"/>
            <a:ext cx="2796302" cy="334089"/>
          </a:xfrm>
          <a:prstGeom prst="rect">
            <a:avLst/>
          </a:prstGeom>
          <a:noFill/>
          <a:ln/>
        </p:spPr>
        <p:txBody>
          <a:bodyPr wrap="none" lIns="0" tIns="0" rIns="0" bIns="0" rtlCol="0" anchor="t"/>
          <a:lstStyle/>
          <a:p>
            <a:pPr algn="l" indent="0" marL="0">
              <a:lnSpc>
                <a:spcPts val="2600"/>
              </a:lnSpc>
              <a:buNone/>
            </a:pPr>
            <a:r>
              <a:rPr lang="en-US" sz="2100" b="1" dirty="0">
                <a:solidFill>
                  <a:srgbClr val="5E208E"/>
                </a:solidFill>
                <a:latin typeface="Montserrat Black" pitchFamily="34" charset="0"/>
                <a:ea typeface="Montserrat Black" pitchFamily="34" charset="-122"/>
                <a:cs typeface="Montserrat Black" pitchFamily="34" charset="-120"/>
              </a:rPr>
              <a:t>Technical Priorities</a:t>
            </a:r>
            <a:endParaRPr lang="en-US" sz="2100" dirty="0"/>
          </a:p>
        </p:txBody>
      </p:sp>
      <p:sp>
        <p:nvSpPr>
          <p:cNvPr id="17" name="Text 15"/>
          <p:cNvSpPr/>
          <p:nvPr/>
        </p:nvSpPr>
        <p:spPr>
          <a:xfrm>
            <a:off x="5284589" y="2915126"/>
            <a:ext cx="4074795" cy="285155"/>
          </a:xfrm>
          <a:prstGeom prst="rect">
            <a:avLst/>
          </a:prstGeom>
          <a:noFill/>
          <a:ln/>
        </p:spPr>
        <p:txBody>
          <a:bodyPr wrap="none" lIns="0" tIns="0" rIns="0" bIns="0" rtlCol="0" anchor="t"/>
          <a:lstStyle/>
          <a:p>
            <a:pPr algn="l" marL="342900" indent="-342900">
              <a:lnSpc>
                <a:spcPts val="2200"/>
              </a:lnSpc>
              <a:buSzPct val="100000"/>
              <a:buFont typeface="+mj-lt"/>
              <a:buAutoNum type="arabicPeriod" startAt="1"/>
            </a:pPr>
            <a:r>
              <a:rPr lang="en-US" sz="1400" dirty="0">
                <a:solidFill>
                  <a:srgbClr val="151617"/>
                </a:solidFill>
                <a:latin typeface="Inconsolata" pitchFamily="34" charset="0"/>
                <a:ea typeface="Inconsolata" pitchFamily="34" charset="-122"/>
                <a:cs typeface="Inconsolata" pitchFamily="34" charset="-120"/>
              </a:rPr>
              <a:t>Native development</a:t>
            </a:r>
            <a:endParaRPr lang="en-US" sz="1400" dirty="0"/>
          </a:p>
        </p:txBody>
      </p:sp>
      <p:sp>
        <p:nvSpPr>
          <p:cNvPr id="18" name="Text 16"/>
          <p:cNvSpPr/>
          <p:nvPr/>
        </p:nvSpPr>
        <p:spPr>
          <a:xfrm>
            <a:off x="5284589" y="3262551"/>
            <a:ext cx="4074795" cy="285155"/>
          </a:xfrm>
          <a:prstGeom prst="rect">
            <a:avLst/>
          </a:prstGeom>
          <a:noFill/>
          <a:ln/>
        </p:spPr>
        <p:txBody>
          <a:bodyPr wrap="none" lIns="0" tIns="0" rIns="0" bIns="0" rtlCol="0" anchor="t"/>
          <a:lstStyle/>
          <a:p>
            <a:pPr algn="l" marL="342900" indent="-342900">
              <a:lnSpc>
                <a:spcPts val="2200"/>
              </a:lnSpc>
              <a:buSzPct val="100000"/>
              <a:buFont typeface="+mj-lt"/>
              <a:buAutoNum type="arabicPeriod" startAt="2"/>
            </a:pPr>
            <a:r>
              <a:rPr lang="en-US" sz="1400" dirty="0">
                <a:solidFill>
                  <a:srgbClr val="151617"/>
                </a:solidFill>
                <a:latin typeface="Inconsolata" pitchFamily="34" charset="0"/>
                <a:ea typeface="Inconsolata" pitchFamily="34" charset="-122"/>
                <a:cs typeface="Inconsolata" pitchFamily="34" charset="-120"/>
              </a:rPr>
              <a:t>Payment infrastructure</a:t>
            </a:r>
            <a:endParaRPr lang="en-US" sz="1400" dirty="0"/>
          </a:p>
        </p:txBody>
      </p:sp>
      <p:sp>
        <p:nvSpPr>
          <p:cNvPr id="19" name="Text 17"/>
          <p:cNvSpPr/>
          <p:nvPr/>
        </p:nvSpPr>
        <p:spPr>
          <a:xfrm>
            <a:off x="5284589" y="3609975"/>
            <a:ext cx="4074795" cy="285155"/>
          </a:xfrm>
          <a:prstGeom prst="rect">
            <a:avLst/>
          </a:prstGeom>
          <a:noFill/>
          <a:ln/>
        </p:spPr>
        <p:txBody>
          <a:bodyPr wrap="none" lIns="0" tIns="0" rIns="0" bIns="0" rtlCol="0" anchor="t"/>
          <a:lstStyle/>
          <a:p>
            <a:pPr algn="l" marL="342900" indent="-342900">
              <a:lnSpc>
                <a:spcPts val="2200"/>
              </a:lnSpc>
              <a:buSzPct val="100000"/>
              <a:buFont typeface="+mj-lt"/>
              <a:buAutoNum type="arabicPeriod" startAt="3"/>
            </a:pPr>
            <a:r>
              <a:rPr lang="en-US" sz="1400" dirty="0">
                <a:solidFill>
                  <a:srgbClr val="151617"/>
                </a:solidFill>
                <a:latin typeface="Inconsolata" pitchFamily="34" charset="0"/>
                <a:ea typeface="Inconsolata" pitchFamily="34" charset="-122"/>
                <a:cs typeface="Inconsolata" pitchFamily="34" charset="-120"/>
              </a:rPr>
              <a:t>Automated marketplace</a:t>
            </a:r>
            <a:endParaRPr lang="en-US" sz="1400" dirty="0"/>
          </a:p>
        </p:txBody>
      </p:sp>
      <p:sp>
        <p:nvSpPr>
          <p:cNvPr id="20" name="Text 18"/>
          <p:cNvSpPr/>
          <p:nvPr/>
        </p:nvSpPr>
        <p:spPr>
          <a:xfrm>
            <a:off x="5284589" y="3957399"/>
            <a:ext cx="4074795" cy="285155"/>
          </a:xfrm>
          <a:prstGeom prst="rect">
            <a:avLst/>
          </a:prstGeom>
          <a:noFill/>
          <a:ln/>
        </p:spPr>
        <p:txBody>
          <a:bodyPr wrap="none" lIns="0" tIns="0" rIns="0" bIns="0" rtlCol="0" anchor="t"/>
          <a:lstStyle/>
          <a:p>
            <a:pPr algn="l" marL="342900" indent="-342900">
              <a:lnSpc>
                <a:spcPts val="2200"/>
              </a:lnSpc>
              <a:buSzPct val="100000"/>
              <a:buFont typeface="+mj-lt"/>
              <a:buAutoNum type="arabicPeriod" startAt="4"/>
            </a:pPr>
            <a:r>
              <a:rPr lang="en-US" sz="1400" dirty="0">
                <a:solidFill>
                  <a:srgbClr val="151617"/>
                </a:solidFill>
                <a:latin typeface="Inconsolata" pitchFamily="34" charset="0"/>
                <a:ea typeface="Inconsolata" pitchFamily="34" charset="-122"/>
                <a:cs typeface="Inconsolata" pitchFamily="34" charset="-120"/>
              </a:rPr>
              <a:t>Enterprise security</a:t>
            </a:r>
            <a:endParaRPr lang="en-US" sz="1400" dirty="0"/>
          </a:p>
        </p:txBody>
      </p:sp>
      <p:sp>
        <p:nvSpPr>
          <p:cNvPr id="21" name="Text 19"/>
          <p:cNvSpPr/>
          <p:nvPr/>
        </p:nvSpPr>
        <p:spPr>
          <a:xfrm>
            <a:off x="5284589" y="4420672"/>
            <a:ext cx="3600569" cy="334089"/>
          </a:xfrm>
          <a:prstGeom prst="rect">
            <a:avLst/>
          </a:prstGeom>
          <a:noFill/>
          <a:ln/>
        </p:spPr>
        <p:txBody>
          <a:bodyPr wrap="none" lIns="0" tIns="0" rIns="0" bIns="0" rtlCol="0" anchor="t"/>
          <a:lstStyle/>
          <a:p>
            <a:pPr algn="l" indent="0" marL="0">
              <a:lnSpc>
                <a:spcPts val="2600"/>
              </a:lnSpc>
              <a:buNone/>
            </a:pPr>
            <a:r>
              <a:rPr lang="en-US" sz="2100" b="1" dirty="0">
                <a:solidFill>
                  <a:srgbClr val="151617"/>
                </a:solidFill>
                <a:latin typeface="Montserrat Black" pitchFamily="34" charset="0"/>
                <a:ea typeface="Montserrat Black" pitchFamily="34" charset="-122"/>
                <a:cs typeface="Montserrat Black" pitchFamily="34" charset="-120"/>
              </a:rPr>
              <a:t>Technical Evolution Path</a:t>
            </a:r>
            <a:endParaRPr lang="en-US" sz="2100" dirty="0"/>
          </a:p>
        </p:txBody>
      </p:sp>
      <p:sp>
        <p:nvSpPr>
          <p:cNvPr id="22" name="Text 20"/>
          <p:cNvSpPr/>
          <p:nvPr/>
        </p:nvSpPr>
        <p:spPr>
          <a:xfrm>
            <a:off x="5284589" y="4932878"/>
            <a:ext cx="4074795" cy="570309"/>
          </a:xfrm>
          <a:prstGeom prst="rect">
            <a:avLst/>
          </a:prstGeom>
          <a:noFill/>
          <a:ln/>
        </p:spPr>
        <p:txBody>
          <a:bodyPr wrap="square" lIns="0" tIns="0" rIns="0" bIns="0" rtlCol="0" anchor="t"/>
          <a:lstStyle/>
          <a:p>
            <a:pPr algn="l" marL="342900" indent="-342900">
              <a:lnSpc>
                <a:spcPts val="2200"/>
              </a:lnSpc>
              <a:buSzPct val="100000"/>
              <a:buChar char="•"/>
            </a:pPr>
            <a:r>
              <a:rPr lang="en-US" sz="1400" b="1" dirty="0">
                <a:solidFill>
                  <a:srgbClr val="151617"/>
                </a:solidFill>
                <a:latin typeface="Inconsolata" pitchFamily="34" charset="0"/>
                <a:ea typeface="Inconsolata" pitchFamily="34" charset="-122"/>
                <a:cs typeface="Inconsolata" pitchFamily="34" charset="-120"/>
              </a:rPr>
              <a:t>Current:</a:t>
            </a:r>
            <a:pPr algn="l" indent="0" marL="0">
              <a:lnSpc>
                <a:spcPts val="2200"/>
              </a:lnSpc>
              <a:buNone/>
            </a:pPr>
            <a:r>
              <a:rPr lang="en-US" sz="1400" dirty="0">
                <a:solidFill>
                  <a:srgbClr val="151617"/>
                </a:solidFill>
                <a:latin typeface="Inconsolata" pitchFamily="34" charset="0"/>
                <a:ea typeface="Inconsolata" pitchFamily="34" charset="-122"/>
                <a:cs typeface="Inconsolata" pitchFamily="34" charset="-120"/>
              </a:rPr>
              <a:t> Web app + mobile  (rapid validation approach)</a:t>
            </a:r>
            <a:endParaRPr lang="en-US" sz="1400" dirty="0"/>
          </a:p>
        </p:txBody>
      </p:sp>
      <p:sp>
        <p:nvSpPr>
          <p:cNvPr id="23" name="Text 21"/>
          <p:cNvSpPr/>
          <p:nvPr/>
        </p:nvSpPr>
        <p:spPr>
          <a:xfrm>
            <a:off x="5284589" y="5565458"/>
            <a:ext cx="4074795" cy="570309"/>
          </a:xfrm>
          <a:prstGeom prst="rect">
            <a:avLst/>
          </a:prstGeom>
          <a:noFill/>
          <a:ln/>
        </p:spPr>
        <p:txBody>
          <a:bodyPr wrap="square" lIns="0" tIns="0" rIns="0" bIns="0" rtlCol="0" anchor="t"/>
          <a:lstStyle/>
          <a:p>
            <a:pPr algn="l" marL="342900" indent="-342900">
              <a:lnSpc>
                <a:spcPts val="2200"/>
              </a:lnSpc>
              <a:buSzPct val="100000"/>
              <a:buChar char="•"/>
            </a:pPr>
            <a:r>
              <a:rPr lang="en-US" sz="1400" b="1" dirty="0">
                <a:solidFill>
                  <a:srgbClr val="151617"/>
                </a:solidFill>
                <a:latin typeface="Inconsolata" pitchFamily="34" charset="0"/>
                <a:ea typeface="Inconsolata" pitchFamily="34" charset="-122"/>
                <a:cs typeface="Inconsolata" pitchFamily="34" charset="-120"/>
              </a:rPr>
              <a:t>Next 6 months:</a:t>
            </a:r>
            <a:pPr algn="l" indent="0" marL="0">
              <a:lnSpc>
                <a:spcPts val="2200"/>
              </a:lnSpc>
              <a:buNone/>
            </a:pPr>
            <a:r>
              <a:rPr lang="en-US" sz="1400" dirty="0">
                <a:solidFill>
                  <a:srgbClr val="151617"/>
                </a:solidFill>
                <a:latin typeface="Inconsolata" pitchFamily="34" charset="0"/>
                <a:ea typeface="Inconsolata" pitchFamily="34" charset="-122"/>
                <a:cs typeface="Inconsolata" pitchFamily="34" charset="-120"/>
              </a:rPr>
              <a:t> Native Kotlin/Swift development using official MCP SDKs</a:t>
            </a:r>
            <a:endParaRPr lang="en-US" sz="1400" dirty="0"/>
          </a:p>
        </p:txBody>
      </p:sp>
      <p:sp>
        <p:nvSpPr>
          <p:cNvPr id="24" name="Text 22"/>
          <p:cNvSpPr/>
          <p:nvPr/>
        </p:nvSpPr>
        <p:spPr>
          <a:xfrm>
            <a:off x="5284589" y="6198037"/>
            <a:ext cx="4074795" cy="570309"/>
          </a:xfrm>
          <a:prstGeom prst="rect">
            <a:avLst/>
          </a:prstGeom>
          <a:noFill/>
          <a:ln/>
        </p:spPr>
        <p:txBody>
          <a:bodyPr wrap="square" lIns="0" tIns="0" rIns="0" bIns="0" rtlCol="0" anchor="t"/>
          <a:lstStyle/>
          <a:p>
            <a:pPr algn="l" marL="342900" indent="-342900">
              <a:lnSpc>
                <a:spcPts val="2200"/>
              </a:lnSpc>
              <a:buSzPct val="100000"/>
              <a:buChar char="•"/>
            </a:pPr>
            <a:r>
              <a:rPr lang="en-US" sz="1400" b="1" dirty="0">
                <a:solidFill>
                  <a:srgbClr val="151617"/>
                </a:solidFill>
                <a:latin typeface="Inconsolata" pitchFamily="34" charset="0"/>
                <a:ea typeface="Inconsolata" pitchFamily="34" charset="-122"/>
                <a:cs typeface="Inconsolata" pitchFamily="34" charset="-120"/>
              </a:rPr>
              <a:t>Why this works:</a:t>
            </a:r>
            <a:pPr algn="l" indent="0" marL="0">
              <a:lnSpc>
                <a:spcPts val="2200"/>
              </a:lnSpc>
              <a:buNone/>
            </a:pPr>
            <a:r>
              <a:rPr lang="en-US" sz="1400" dirty="0">
                <a:solidFill>
                  <a:srgbClr val="151617"/>
                </a:solidFill>
                <a:latin typeface="Inconsolata" pitchFamily="34" charset="0"/>
                <a:ea typeface="Inconsolata" pitchFamily="34" charset="-122"/>
                <a:cs typeface="Inconsolata" pitchFamily="34" charset="-120"/>
              </a:rPr>
              <a:t> Proven concept first, then production infrastructure</a:t>
            </a:r>
            <a:endParaRPr lang="en-US" sz="1400" dirty="0"/>
          </a:p>
        </p:txBody>
      </p:sp>
      <p:sp>
        <p:nvSpPr>
          <p:cNvPr id="25" name="Shape 23"/>
          <p:cNvSpPr/>
          <p:nvPr/>
        </p:nvSpPr>
        <p:spPr>
          <a:xfrm>
            <a:off x="10001964" y="1817132"/>
            <a:ext cx="22860" cy="5421035"/>
          </a:xfrm>
          <a:prstGeom prst="roundRect">
            <a:avLst>
              <a:gd name="adj" fmla="val 40000"/>
            </a:avLst>
          </a:prstGeom>
          <a:solidFill>
            <a:srgbClr val="000000">
              <a:alpha val="8000"/>
            </a:srgbClr>
          </a:solidFill>
          <a:ln/>
        </p:spPr>
      </p:sp>
      <p:sp>
        <p:nvSpPr>
          <p:cNvPr id="26" name="Shape 24"/>
          <p:cNvSpPr/>
          <p:nvPr/>
        </p:nvSpPr>
        <p:spPr>
          <a:xfrm>
            <a:off x="9801523" y="1817132"/>
            <a:ext cx="400883" cy="400883"/>
          </a:xfrm>
          <a:prstGeom prst="roundRect">
            <a:avLst>
              <a:gd name="adj" fmla="val 2281"/>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27" name="Text 25"/>
          <p:cNvSpPr/>
          <p:nvPr/>
        </p:nvSpPr>
        <p:spPr>
          <a:xfrm>
            <a:off x="9868317" y="1850469"/>
            <a:ext cx="267176" cy="334089"/>
          </a:xfrm>
          <a:prstGeom prst="rect">
            <a:avLst/>
          </a:prstGeom>
          <a:noFill/>
          <a:ln/>
        </p:spPr>
        <p:txBody>
          <a:bodyPr wrap="none" lIns="0" tIns="0" rIns="0" bIns="0" rtlCol="0" anchor="t"/>
          <a:lstStyle/>
          <a:p>
            <a:pPr algn="ctr" indent="0" marL="0">
              <a:lnSpc>
                <a:spcPts val="2100"/>
              </a:lnSpc>
              <a:buNone/>
            </a:pPr>
            <a:r>
              <a:rPr lang="en-US" sz="2100" b="1" dirty="0">
                <a:solidFill>
                  <a:srgbClr val="151617"/>
                </a:solidFill>
                <a:latin typeface="Montserrat Black" pitchFamily="34" charset="0"/>
                <a:ea typeface="Montserrat Black" pitchFamily="34" charset="-122"/>
                <a:cs typeface="Montserrat Black" pitchFamily="34" charset="-120"/>
              </a:rPr>
              <a:t>1</a:t>
            </a:r>
            <a:endParaRPr lang="en-US" sz="2100" dirty="0"/>
          </a:p>
        </p:txBody>
      </p:sp>
      <p:sp>
        <p:nvSpPr>
          <p:cNvPr id="28" name="Text 26"/>
          <p:cNvSpPr/>
          <p:nvPr/>
        </p:nvSpPr>
        <p:spPr>
          <a:xfrm>
            <a:off x="10558820" y="1878330"/>
            <a:ext cx="2227302" cy="278368"/>
          </a:xfrm>
          <a:prstGeom prst="rect">
            <a:avLst/>
          </a:prstGeom>
          <a:noFill/>
          <a:ln/>
        </p:spPr>
        <p:txBody>
          <a:bodyPr wrap="none" lIns="0" tIns="0" rIns="0" bIns="0" rtlCol="0" anchor="t"/>
          <a:lstStyle/>
          <a:p>
            <a:pPr algn="l" indent="0" marL="0">
              <a:lnSpc>
                <a:spcPts val="2150"/>
              </a:lnSpc>
              <a:buNone/>
            </a:pPr>
            <a:r>
              <a:rPr lang="en-US" sz="1750" b="1" dirty="0">
                <a:solidFill>
                  <a:srgbClr val="151617"/>
                </a:solidFill>
                <a:latin typeface="Montserrat Black" pitchFamily="34" charset="0"/>
                <a:ea typeface="Montserrat Black" pitchFamily="34" charset="-122"/>
                <a:cs typeface="Montserrat Black" pitchFamily="34" charset="-120"/>
              </a:rPr>
              <a:t>Q1</a:t>
            </a:r>
            <a:endParaRPr lang="en-US" sz="1750" dirty="0"/>
          </a:p>
        </p:txBody>
      </p:sp>
      <p:sp>
        <p:nvSpPr>
          <p:cNvPr id="29" name="Text 27"/>
          <p:cNvSpPr/>
          <p:nvPr/>
        </p:nvSpPr>
        <p:spPr>
          <a:xfrm>
            <a:off x="10558820" y="2334816"/>
            <a:ext cx="3317558" cy="570309"/>
          </a:xfrm>
          <a:prstGeom prst="rect">
            <a:avLst/>
          </a:prstGeom>
          <a:noFill/>
          <a:ln/>
        </p:spPr>
        <p:txBody>
          <a:bodyPr wrap="square" lIns="0" tIns="0" rIns="0" bIns="0" rtlCol="0" anchor="t"/>
          <a:lstStyle/>
          <a:p>
            <a:pPr algn="l" indent="0" marL="0">
              <a:lnSpc>
                <a:spcPts val="2200"/>
              </a:lnSpc>
              <a:buNone/>
            </a:pPr>
            <a:r>
              <a:rPr lang="en-US" sz="1400" dirty="0">
                <a:solidFill>
                  <a:srgbClr val="151617"/>
                </a:solidFill>
                <a:latin typeface="Inconsolata" pitchFamily="34" charset="0"/>
                <a:ea typeface="Inconsolata" pitchFamily="34" charset="-122"/>
                <a:cs typeface="Inconsolata" pitchFamily="34" charset="-120"/>
              </a:rPr>
              <a:t>Native Android &amp; ios App automated developer onboarding, 250+ users</a:t>
            </a:r>
            <a:endParaRPr lang="en-US" sz="1400" dirty="0"/>
          </a:p>
        </p:txBody>
      </p:sp>
      <p:sp>
        <p:nvSpPr>
          <p:cNvPr id="30" name="Shape 28"/>
          <p:cNvSpPr/>
          <p:nvPr/>
        </p:nvSpPr>
        <p:spPr>
          <a:xfrm>
            <a:off x="9801523" y="3261479"/>
            <a:ext cx="400883" cy="400883"/>
          </a:xfrm>
          <a:prstGeom prst="roundRect">
            <a:avLst>
              <a:gd name="adj" fmla="val 2281"/>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31" name="Text 29"/>
          <p:cNvSpPr/>
          <p:nvPr/>
        </p:nvSpPr>
        <p:spPr>
          <a:xfrm>
            <a:off x="9868317" y="3294817"/>
            <a:ext cx="267176" cy="334089"/>
          </a:xfrm>
          <a:prstGeom prst="rect">
            <a:avLst/>
          </a:prstGeom>
          <a:noFill/>
          <a:ln/>
        </p:spPr>
        <p:txBody>
          <a:bodyPr wrap="none" lIns="0" tIns="0" rIns="0" bIns="0" rtlCol="0" anchor="t"/>
          <a:lstStyle/>
          <a:p>
            <a:pPr algn="ctr" indent="0" marL="0">
              <a:lnSpc>
                <a:spcPts val="2100"/>
              </a:lnSpc>
              <a:buNone/>
            </a:pPr>
            <a:r>
              <a:rPr lang="en-US" sz="2100" b="1" dirty="0">
                <a:solidFill>
                  <a:srgbClr val="151617"/>
                </a:solidFill>
                <a:latin typeface="Montserrat Black" pitchFamily="34" charset="0"/>
                <a:ea typeface="Montserrat Black" pitchFamily="34" charset="-122"/>
                <a:cs typeface="Montserrat Black" pitchFamily="34" charset="-120"/>
              </a:rPr>
              <a:t>2</a:t>
            </a:r>
            <a:endParaRPr lang="en-US" sz="2100" dirty="0"/>
          </a:p>
        </p:txBody>
      </p:sp>
      <p:sp>
        <p:nvSpPr>
          <p:cNvPr id="32" name="Text 30"/>
          <p:cNvSpPr/>
          <p:nvPr/>
        </p:nvSpPr>
        <p:spPr>
          <a:xfrm>
            <a:off x="10558820" y="3322677"/>
            <a:ext cx="2227302" cy="278368"/>
          </a:xfrm>
          <a:prstGeom prst="rect">
            <a:avLst/>
          </a:prstGeom>
          <a:noFill/>
          <a:ln/>
        </p:spPr>
        <p:txBody>
          <a:bodyPr wrap="none" lIns="0" tIns="0" rIns="0" bIns="0" rtlCol="0" anchor="t"/>
          <a:lstStyle/>
          <a:p>
            <a:pPr algn="l" indent="0" marL="0">
              <a:lnSpc>
                <a:spcPts val="2150"/>
              </a:lnSpc>
              <a:buNone/>
            </a:pPr>
            <a:r>
              <a:rPr lang="en-US" sz="1750" b="1" dirty="0">
                <a:solidFill>
                  <a:srgbClr val="151617"/>
                </a:solidFill>
                <a:latin typeface="Montserrat Black" pitchFamily="34" charset="0"/>
                <a:ea typeface="Montserrat Black" pitchFamily="34" charset="-122"/>
                <a:cs typeface="Montserrat Black" pitchFamily="34" charset="-120"/>
              </a:rPr>
              <a:t>Q2</a:t>
            </a:r>
            <a:endParaRPr lang="en-US" sz="1750" dirty="0"/>
          </a:p>
        </p:txBody>
      </p:sp>
      <p:sp>
        <p:nvSpPr>
          <p:cNvPr id="33" name="Text 31"/>
          <p:cNvSpPr/>
          <p:nvPr/>
        </p:nvSpPr>
        <p:spPr>
          <a:xfrm>
            <a:off x="10558820" y="3779163"/>
            <a:ext cx="3317558" cy="570309"/>
          </a:xfrm>
          <a:prstGeom prst="rect">
            <a:avLst/>
          </a:prstGeom>
          <a:noFill/>
          <a:ln/>
        </p:spPr>
        <p:txBody>
          <a:bodyPr wrap="square" lIns="0" tIns="0" rIns="0" bIns="0" rtlCol="0" anchor="t"/>
          <a:lstStyle/>
          <a:p>
            <a:pPr algn="l" indent="0" marL="0">
              <a:lnSpc>
                <a:spcPts val="2200"/>
              </a:lnSpc>
              <a:buNone/>
            </a:pPr>
            <a:r>
              <a:rPr lang="en-US" sz="1400" dirty="0">
                <a:solidFill>
                  <a:srgbClr val="151617"/>
                </a:solidFill>
                <a:latin typeface="Inconsolata" pitchFamily="34" charset="0"/>
                <a:ea typeface="Inconsolata" pitchFamily="34" charset="-122"/>
                <a:cs typeface="Inconsolata" pitchFamily="34" charset="-120"/>
              </a:rPr>
              <a:t>Monetization live, 500+ users, first developer payouts</a:t>
            </a:r>
            <a:endParaRPr lang="en-US" sz="1400" dirty="0"/>
          </a:p>
        </p:txBody>
      </p:sp>
      <p:sp>
        <p:nvSpPr>
          <p:cNvPr id="34" name="Shape 32"/>
          <p:cNvSpPr/>
          <p:nvPr/>
        </p:nvSpPr>
        <p:spPr>
          <a:xfrm>
            <a:off x="9801523" y="4705826"/>
            <a:ext cx="400883" cy="400883"/>
          </a:xfrm>
          <a:prstGeom prst="roundRect">
            <a:avLst>
              <a:gd name="adj" fmla="val 2281"/>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35" name="Text 33"/>
          <p:cNvSpPr/>
          <p:nvPr/>
        </p:nvSpPr>
        <p:spPr>
          <a:xfrm>
            <a:off x="9868317" y="4739164"/>
            <a:ext cx="267176" cy="334089"/>
          </a:xfrm>
          <a:prstGeom prst="rect">
            <a:avLst/>
          </a:prstGeom>
          <a:noFill/>
          <a:ln/>
        </p:spPr>
        <p:txBody>
          <a:bodyPr wrap="none" lIns="0" tIns="0" rIns="0" bIns="0" rtlCol="0" anchor="t"/>
          <a:lstStyle/>
          <a:p>
            <a:pPr algn="ctr" indent="0" marL="0">
              <a:lnSpc>
                <a:spcPts val="2100"/>
              </a:lnSpc>
              <a:buNone/>
            </a:pPr>
            <a:r>
              <a:rPr lang="en-US" sz="2100" b="1" dirty="0">
                <a:solidFill>
                  <a:srgbClr val="151617"/>
                </a:solidFill>
                <a:latin typeface="Montserrat Black" pitchFamily="34" charset="0"/>
                <a:ea typeface="Montserrat Black" pitchFamily="34" charset="-122"/>
                <a:cs typeface="Montserrat Black" pitchFamily="34" charset="-120"/>
              </a:rPr>
              <a:t>3</a:t>
            </a:r>
            <a:endParaRPr lang="en-US" sz="2100" dirty="0"/>
          </a:p>
        </p:txBody>
      </p:sp>
      <p:sp>
        <p:nvSpPr>
          <p:cNvPr id="36" name="Text 34"/>
          <p:cNvSpPr/>
          <p:nvPr/>
        </p:nvSpPr>
        <p:spPr>
          <a:xfrm>
            <a:off x="10558820" y="4767024"/>
            <a:ext cx="2227302" cy="278368"/>
          </a:xfrm>
          <a:prstGeom prst="rect">
            <a:avLst/>
          </a:prstGeom>
          <a:noFill/>
          <a:ln/>
        </p:spPr>
        <p:txBody>
          <a:bodyPr wrap="none" lIns="0" tIns="0" rIns="0" bIns="0" rtlCol="0" anchor="t"/>
          <a:lstStyle/>
          <a:p>
            <a:pPr algn="l" indent="0" marL="0">
              <a:lnSpc>
                <a:spcPts val="2150"/>
              </a:lnSpc>
              <a:buNone/>
            </a:pPr>
            <a:r>
              <a:rPr lang="en-US" sz="1750" b="1" dirty="0">
                <a:solidFill>
                  <a:srgbClr val="151617"/>
                </a:solidFill>
                <a:latin typeface="Montserrat Black" pitchFamily="34" charset="0"/>
                <a:ea typeface="Montserrat Black" pitchFamily="34" charset="-122"/>
                <a:cs typeface="Montserrat Black" pitchFamily="34" charset="-120"/>
              </a:rPr>
              <a:t>Q3</a:t>
            </a:r>
            <a:endParaRPr lang="en-US" sz="1750" dirty="0"/>
          </a:p>
        </p:txBody>
      </p:sp>
      <p:sp>
        <p:nvSpPr>
          <p:cNvPr id="37" name="Text 35"/>
          <p:cNvSpPr/>
          <p:nvPr/>
        </p:nvSpPr>
        <p:spPr>
          <a:xfrm>
            <a:off x="10558820" y="5223510"/>
            <a:ext cx="3317558" cy="570309"/>
          </a:xfrm>
          <a:prstGeom prst="rect">
            <a:avLst/>
          </a:prstGeom>
          <a:noFill/>
          <a:ln/>
        </p:spPr>
        <p:txBody>
          <a:bodyPr wrap="square" lIns="0" tIns="0" rIns="0" bIns="0" rtlCol="0" anchor="t"/>
          <a:lstStyle/>
          <a:p>
            <a:pPr algn="l" indent="0" marL="0">
              <a:lnSpc>
                <a:spcPts val="2200"/>
              </a:lnSpc>
              <a:buNone/>
            </a:pPr>
            <a:r>
              <a:rPr lang="en-US" sz="1400" dirty="0">
                <a:solidFill>
                  <a:srgbClr val="151617"/>
                </a:solidFill>
                <a:latin typeface="Inconsolata" pitchFamily="34" charset="0"/>
                <a:ea typeface="Inconsolata" pitchFamily="34" charset="-122"/>
                <a:cs typeface="Inconsolata" pitchFamily="34" charset="-120"/>
              </a:rPr>
              <a:t>Custom MCP Servers, 750+ users, ₹2L+ monthly GMV</a:t>
            </a:r>
            <a:endParaRPr lang="en-US" sz="1400" dirty="0"/>
          </a:p>
        </p:txBody>
      </p:sp>
      <p:sp>
        <p:nvSpPr>
          <p:cNvPr id="38" name="Shape 36"/>
          <p:cNvSpPr/>
          <p:nvPr/>
        </p:nvSpPr>
        <p:spPr>
          <a:xfrm>
            <a:off x="9801523" y="6150173"/>
            <a:ext cx="400883" cy="400883"/>
          </a:xfrm>
          <a:prstGeom prst="roundRect">
            <a:avLst>
              <a:gd name="adj" fmla="val 2281"/>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39" name="Text 37"/>
          <p:cNvSpPr/>
          <p:nvPr/>
        </p:nvSpPr>
        <p:spPr>
          <a:xfrm>
            <a:off x="9868317" y="6183511"/>
            <a:ext cx="267176" cy="334089"/>
          </a:xfrm>
          <a:prstGeom prst="rect">
            <a:avLst/>
          </a:prstGeom>
          <a:noFill/>
          <a:ln/>
        </p:spPr>
        <p:txBody>
          <a:bodyPr wrap="none" lIns="0" tIns="0" rIns="0" bIns="0" rtlCol="0" anchor="t"/>
          <a:lstStyle/>
          <a:p>
            <a:pPr algn="ctr" indent="0" marL="0">
              <a:lnSpc>
                <a:spcPts val="2100"/>
              </a:lnSpc>
              <a:buNone/>
            </a:pPr>
            <a:r>
              <a:rPr lang="en-US" sz="2100" b="1" dirty="0">
                <a:solidFill>
                  <a:srgbClr val="151617"/>
                </a:solidFill>
                <a:latin typeface="Montserrat Black" pitchFamily="34" charset="0"/>
                <a:ea typeface="Montserrat Black" pitchFamily="34" charset="-122"/>
                <a:cs typeface="Montserrat Black" pitchFamily="34" charset="-120"/>
              </a:rPr>
              <a:t>4</a:t>
            </a:r>
            <a:endParaRPr lang="en-US" sz="2100" dirty="0"/>
          </a:p>
        </p:txBody>
      </p:sp>
      <p:sp>
        <p:nvSpPr>
          <p:cNvPr id="40" name="Text 38"/>
          <p:cNvSpPr/>
          <p:nvPr/>
        </p:nvSpPr>
        <p:spPr>
          <a:xfrm>
            <a:off x="10558820" y="6211372"/>
            <a:ext cx="2227302" cy="278368"/>
          </a:xfrm>
          <a:prstGeom prst="rect">
            <a:avLst/>
          </a:prstGeom>
          <a:noFill/>
          <a:ln/>
        </p:spPr>
        <p:txBody>
          <a:bodyPr wrap="none" lIns="0" tIns="0" rIns="0" bIns="0" rtlCol="0" anchor="t"/>
          <a:lstStyle/>
          <a:p>
            <a:pPr algn="l" indent="0" marL="0">
              <a:lnSpc>
                <a:spcPts val="2150"/>
              </a:lnSpc>
              <a:buNone/>
            </a:pPr>
            <a:r>
              <a:rPr lang="en-US" sz="1750" b="1" dirty="0">
                <a:solidFill>
                  <a:srgbClr val="151617"/>
                </a:solidFill>
                <a:latin typeface="Montserrat Black" pitchFamily="34" charset="0"/>
                <a:ea typeface="Montserrat Black" pitchFamily="34" charset="-122"/>
                <a:cs typeface="Montserrat Black" pitchFamily="34" charset="-120"/>
              </a:rPr>
              <a:t>Q4</a:t>
            </a:r>
            <a:endParaRPr lang="en-US" sz="1750" dirty="0"/>
          </a:p>
        </p:txBody>
      </p:sp>
      <p:sp>
        <p:nvSpPr>
          <p:cNvPr id="41" name="Text 39"/>
          <p:cNvSpPr/>
          <p:nvPr/>
        </p:nvSpPr>
        <p:spPr>
          <a:xfrm>
            <a:off x="10558820" y="6667857"/>
            <a:ext cx="3317558" cy="570309"/>
          </a:xfrm>
          <a:prstGeom prst="rect">
            <a:avLst/>
          </a:prstGeom>
          <a:noFill/>
          <a:ln/>
        </p:spPr>
        <p:txBody>
          <a:bodyPr wrap="square" lIns="0" tIns="0" rIns="0" bIns="0" rtlCol="0" anchor="t"/>
          <a:lstStyle/>
          <a:p>
            <a:pPr algn="l" indent="0" marL="0">
              <a:lnSpc>
                <a:spcPts val="2200"/>
              </a:lnSpc>
              <a:buNone/>
            </a:pPr>
            <a:r>
              <a:rPr lang="en-US" sz="1400" dirty="0">
                <a:solidFill>
                  <a:srgbClr val="151617"/>
                </a:solidFill>
                <a:latin typeface="Inconsolata" pitchFamily="34" charset="0"/>
                <a:ea typeface="Inconsolata" pitchFamily="34" charset="-122"/>
                <a:cs typeface="Inconsolata" pitchFamily="34" charset="-120"/>
              </a:rPr>
              <a:t>Enterprise Onboarding, 1,000+ DAU, ₹5L+ monthly GMV.</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78669" y="945475"/>
            <a:ext cx="2842260" cy="338971"/>
          </a:xfrm>
          <a:prstGeom prst="rect">
            <a:avLst/>
          </a:prstGeom>
          <a:noFill/>
          <a:ln/>
        </p:spPr>
        <p:txBody>
          <a:bodyPr wrap="none" lIns="0" tIns="0" rIns="0" bIns="0" rtlCol="0" anchor="t"/>
          <a:lstStyle/>
          <a:p>
            <a:pPr algn="l" indent="0" marL="0">
              <a:lnSpc>
                <a:spcPts val="2650"/>
              </a:lnSpc>
              <a:buNone/>
            </a:pPr>
            <a:r>
              <a:rPr lang="en-US" sz="2100" b="1" dirty="0">
                <a:solidFill>
                  <a:srgbClr val="151617"/>
                </a:solidFill>
                <a:latin typeface="Montserrat Black" pitchFamily="34" charset="0"/>
                <a:ea typeface="Montserrat Black" pitchFamily="34" charset="-122"/>
                <a:cs typeface="Montserrat Black" pitchFamily="34" charset="-120"/>
              </a:rPr>
              <a:t>Founder-Market Fit</a:t>
            </a:r>
            <a:endParaRPr lang="en-US" sz="2100" dirty="0"/>
          </a:p>
        </p:txBody>
      </p:sp>
      <p:sp>
        <p:nvSpPr>
          <p:cNvPr id="3" name="Text 1"/>
          <p:cNvSpPr/>
          <p:nvPr/>
        </p:nvSpPr>
        <p:spPr>
          <a:xfrm>
            <a:off x="778669" y="1356717"/>
            <a:ext cx="3613190" cy="564833"/>
          </a:xfrm>
          <a:prstGeom prst="rect">
            <a:avLst/>
          </a:prstGeom>
          <a:noFill/>
          <a:ln/>
        </p:spPr>
        <p:txBody>
          <a:bodyPr wrap="square" lIns="0" tIns="0" rIns="0" bIns="0" rtlCol="0" anchor="t"/>
          <a:lstStyle/>
          <a:p>
            <a:pPr algn="l" indent="0" marL="0">
              <a:lnSpc>
                <a:spcPts val="2200"/>
              </a:lnSpc>
              <a:buNone/>
            </a:pPr>
            <a:r>
              <a:rPr lang="en-US" sz="1750" b="1" dirty="0">
                <a:solidFill>
                  <a:srgbClr val="151617"/>
                </a:solidFill>
                <a:latin typeface="Montserrat Black" pitchFamily="34" charset="0"/>
                <a:ea typeface="Montserrat Black" pitchFamily="34" charset="-122"/>
                <a:cs typeface="Montserrat Black" pitchFamily="34" charset="-120"/>
              </a:rPr>
              <a:t>Lucky Wamankar - MBA IIM Ahmedabad '21-23</a:t>
            </a:r>
            <a:endParaRPr lang="en-US" sz="1750" dirty="0"/>
          </a:p>
        </p:txBody>
      </p:sp>
      <p:sp>
        <p:nvSpPr>
          <p:cNvPr id="4" name="Text 2"/>
          <p:cNvSpPr/>
          <p:nvPr/>
        </p:nvSpPr>
        <p:spPr>
          <a:xfrm>
            <a:off x="778669" y="2102287"/>
            <a:ext cx="3613190" cy="578168"/>
          </a:xfrm>
          <a:prstGeom prst="rect">
            <a:avLst/>
          </a:prstGeom>
          <a:noFill/>
          <a:ln/>
        </p:spPr>
        <p:txBody>
          <a:bodyPr wrap="square" lIns="0" tIns="0" rIns="0" bIns="0" rtlCol="0" anchor="t"/>
          <a:lstStyle/>
          <a:p>
            <a:pPr algn="l" marL="342900" indent="-342900">
              <a:lnSpc>
                <a:spcPts val="2250"/>
              </a:lnSpc>
              <a:buSzPct val="100000"/>
              <a:buChar char="•"/>
            </a:pPr>
            <a:r>
              <a:rPr lang="en-US" sz="1400" dirty="0">
                <a:solidFill>
                  <a:srgbClr val="151617"/>
                </a:solidFill>
                <a:latin typeface="Inconsolata" pitchFamily="34" charset="0"/>
                <a:ea typeface="Inconsolata" pitchFamily="34" charset="-122"/>
                <a:cs typeface="Inconsolata" pitchFamily="34" charset="-120"/>
              </a:rPr>
              <a:t>Product Manager at Ignosis.ai (Finance infrastructure company)</a:t>
            </a:r>
            <a:endParaRPr lang="en-US" sz="1400" dirty="0"/>
          </a:p>
        </p:txBody>
      </p:sp>
      <p:sp>
        <p:nvSpPr>
          <p:cNvPr id="5" name="Text 3"/>
          <p:cNvSpPr/>
          <p:nvPr/>
        </p:nvSpPr>
        <p:spPr>
          <a:xfrm>
            <a:off x="778669" y="2743676"/>
            <a:ext cx="3613190" cy="867251"/>
          </a:xfrm>
          <a:prstGeom prst="rect">
            <a:avLst/>
          </a:prstGeom>
          <a:noFill/>
          <a:ln/>
        </p:spPr>
        <p:txBody>
          <a:bodyPr wrap="square" lIns="0" tIns="0" rIns="0" bIns="0" rtlCol="0" anchor="t"/>
          <a:lstStyle/>
          <a:p>
            <a:pPr algn="l" marL="342900" indent="-342900">
              <a:lnSpc>
                <a:spcPts val="2250"/>
              </a:lnSpc>
              <a:buSzPct val="100000"/>
              <a:buChar char="•"/>
            </a:pPr>
            <a:r>
              <a:rPr lang="en-US" sz="1400" dirty="0">
                <a:solidFill>
                  <a:srgbClr val="151617"/>
                </a:solidFill>
                <a:latin typeface="Inconsolata" pitchFamily="34" charset="0"/>
                <a:ea typeface="Inconsolata" pitchFamily="34" charset="-122"/>
                <a:cs typeface="Inconsolata" pitchFamily="34" charset="-120"/>
              </a:rPr>
              <a:t>Ex-Digital Product Manager, IDFC First Bank (fintech/payments, 2 years)</a:t>
            </a:r>
            <a:endParaRPr lang="en-US" sz="1400" dirty="0"/>
          </a:p>
        </p:txBody>
      </p:sp>
      <p:sp>
        <p:nvSpPr>
          <p:cNvPr id="6" name="Text 4"/>
          <p:cNvSpPr/>
          <p:nvPr/>
        </p:nvSpPr>
        <p:spPr>
          <a:xfrm>
            <a:off x="778669" y="3674150"/>
            <a:ext cx="3613190" cy="578168"/>
          </a:xfrm>
          <a:prstGeom prst="rect">
            <a:avLst/>
          </a:prstGeom>
          <a:noFill/>
          <a:ln/>
        </p:spPr>
        <p:txBody>
          <a:bodyPr wrap="square" lIns="0" tIns="0" rIns="0" bIns="0" rtlCol="0" anchor="t"/>
          <a:lstStyle/>
          <a:p>
            <a:pPr algn="l" marL="342900" indent="-342900">
              <a:lnSpc>
                <a:spcPts val="2250"/>
              </a:lnSpc>
              <a:buSzPct val="100000"/>
              <a:buChar char="•"/>
            </a:pPr>
            <a:r>
              <a:rPr lang="en-US" sz="1400" dirty="0">
                <a:solidFill>
                  <a:srgbClr val="151617"/>
                </a:solidFill>
                <a:latin typeface="Inconsolata" pitchFamily="34" charset="0"/>
                <a:ea typeface="Inconsolata" pitchFamily="34" charset="-122"/>
                <a:cs typeface="Inconsolata" pitchFamily="34" charset="-120"/>
              </a:rPr>
              <a:t>Built and launched multiple mobile products end-to-end</a:t>
            </a:r>
            <a:endParaRPr lang="en-US" sz="1400" dirty="0"/>
          </a:p>
        </p:txBody>
      </p:sp>
      <p:sp>
        <p:nvSpPr>
          <p:cNvPr id="7" name="Text 5"/>
          <p:cNvSpPr/>
          <p:nvPr/>
        </p:nvSpPr>
        <p:spPr>
          <a:xfrm>
            <a:off x="778669" y="4315539"/>
            <a:ext cx="3613190" cy="867251"/>
          </a:xfrm>
          <a:prstGeom prst="rect">
            <a:avLst/>
          </a:prstGeom>
          <a:noFill/>
          <a:ln/>
        </p:spPr>
        <p:txBody>
          <a:bodyPr wrap="square" lIns="0" tIns="0" rIns="0" bIns="0" rtlCol="0" anchor="t"/>
          <a:lstStyle/>
          <a:p>
            <a:pPr algn="l" marL="342900" indent="-342900">
              <a:lnSpc>
                <a:spcPts val="2250"/>
              </a:lnSpc>
              <a:buSzPct val="100000"/>
              <a:buChar char="•"/>
            </a:pPr>
            <a:r>
              <a:rPr lang="en-US" sz="1400" dirty="0">
                <a:solidFill>
                  <a:srgbClr val="151617"/>
                </a:solidFill>
                <a:latin typeface="Inconsolata" pitchFamily="34" charset="0"/>
                <a:ea typeface="Inconsolata" pitchFamily="34" charset="-122"/>
                <a:cs typeface="Inconsolata" pitchFamily="34" charset="-120"/>
              </a:rPr>
              <a:t>Deep understanding of marketplace dynamics + AI technical infrastructure</a:t>
            </a:r>
            <a:endParaRPr lang="en-US" sz="1400" dirty="0"/>
          </a:p>
        </p:txBody>
      </p:sp>
      <p:pic>
        <p:nvPicPr>
          <p:cNvPr id="8" name="Image 0" descr="preencoded.png">    </p:cNvPr>
          <p:cNvPicPr>
            <a:picLocks noChangeAspect="1"/>
          </p:cNvPicPr>
          <p:nvPr/>
        </p:nvPicPr>
        <p:blipFill>
          <a:blip r:embed="rId1"/>
          <a:stretch>
            <a:fillRect/>
          </a:stretch>
        </p:blipFill>
        <p:spPr>
          <a:xfrm>
            <a:off x="778669" y="5386149"/>
            <a:ext cx="2348508" cy="1919049"/>
          </a:xfrm>
          <a:prstGeom prst="rect">
            <a:avLst/>
          </a:prstGeom>
        </p:spPr>
      </p:pic>
      <p:sp>
        <p:nvSpPr>
          <p:cNvPr id="9" name="Text 6"/>
          <p:cNvSpPr/>
          <p:nvPr/>
        </p:nvSpPr>
        <p:spPr>
          <a:xfrm>
            <a:off x="6477953" y="1644610"/>
            <a:ext cx="5743813" cy="564952"/>
          </a:xfrm>
          <a:prstGeom prst="rect">
            <a:avLst/>
          </a:prstGeom>
          <a:noFill/>
          <a:ln/>
        </p:spPr>
        <p:txBody>
          <a:bodyPr wrap="none" lIns="0" tIns="0" rIns="0" bIns="0" rtlCol="0" anchor="t"/>
          <a:lstStyle/>
          <a:p>
            <a:pPr algn="ctr" indent="0" marL="0">
              <a:lnSpc>
                <a:spcPts val="4400"/>
              </a:lnSpc>
              <a:buNone/>
            </a:pPr>
            <a:r>
              <a:rPr lang="en-US" sz="3550" b="1" dirty="0">
                <a:solidFill>
                  <a:srgbClr val="910D0D"/>
                </a:solidFill>
                <a:latin typeface="Montserrat Black" pitchFamily="34" charset="0"/>
                <a:ea typeface="Montserrat Black" pitchFamily="34" charset="-122"/>
                <a:cs typeface="Montserrat Black" pitchFamily="34" charset="-120"/>
              </a:rPr>
              <a:t>₹2 Crores for 8% Equity</a:t>
            </a:r>
            <a:endParaRPr lang="en-US" sz="3550" dirty="0"/>
          </a:p>
        </p:txBody>
      </p:sp>
      <p:sp>
        <p:nvSpPr>
          <p:cNvPr id="10" name="Text 7"/>
          <p:cNvSpPr/>
          <p:nvPr/>
        </p:nvSpPr>
        <p:spPr>
          <a:xfrm>
            <a:off x="4840486" y="2390299"/>
            <a:ext cx="9018746" cy="289084"/>
          </a:xfrm>
          <a:prstGeom prst="rect">
            <a:avLst/>
          </a:prstGeom>
          <a:noFill/>
          <a:ln/>
        </p:spPr>
        <p:txBody>
          <a:bodyPr wrap="none" lIns="0" tIns="0" rIns="0" bIns="0" rtlCol="0" anchor="t"/>
          <a:lstStyle/>
          <a:p>
            <a:pPr algn="l" indent="0" marL="0">
              <a:lnSpc>
                <a:spcPts val="2250"/>
              </a:lnSpc>
              <a:buNone/>
            </a:pPr>
            <a:endParaRPr lang="en-US" sz="1400" dirty="0"/>
          </a:p>
        </p:txBody>
      </p:sp>
      <p:sp>
        <p:nvSpPr>
          <p:cNvPr id="11" name="Text 8"/>
          <p:cNvSpPr/>
          <p:nvPr/>
        </p:nvSpPr>
        <p:spPr>
          <a:xfrm>
            <a:off x="4840486" y="2860119"/>
            <a:ext cx="3825121" cy="338971"/>
          </a:xfrm>
          <a:prstGeom prst="rect">
            <a:avLst/>
          </a:prstGeom>
          <a:noFill/>
          <a:ln/>
        </p:spPr>
        <p:txBody>
          <a:bodyPr wrap="none" lIns="0" tIns="0" rIns="0" bIns="0" rtlCol="0" anchor="t"/>
          <a:lstStyle/>
          <a:p>
            <a:pPr algn="l" indent="0" marL="0">
              <a:lnSpc>
                <a:spcPts val="2650"/>
              </a:lnSpc>
              <a:buNone/>
            </a:pPr>
            <a:r>
              <a:rPr lang="en-US" sz="2100" b="1" dirty="0">
                <a:solidFill>
                  <a:srgbClr val="5E208E"/>
                </a:solidFill>
                <a:latin typeface="Montserrat Black" pitchFamily="34" charset="0"/>
                <a:ea typeface="Montserrat Black" pitchFamily="34" charset="-122"/>
                <a:cs typeface="Montserrat Black" pitchFamily="34" charset="-120"/>
              </a:rPr>
              <a:t>Strategic Use of ₹2 Crores</a:t>
            </a:r>
            <a:endParaRPr lang="en-US" sz="2100" dirty="0"/>
          </a:p>
        </p:txBody>
      </p:sp>
      <p:sp>
        <p:nvSpPr>
          <p:cNvPr id="12" name="Text 9"/>
          <p:cNvSpPr/>
          <p:nvPr/>
        </p:nvSpPr>
        <p:spPr>
          <a:xfrm>
            <a:off x="4840486" y="3492818"/>
            <a:ext cx="4396383" cy="596503"/>
          </a:xfrm>
          <a:prstGeom prst="rect">
            <a:avLst/>
          </a:prstGeom>
          <a:noFill/>
          <a:ln/>
        </p:spPr>
        <p:txBody>
          <a:bodyPr wrap="none" lIns="0" tIns="0" rIns="0" bIns="0" rtlCol="0" anchor="t"/>
          <a:lstStyle/>
          <a:p>
            <a:pPr algn="l" indent="0" marL="0">
              <a:lnSpc>
                <a:spcPts val="4650"/>
              </a:lnSpc>
              <a:buNone/>
            </a:pPr>
            <a:r>
              <a:rPr lang="en-US" sz="4650" b="1" dirty="0">
                <a:solidFill>
                  <a:srgbClr val="151617"/>
                </a:solidFill>
                <a:latin typeface="Montserrat Black" pitchFamily="34" charset="0"/>
                <a:ea typeface="Montserrat Black" pitchFamily="34" charset="-122"/>
                <a:cs typeface="Montserrat Black" pitchFamily="34" charset="-120"/>
              </a:rPr>
              <a:t>40%</a:t>
            </a:r>
            <a:endParaRPr lang="en-US" sz="4650" dirty="0"/>
          </a:p>
        </p:txBody>
      </p:sp>
      <p:sp>
        <p:nvSpPr>
          <p:cNvPr id="13" name="Text 10"/>
          <p:cNvSpPr/>
          <p:nvPr/>
        </p:nvSpPr>
        <p:spPr>
          <a:xfrm>
            <a:off x="4840486" y="4315182"/>
            <a:ext cx="2259687" cy="282416"/>
          </a:xfrm>
          <a:prstGeom prst="rect">
            <a:avLst/>
          </a:prstGeom>
          <a:noFill/>
          <a:ln/>
        </p:spPr>
        <p:txBody>
          <a:bodyPr wrap="none" lIns="0" tIns="0" rIns="0" bIns="0" rtlCol="0" anchor="t"/>
          <a:lstStyle/>
          <a:p>
            <a:pPr algn="l" indent="0" marL="0">
              <a:lnSpc>
                <a:spcPts val="2200"/>
              </a:lnSpc>
              <a:buNone/>
            </a:pPr>
            <a:r>
              <a:rPr lang="en-US" sz="1750" b="1" dirty="0">
                <a:solidFill>
                  <a:srgbClr val="151617"/>
                </a:solidFill>
                <a:latin typeface="Montserrat Black" pitchFamily="34" charset="0"/>
                <a:ea typeface="Montserrat Black" pitchFamily="34" charset="-122"/>
                <a:cs typeface="Montserrat Black" pitchFamily="34" charset="-120"/>
              </a:rPr>
              <a:t>Team Expansion</a:t>
            </a:r>
            <a:endParaRPr lang="en-US" sz="1750" dirty="0"/>
          </a:p>
        </p:txBody>
      </p:sp>
      <p:sp>
        <p:nvSpPr>
          <p:cNvPr id="14" name="Text 11"/>
          <p:cNvSpPr/>
          <p:nvPr/>
        </p:nvSpPr>
        <p:spPr>
          <a:xfrm>
            <a:off x="9462730" y="3492818"/>
            <a:ext cx="4396502" cy="596503"/>
          </a:xfrm>
          <a:prstGeom prst="rect">
            <a:avLst/>
          </a:prstGeom>
          <a:noFill/>
          <a:ln/>
        </p:spPr>
        <p:txBody>
          <a:bodyPr wrap="none" lIns="0" tIns="0" rIns="0" bIns="0" rtlCol="0" anchor="t"/>
          <a:lstStyle/>
          <a:p>
            <a:pPr algn="l" indent="0" marL="0">
              <a:lnSpc>
                <a:spcPts val="4650"/>
              </a:lnSpc>
              <a:buNone/>
            </a:pPr>
            <a:r>
              <a:rPr lang="en-US" sz="4650" b="1" dirty="0">
                <a:solidFill>
                  <a:srgbClr val="151617"/>
                </a:solidFill>
                <a:latin typeface="Montserrat Black" pitchFamily="34" charset="0"/>
                <a:ea typeface="Montserrat Black" pitchFamily="34" charset="-122"/>
                <a:cs typeface="Montserrat Black" pitchFamily="34" charset="-120"/>
              </a:rPr>
              <a:t>30%</a:t>
            </a:r>
            <a:endParaRPr lang="en-US" sz="4650" dirty="0"/>
          </a:p>
        </p:txBody>
      </p:sp>
      <p:sp>
        <p:nvSpPr>
          <p:cNvPr id="15" name="Text 12"/>
          <p:cNvSpPr/>
          <p:nvPr/>
        </p:nvSpPr>
        <p:spPr>
          <a:xfrm>
            <a:off x="9462730" y="4315182"/>
            <a:ext cx="2609850" cy="282416"/>
          </a:xfrm>
          <a:prstGeom prst="rect">
            <a:avLst/>
          </a:prstGeom>
          <a:noFill/>
          <a:ln/>
        </p:spPr>
        <p:txBody>
          <a:bodyPr wrap="none" lIns="0" tIns="0" rIns="0" bIns="0" rtlCol="0" anchor="t"/>
          <a:lstStyle/>
          <a:p>
            <a:pPr algn="l" indent="0" marL="0">
              <a:lnSpc>
                <a:spcPts val="2200"/>
              </a:lnSpc>
              <a:buNone/>
            </a:pPr>
            <a:r>
              <a:rPr lang="en-US" sz="1750" b="1" dirty="0">
                <a:solidFill>
                  <a:srgbClr val="151617"/>
                </a:solidFill>
                <a:latin typeface="Montserrat Black" pitchFamily="34" charset="0"/>
                <a:ea typeface="Montserrat Black" pitchFamily="34" charset="-122"/>
                <a:cs typeface="Montserrat Black" pitchFamily="34" charset="-120"/>
              </a:rPr>
              <a:t>Infrastructure &amp; Tech</a:t>
            </a:r>
            <a:endParaRPr lang="en-US" sz="1750" dirty="0"/>
          </a:p>
        </p:txBody>
      </p:sp>
      <p:sp>
        <p:nvSpPr>
          <p:cNvPr id="16" name="Text 13"/>
          <p:cNvSpPr/>
          <p:nvPr/>
        </p:nvSpPr>
        <p:spPr>
          <a:xfrm>
            <a:off x="4840486" y="5049441"/>
            <a:ext cx="4396383" cy="596503"/>
          </a:xfrm>
          <a:prstGeom prst="rect">
            <a:avLst/>
          </a:prstGeom>
          <a:noFill/>
          <a:ln/>
        </p:spPr>
        <p:txBody>
          <a:bodyPr wrap="none" lIns="0" tIns="0" rIns="0" bIns="0" rtlCol="0" anchor="t"/>
          <a:lstStyle/>
          <a:p>
            <a:pPr algn="l" indent="0" marL="0">
              <a:lnSpc>
                <a:spcPts val="4650"/>
              </a:lnSpc>
              <a:buNone/>
            </a:pPr>
            <a:r>
              <a:rPr lang="en-US" sz="4650" b="1" dirty="0">
                <a:solidFill>
                  <a:srgbClr val="151617"/>
                </a:solidFill>
                <a:latin typeface="Montserrat Black" pitchFamily="34" charset="0"/>
                <a:ea typeface="Montserrat Black" pitchFamily="34" charset="-122"/>
                <a:cs typeface="Montserrat Black" pitchFamily="34" charset="-120"/>
              </a:rPr>
              <a:t>20%</a:t>
            </a:r>
            <a:endParaRPr lang="en-US" sz="4650" dirty="0"/>
          </a:p>
        </p:txBody>
      </p:sp>
      <p:sp>
        <p:nvSpPr>
          <p:cNvPr id="17" name="Text 14"/>
          <p:cNvSpPr/>
          <p:nvPr/>
        </p:nvSpPr>
        <p:spPr>
          <a:xfrm>
            <a:off x="4840486" y="5871805"/>
            <a:ext cx="2484715" cy="282416"/>
          </a:xfrm>
          <a:prstGeom prst="rect">
            <a:avLst/>
          </a:prstGeom>
          <a:noFill/>
          <a:ln/>
        </p:spPr>
        <p:txBody>
          <a:bodyPr wrap="none" lIns="0" tIns="0" rIns="0" bIns="0" rtlCol="0" anchor="t"/>
          <a:lstStyle/>
          <a:p>
            <a:pPr algn="l" indent="0" marL="0">
              <a:lnSpc>
                <a:spcPts val="2200"/>
              </a:lnSpc>
              <a:buNone/>
            </a:pPr>
            <a:r>
              <a:rPr lang="en-US" sz="1750" b="1" dirty="0">
                <a:solidFill>
                  <a:srgbClr val="151617"/>
                </a:solidFill>
                <a:latin typeface="Montserrat Black" pitchFamily="34" charset="0"/>
                <a:ea typeface="Montserrat Black" pitchFamily="34" charset="-122"/>
                <a:cs typeface="Montserrat Black" pitchFamily="34" charset="-120"/>
              </a:rPr>
              <a:t>Marketing &amp; Growth</a:t>
            </a:r>
            <a:endParaRPr lang="en-US" sz="1750" dirty="0"/>
          </a:p>
        </p:txBody>
      </p:sp>
      <p:sp>
        <p:nvSpPr>
          <p:cNvPr id="18" name="Text 15"/>
          <p:cNvSpPr/>
          <p:nvPr/>
        </p:nvSpPr>
        <p:spPr>
          <a:xfrm>
            <a:off x="9462730" y="5049441"/>
            <a:ext cx="4396502" cy="596503"/>
          </a:xfrm>
          <a:prstGeom prst="rect">
            <a:avLst/>
          </a:prstGeom>
          <a:noFill/>
          <a:ln/>
        </p:spPr>
        <p:txBody>
          <a:bodyPr wrap="none" lIns="0" tIns="0" rIns="0" bIns="0" rtlCol="0" anchor="t"/>
          <a:lstStyle/>
          <a:p>
            <a:pPr algn="l" indent="0" marL="0">
              <a:lnSpc>
                <a:spcPts val="4650"/>
              </a:lnSpc>
              <a:buNone/>
            </a:pPr>
            <a:r>
              <a:rPr lang="en-US" sz="4650" b="1" dirty="0">
                <a:solidFill>
                  <a:srgbClr val="151617"/>
                </a:solidFill>
                <a:latin typeface="Montserrat Black" pitchFamily="34" charset="0"/>
                <a:ea typeface="Montserrat Black" pitchFamily="34" charset="-122"/>
                <a:cs typeface="Montserrat Black" pitchFamily="34" charset="-120"/>
              </a:rPr>
              <a:t>10%</a:t>
            </a:r>
            <a:endParaRPr lang="en-US" sz="4650" dirty="0"/>
          </a:p>
        </p:txBody>
      </p:sp>
      <p:sp>
        <p:nvSpPr>
          <p:cNvPr id="19" name="Text 16"/>
          <p:cNvSpPr/>
          <p:nvPr/>
        </p:nvSpPr>
        <p:spPr>
          <a:xfrm>
            <a:off x="9462730" y="5871805"/>
            <a:ext cx="2259687" cy="282416"/>
          </a:xfrm>
          <a:prstGeom prst="rect">
            <a:avLst/>
          </a:prstGeom>
          <a:noFill/>
          <a:ln/>
        </p:spPr>
        <p:txBody>
          <a:bodyPr wrap="none" lIns="0" tIns="0" rIns="0" bIns="0" rtlCol="0" anchor="t"/>
          <a:lstStyle/>
          <a:p>
            <a:pPr algn="l" indent="0" marL="0">
              <a:lnSpc>
                <a:spcPts val="2200"/>
              </a:lnSpc>
              <a:buNone/>
            </a:pPr>
            <a:r>
              <a:rPr lang="en-US" sz="1750" b="1" dirty="0">
                <a:solidFill>
                  <a:srgbClr val="151617"/>
                </a:solidFill>
                <a:latin typeface="Montserrat Black" pitchFamily="34" charset="0"/>
                <a:ea typeface="Montserrat Black" pitchFamily="34" charset="-122"/>
                <a:cs typeface="Montserrat Black" pitchFamily="34" charset="-120"/>
              </a:rPr>
              <a:t>Legal &amp; Ops</a:t>
            </a:r>
            <a:endParaRPr lang="en-US" sz="1750" dirty="0"/>
          </a:p>
        </p:txBody>
      </p:sp>
      <p:sp>
        <p:nvSpPr>
          <p:cNvPr id="20" name="Text 17"/>
          <p:cNvSpPr/>
          <p:nvPr/>
        </p:nvSpPr>
        <p:spPr>
          <a:xfrm>
            <a:off x="4840486" y="6357580"/>
            <a:ext cx="9018746" cy="289084"/>
          </a:xfrm>
          <a:prstGeom prst="rect">
            <a:avLst/>
          </a:prstGeom>
          <a:noFill/>
          <a:ln/>
        </p:spPr>
        <p:txBody>
          <a:bodyPr wrap="none" lIns="0" tIns="0" rIns="0" bIns="0" rtlCol="0" anchor="t"/>
          <a:lstStyle/>
          <a:p>
            <a:pPr algn="ctr" indent="0" marL="0">
              <a:lnSpc>
                <a:spcPts val="2250"/>
              </a:lnSpc>
              <a:buNone/>
            </a:pPr>
            <a:r>
              <a:rPr lang="en-US" sz="1400" dirty="0">
                <a:solidFill>
                  <a:srgbClr val="151617"/>
                </a:solidFill>
                <a:latin typeface="Inconsolata" pitchFamily="34" charset="0"/>
                <a:ea typeface="Inconsolata" pitchFamily="34" charset="-122"/>
                <a:cs typeface="Inconsolata" pitchFamily="34" charset="-120"/>
              </a:rPr>
              <a:t>API costs covered: ₹30L annually at 1,000 DAU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2025-11-19T14:31:10Z</dcterms:created>
  <dcterms:modified xsi:type="dcterms:W3CDTF">2025-11-19T14:31:10Z</dcterms:modified>
</cp:coreProperties>
</file>