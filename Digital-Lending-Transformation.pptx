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Roboto Slab"/>
      <p:regular r:id="rId11"/>
    </p:embeddedFont>
    <p:embeddedFont>
      <p:font typeface="Roboto Slab"/>
      <p:regular r:id="rId12"/>
    </p:embeddedFont>
    <p:embeddedFont>
      <p:font typeface="Roboto"/>
      <p:regular r:id="rId13"/>
    </p:embeddedFont>
    <p:embeddedFont>
      <p:font typeface="Roboto"/>
      <p:regular r:id="rId14"/>
    </p:embeddedFont>
    <p:embeddedFont>
      <p:font typeface="Roboto"/>
      <p:regular r:id="rId15"/>
    </p:embeddedFont>
    <p:embeddedFont>
      <p:font typeface="Roboto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4935"/>
            <a:ext cx="10252591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00"/>
              </a:lnSpc>
              <a:buNone/>
            </a:pPr>
            <a:r>
              <a:rPr lang="en-US" sz="5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Digital Lending Transformation</a:t>
            </a:r>
            <a:endParaRPr lang="en-US" sz="5350" dirty="0"/>
          </a:p>
        </p:txBody>
      </p:sp>
      <p:sp>
        <p:nvSpPr>
          <p:cNvPr id="3" name="Text 1"/>
          <p:cNvSpPr/>
          <p:nvPr/>
        </p:nvSpPr>
        <p:spPr>
          <a:xfrm>
            <a:off x="793790" y="263759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Powering the next generation of lending through technology, data, and customer-centricity in the Indian financial services landscape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37673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Current State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3947160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traditional banks operate in a phigital model where the digital lead generation is paired with physical verification and document collection. This hybrid approach creates friction at every touchpoint.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078373"/>
            <a:ext cx="62793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Underwriting remains branch-heavy with significant manual dependency. Turn-around time stretches from 2 to 7 days, whilst the market increasingly expects decisions in 10 to 30 minutes. Customer experience fragments across channels, and collections still rely heavily on call centres and field agents.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37673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Critical Pain Points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64874" y="394716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cost per loan file due to Manual involvement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433411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Slow onboarding driving low conversion rates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4721066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Poor data quality from not relying on modern frameworks like Account Aggregator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4874" y="542555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 cross-sell opportunities due to scattered systems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4874" y="581251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Higher risk due lack of real-time data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83525"/>
            <a:ext cx="998065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 Enablers: Building the Digital Foundation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397198"/>
            <a:ext cx="130428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regulatory and technology landscape in India has matured significantly, providing a robust foundation for digital lending transformation. These enablers span identity verification, data aggregation, underwriting automation, payment infrastructure, and servicing capabilities.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03770" y="2083951"/>
            <a:ext cx="22860" cy="5562005"/>
          </a:xfrm>
          <a:prstGeom prst="roundRect">
            <a:avLst>
              <a:gd name="adj" fmla="val 104186"/>
            </a:avLst>
          </a:prstGeom>
          <a:solidFill>
            <a:srgbClr val="CFD2D8"/>
          </a:solidFill>
          <a:ln/>
        </p:spPr>
      </p:sp>
      <p:sp>
        <p:nvSpPr>
          <p:cNvPr id="5" name="Shape 3"/>
          <p:cNvSpPr/>
          <p:nvPr/>
        </p:nvSpPr>
        <p:spPr>
          <a:xfrm>
            <a:off x="6683216" y="2251115"/>
            <a:ext cx="476250" cy="22860"/>
          </a:xfrm>
          <a:prstGeom prst="roundRect">
            <a:avLst>
              <a:gd name="adj" fmla="val 104186"/>
            </a:avLst>
          </a:prstGeom>
          <a:solidFill>
            <a:srgbClr val="CFD2D8"/>
          </a:solidFill>
          <a:ln/>
        </p:spPr>
      </p:sp>
      <p:sp>
        <p:nvSpPr>
          <p:cNvPr id="6" name="Shape 4"/>
          <p:cNvSpPr/>
          <p:nvPr/>
        </p:nvSpPr>
        <p:spPr>
          <a:xfrm>
            <a:off x="7136606" y="2083951"/>
            <a:ext cx="357188" cy="357188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6137" y="2143482"/>
            <a:ext cx="238125" cy="238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05444" y="2138482"/>
            <a:ext cx="201596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Digital Identity &amp; KYC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2481739"/>
            <a:ext cx="57276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eKYC, OKYC, CKYC fetch, Video KYC and DigiLocker, eliminate branch visits and dramatically lower onboarding costs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470934" y="3203734"/>
            <a:ext cx="476250" cy="22860"/>
          </a:xfrm>
          <a:prstGeom prst="roundRect">
            <a:avLst>
              <a:gd name="adj" fmla="val 104186"/>
            </a:avLst>
          </a:prstGeom>
          <a:solidFill>
            <a:srgbClr val="CFD2D8"/>
          </a:solidFill>
          <a:ln/>
        </p:spPr>
      </p:sp>
      <p:sp>
        <p:nvSpPr>
          <p:cNvPr id="11" name="Shape 8"/>
          <p:cNvSpPr/>
          <p:nvPr/>
        </p:nvSpPr>
        <p:spPr>
          <a:xfrm>
            <a:off x="7136606" y="3036570"/>
            <a:ext cx="357188" cy="357188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6137" y="3096101"/>
            <a:ext cx="238125" cy="238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08990" y="3091101"/>
            <a:ext cx="250078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&amp; Income Verification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108990" y="3434358"/>
            <a:ext cx="5727621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Account Aggregator framework, bureau APIs (CIBIL, CRIF, Experian), PAN-EPFO employment verification, and GST/ITR APIs provide real-time, verified data for underwriting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683216" y="4024789"/>
            <a:ext cx="476250" cy="22860"/>
          </a:xfrm>
          <a:prstGeom prst="roundRect">
            <a:avLst>
              <a:gd name="adj" fmla="val 104186"/>
            </a:avLst>
          </a:prstGeom>
          <a:solidFill>
            <a:srgbClr val="CFD2D8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6606" y="3857625"/>
            <a:ext cx="357188" cy="357188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6137" y="3917156"/>
            <a:ext cx="238125" cy="238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36758" y="391215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Digital Underwriting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793790" y="4255413"/>
            <a:ext cx="5727621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Rule-based engines, advanced scorecards (bureau, behavioural, AA cashflow analysis), and fraud checks (device, geo, identity) enable instant and STP approvals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470934" y="4845963"/>
            <a:ext cx="476250" cy="22860"/>
          </a:xfrm>
          <a:prstGeom prst="roundRect">
            <a:avLst>
              <a:gd name="adj" fmla="val 104186"/>
            </a:avLst>
          </a:prstGeom>
          <a:solidFill>
            <a:srgbClr val="CFD2D8"/>
          </a:solidFill>
          <a:ln/>
        </p:spPr>
      </p:sp>
      <p:sp>
        <p:nvSpPr>
          <p:cNvPr id="21" name="Shape 16"/>
          <p:cNvSpPr/>
          <p:nvPr/>
        </p:nvSpPr>
        <p:spPr>
          <a:xfrm>
            <a:off x="7136606" y="4678799"/>
            <a:ext cx="357188" cy="357188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96137" y="4738330"/>
            <a:ext cx="238125" cy="238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108990" y="4733330"/>
            <a:ext cx="203966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Payments &amp; Disbursal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108990" y="5076587"/>
            <a:ext cx="57276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UPI Autopay, eNACH, eSign, eStamp for digital agreements, and instant IMPS/UPI disbursals eliminate physical mandates and paperwork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683216" y="5667137"/>
            <a:ext cx="476250" cy="22860"/>
          </a:xfrm>
          <a:prstGeom prst="roundRect">
            <a:avLst>
              <a:gd name="adj" fmla="val 104186"/>
            </a:avLst>
          </a:prstGeom>
          <a:solidFill>
            <a:srgbClr val="CFD2D8"/>
          </a:solidFill>
          <a:ln/>
        </p:spPr>
      </p:sp>
      <p:sp>
        <p:nvSpPr>
          <p:cNvPr id="26" name="Shape 20"/>
          <p:cNvSpPr/>
          <p:nvPr/>
        </p:nvSpPr>
        <p:spPr>
          <a:xfrm>
            <a:off x="7136606" y="5499973"/>
            <a:ext cx="357188" cy="357188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96137" y="5559504"/>
            <a:ext cx="238125" cy="2381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368522" y="5554504"/>
            <a:ext cx="215288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Servicing &amp; Collections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793790" y="5897761"/>
            <a:ext cx="57276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repayment options, and AA-driven early warning signals lower operational costs whilst improving collection performance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7470934" y="6488311"/>
            <a:ext cx="476250" cy="22860"/>
          </a:xfrm>
          <a:prstGeom prst="roundRect">
            <a:avLst>
              <a:gd name="adj" fmla="val 104186"/>
            </a:avLst>
          </a:prstGeom>
          <a:solidFill>
            <a:srgbClr val="CFD2D8"/>
          </a:solidFill>
          <a:ln/>
        </p:spPr>
      </p:sp>
      <p:sp>
        <p:nvSpPr>
          <p:cNvPr id="31" name="Shape 24"/>
          <p:cNvSpPr/>
          <p:nvPr/>
        </p:nvSpPr>
        <p:spPr>
          <a:xfrm>
            <a:off x="7136606" y="6321147"/>
            <a:ext cx="357188" cy="357188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96137" y="6380678"/>
            <a:ext cx="238125" cy="23812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108990" y="6375678"/>
            <a:ext cx="27060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 Operating Model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8108990" y="6718935"/>
            <a:ext cx="57276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API-first architecture, LOS-LMS integration.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1426"/>
            <a:ext cx="1183898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Six Transformation Pillars: Building the Digital Lending Engine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745099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91916"/>
            <a:ext cx="6441996" cy="22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116931"/>
            <a:ext cx="396251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Digital Customer Journeys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793790" y="2609017"/>
            <a:ext cx="6441996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Personal Loan and SME Digital journeys with unified onboarding for existing and new customers. Prefill form fields, UI-UX enhancements, and context-based entry points (FD break, salary credit, low balance alerts)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94496" y="1745099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496" y="1991916"/>
            <a:ext cx="6442115" cy="228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94496" y="2116931"/>
            <a:ext cx="591276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Automated Underwriting &amp; Decisioning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7394496" y="2609017"/>
            <a:ext cx="6442115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Achieve 80–90% straight through approvals through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AA &amp; Cibil-based Credit Underwriting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instant decisions for low-risk cohorts. Manual review reserved only for exceptions, 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93790" y="3649028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880009"/>
            <a:ext cx="6441996" cy="228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4020860"/>
            <a:ext cx="317551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Partner Ecosystem</a:t>
            </a:r>
            <a:endParaRPr lang="en-US" sz="2500" dirty="0"/>
          </a:p>
        </p:txBody>
      </p:sp>
      <p:sp>
        <p:nvSpPr>
          <p:cNvPr id="14" name="Text 9"/>
          <p:cNvSpPr/>
          <p:nvPr/>
        </p:nvSpPr>
        <p:spPr>
          <a:xfrm>
            <a:off x="793790" y="4512945"/>
            <a:ext cx="6441996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finance integrations with third party Apps like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PhonePe, Gpay, PayTM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marketplace partnerships like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Paisabazaar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DSA networks, fintech underwriting collaborations and co-lending frameworks like with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Cred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394496" y="3649028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496" y="3880009"/>
            <a:ext cx="6442115" cy="228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94496" y="4020860"/>
            <a:ext cx="4505444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Digital Servicing &amp; Collections</a:t>
            </a:r>
            <a:endParaRPr lang="en-US" sz="2500" dirty="0"/>
          </a:p>
        </p:txBody>
      </p:sp>
      <p:sp>
        <p:nvSpPr>
          <p:cNvPr id="18" name="Text 12"/>
          <p:cNvSpPr/>
          <p:nvPr/>
        </p:nvSpPr>
        <p:spPr>
          <a:xfrm>
            <a:off x="7394496" y="4512945"/>
            <a:ext cx="6442115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Self-service dashboards for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documentation, foreclosure, and loan schedules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Digital dispute resolution, AA-based Balance tracking for DPD customers, and automated repayment nudges improve efficiency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793790" y="5552956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2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768102"/>
            <a:ext cx="6441996" cy="228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93790" y="5924788"/>
            <a:ext cx="317551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&amp; Analytics</a:t>
            </a:r>
            <a:endParaRPr lang="en-US" sz="2500" dirty="0"/>
          </a:p>
        </p:txBody>
      </p:sp>
      <p:sp>
        <p:nvSpPr>
          <p:cNvPr id="22" name="Text 15"/>
          <p:cNvSpPr/>
          <p:nvPr/>
        </p:nvSpPr>
        <p:spPr>
          <a:xfrm>
            <a:off x="793790" y="6416873"/>
            <a:ext cx="6441996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Funnel analytics for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drop-off reduction, risk segmentation, cohort analysis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giving us early warning signals based on cashflow analysis, and pricing optimisation drive continuous improvement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7394496" y="5552956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12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4496" y="5783937"/>
            <a:ext cx="6442115" cy="228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394496" y="5924788"/>
            <a:ext cx="328850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Operating Model Shift</a:t>
            </a:r>
            <a:endParaRPr lang="en-US" sz="2500" dirty="0"/>
          </a:p>
        </p:txBody>
      </p:sp>
      <p:sp>
        <p:nvSpPr>
          <p:cNvPr id="26" name="Text 18"/>
          <p:cNvSpPr/>
          <p:nvPr/>
        </p:nvSpPr>
        <p:spPr>
          <a:xfrm>
            <a:off x="7394496" y="6416873"/>
            <a:ext cx="6442115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branch and DSA dependency, agile department structure like → Product + Tech + Risk + Operations Teams,, and lean credit operations enable scalable growth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7537"/>
            <a:ext cx="1158073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Measuring Success: Post-Transformation Metrics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26445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Whether our Digital Transformation succeeded or not, depends on meticulous observation and monitoring of Metrics -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0035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Funnel Performance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3574018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 to Verification %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960971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Verification to Approval %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347924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Approval to Disbursal %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4734878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Application to Disbursal %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25077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Efficiency &amp; Cost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93790" y="5821204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Time taken for Loan Disbursal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6208157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per KYC Verification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6595110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per Loan Disbursal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309830" y="3003590"/>
            <a:ext cx="325540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Risk &amp; Portfolio Quality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309830" y="3574018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0–30 DPD rates tracking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309830" y="3960971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Bounce Rate %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09830" y="4347924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GNPA/NNPA monitoring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309830" y="48638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AA &amp; Data Utilisation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5309830" y="5434251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AA Consent Success %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309830" y="5821204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Fetch Success %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309830" y="6208157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Time Taken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825871" y="30035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Business Outcomes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9825871" y="3574018"/>
            <a:ext cx="402574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Monthly Disbursal Amount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825871" y="3960971"/>
            <a:ext cx="402574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Disbursal Growth M-o-M%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825871" y="4347924"/>
            <a:ext cx="402574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 borrowing rate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825871" y="4734878"/>
            <a:ext cx="402574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Acquisition Cost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825871" y="5250775"/>
            <a:ext cx="349091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Collections &amp; Repayment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9825871" y="5821204"/>
            <a:ext cx="402574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Repayment share %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825871" y="6208157"/>
            <a:ext cx="402574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DPD bucket movement analysis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825871" y="6595110"/>
            <a:ext cx="402574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Cost of Collection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2025-11-19T13:49:00Z</dcterms:created>
  <dcterms:modified xsi:type="dcterms:W3CDTF">2025-11-19T13:49:00Z</dcterms:modified>
</cp:coreProperties>
</file>